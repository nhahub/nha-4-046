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x="18288000" cy="10287000"/>
  <p:notesSz cx="6858000" cy="9144000"/>
  <p:embeddedFontLst>
    <p:embeddedFont>
      <p:font typeface="Now Bold" charset="1" panose="00000800000000000000"/>
      <p:regular r:id="rId37"/>
    </p:embeddedFont>
    <p:embeddedFont>
      <p:font typeface="DM Sans Bold" charset="1" panose="00000000000000000000"/>
      <p:regular r:id="rId38"/>
    </p:embeddedFont>
    <p:embeddedFont>
      <p:font typeface="Poppins Bold" charset="1" panose="00000800000000000000"/>
      <p:regular r:id="rId39"/>
    </p:embeddedFont>
    <p:embeddedFont>
      <p:font typeface="Poppins" charset="1" panose="00000500000000000000"/>
      <p:regular r:id="rId40"/>
    </p:embeddedFont>
    <p:embeddedFont>
      <p:font typeface="Fahkwang Bold" charset="1" panose="00000800000000000000"/>
      <p:regular r:id="rId41"/>
    </p:embeddedFont>
    <p:embeddedFont>
      <p:font typeface="Fahkwang" charset="1" panose="00000500000000000000"/>
      <p:regular r:id="rId42"/>
    </p:embeddedFont>
    <p:embeddedFont>
      <p:font typeface="Secular One" charset="1" panose="00000500000000000000"/>
      <p:regular r:id="rId43"/>
    </p:embeddedFont>
    <p:embeddedFont>
      <p:font typeface="TT Hoves Bold" charset="1" panose="02000003020000060003"/>
      <p:regular r:id="rId44"/>
    </p:embeddedFont>
    <p:embeddedFont>
      <p:font typeface="Helios" charset="1" panose="020B0504020202020204"/>
      <p:regular r:id="rId45"/>
    </p:embeddedFont>
    <p:embeddedFont>
      <p:font typeface="Montserrat Classic" charset="1" panose="00000500000000000000"/>
      <p:regular r:id="rId46"/>
    </p:embeddedFont>
    <p:embeddedFont>
      <p:font typeface="Helios Bold" charset="1" panose="020B0704020202020204"/>
      <p:regular r:id="rId47"/>
    </p:embeddedFont>
    <p:embeddedFont>
      <p:font typeface="Arimo Bold" charset="1" panose="020B0704020202020204"/>
      <p:regular r:id="rId48"/>
    </p:embeddedFont>
    <p:embeddedFont>
      <p:font typeface="Arimo" charset="1" panose="020B0604020202020204"/>
      <p:regular r:id="rId49"/>
    </p:embeddedFont>
    <p:embeddedFont>
      <p:font typeface="Open Sauce Bold" charset="1" panose="00000800000000000000"/>
      <p:regular r:id="rId50"/>
    </p:embeddedFont>
    <p:embeddedFont>
      <p:font typeface="Open Sauce" charset="1" panose="00000500000000000000"/>
      <p:regular r:id="rId51"/>
    </p:embeddedFont>
    <p:embeddedFont>
      <p:font typeface="TT Hoves" charset="1" panose="02000003020000060003"/>
      <p:regular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8.png" Type="http://schemas.openxmlformats.org/officeDocument/2006/relationships/image"/><Relationship Id="rId5"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8.png" Type="http://schemas.openxmlformats.org/officeDocument/2006/relationships/image"/><Relationship Id="rId5"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8.png" Type="http://schemas.openxmlformats.org/officeDocument/2006/relationships/image"/><Relationship Id="rId5" Target="../media/image2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8.png" Type="http://schemas.openxmlformats.org/officeDocument/2006/relationships/image"/><Relationship Id="rId5" Target="../media/image37.png" Type="http://schemas.openxmlformats.org/officeDocument/2006/relationships/image"/><Relationship Id="rId6" Target="../media/image3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4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8.png" Type="http://schemas.openxmlformats.org/officeDocument/2006/relationships/image"/><Relationship Id="rId5" Target="../media/image44.png" Type="http://schemas.openxmlformats.org/officeDocument/2006/relationships/image"/><Relationship Id="rId6" Target="../media/image45.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46.gif"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1748409">
            <a:off x="-3377546" y="8319406"/>
            <a:ext cx="6755091" cy="6046664"/>
          </a:xfrm>
          <a:custGeom>
            <a:avLst/>
            <a:gdLst/>
            <a:ahLst/>
            <a:cxnLst/>
            <a:rect r="r" b="b" t="t" l="l"/>
            <a:pathLst>
              <a:path h="6046664" w="6755091">
                <a:moveTo>
                  <a:pt x="0" y="0"/>
                </a:moveTo>
                <a:lnTo>
                  <a:pt x="6755092" y="0"/>
                </a:lnTo>
                <a:lnTo>
                  <a:pt x="6755092" y="6046664"/>
                </a:lnTo>
                <a:lnTo>
                  <a:pt x="0" y="6046664"/>
                </a:lnTo>
                <a:lnTo>
                  <a:pt x="0" y="0"/>
                </a:lnTo>
                <a:close/>
              </a:path>
            </a:pathLst>
          </a:custGeom>
          <a:blipFill>
            <a:blip r:embed="rId2"/>
            <a:stretch>
              <a:fillRect l="0" t="-1382" r="0" b="0"/>
            </a:stretch>
          </a:blipFill>
        </p:spPr>
      </p:sp>
      <p:sp>
        <p:nvSpPr>
          <p:cNvPr name="Freeform 3" id="3"/>
          <p:cNvSpPr/>
          <p:nvPr/>
        </p:nvSpPr>
        <p:spPr>
          <a:xfrm flipH="false" flipV="false" rot="2223819">
            <a:off x="11316448" y="-7015580"/>
            <a:ext cx="12596877" cy="11431666"/>
          </a:xfrm>
          <a:custGeom>
            <a:avLst/>
            <a:gdLst/>
            <a:ahLst/>
            <a:cxnLst/>
            <a:rect r="r" b="b" t="t" l="l"/>
            <a:pathLst>
              <a:path h="11431666" w="12596877">
                <a:moveTo>
                  <a:pt x="0" y="0"/>
                </a:moveTo>
                <a:lnTo>
                  <a:pt x="12596877" y="0"/>
                </a:lnTo>
                <a:lnTo>
                  <a:pt x="12596877" y="11431667"/>
                </a:lnTo>
                <a:lnTo>
                  <a:pt x="0" y="11431667"/>
                </a:lnTo>
                <a:lnTo>
                  <a:pt x="0" y="0"/>
                </a:lnTo>
                <a:close/>
              </a:path>
            </a:pathLst>
          </a:custGeom>
          <a:blipFill>
            <a:blip r:embed="rId2"/>
            <a:stretch>
              <a:fillRect l="0" t="0" r="0" b="0"/>
            </a:stretch>
          </a:blipFill>
        </p:spPr>
      </p:sp>
      <p:sp>
        <p:nvSpPr>
          <p:cNvPr name="Freeform 4" id="4"/>
          <p:cNvSpPr/>
          <p:nvPr/>
        </p:nvSpPr>
        <p:spPr>
          <a:xfrm flipH="false" flipV="false" rot="0">
            <a:off x="-1480371" y="-184208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3">
              <a:alphaModFix amt="67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8194833">
            <a:off x="11502552" y="2656745"/>
            <a:ext cx="6322520" cy="6322520"/>
          </a:xfrm>
          <a:custGeom>
            <a:avLst/>
            <a:gdLst/>
            <a:ahLst/>
            <a:cxnLst/>
            <a:rect r="r" b="b" t="t" l="l"/>
            <a:pathLst>
              <a:path h="6322520" w="6322520">
                <a:moveTo>
                  <a:pt x="0" y="0"/>
                </a:moveTo>
                <a:lnTo>
                  <a:pt x="6322520" y="0"/>
                </a:lnTo>
                <a:lnTo>
                  <a:pt x="6322520" y="6322519"/>
                </a:lnTo>
                <a:lnTo>
                  <a:pt x="0" y="6322519"/>
                </a:lnTo>
                <a:lnTo>
                  <a:pt x="0" y="0"/>
                </a:lnTo>
                <a:close/>
              </a:path>
            </a:pathLst>
          </a:custGeom>
          <a:blipFill>
            <a:blip r:embed="rId3">
              <a:alphaModFix amt="67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339705" y="1028700"/>
            <a:ext cx="1103336" cy="1095312"/>
          </a:xfrm>
          <a:custGeom>
            <a:avLst/>
            <a:gdLst/>
            <a:ahLst/>
            <a:cxnLst/>
            <a:rect r="r" b="b" t="t" l="l"/>
            <a:pathLst>
              <a:path h="1095312" w="1103336">
                <a:moveTo>
                  <a:pt x="0" y="0"/>
                </a:moveTo>
                <a:lnTo>
                  <a:pt x="1103336" y="0"/>
                </a:lnTo>
                <a:lnTo>
                  <a:pt x="1103336" y="1095312"/>
                </a:lnTo>
                <a:lnTo>
                  <a:pt x="0" y="10953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339705" y="2177461"/>
            <a:ext cx="10724223" cy="2708257"/>
          </a:xfrm>
          <a:prstGeom prst="rect">
            <a:avLst/>
          </a:prstGeom>
        </p:spPr>
        <p:txBody>
          <a:bodyPr anchor="t" rtlCol="false" tIns="0" lIns="0" bIns="0" rIns="0">
            <a:spAutoFit/>
          </a:bodyPr>
          <a:lstStyle/>
          <a:p>
            <a:pPr algn="l">
              <a:lnSpc>
                <a:spcPts val="7170"/>
              </a:lnSpc>
            </a:pPr>
            <a:r>
              <a:rPr lang="en-US" sz="5158" b="true">
                <a:solidFill>
                  <a:srgbClr val="048AFF"/>
                </a:solidFill>
                <a:latin typeface="Now Bold"/>
                <a:ea typeface="Now Bold"/>
                <a:cs typeface="Now Bold"/>
                <a:sym typeface="Now Bold"/>
              </a:rPr>
              <a:t>ROSSMANN </a:t>
            </a:r>
          </a:p>
          <a:p>
            <a:pPr algn="l">
              <a:lnSpc>
                <a:spcPts val="7170"/>
              </a:lnSpc>
            </a:pPr>
            <a:r>
              <a:rPr lang="en-US" sz="5158" b="true">
                <a:solidFill>
                  <a:srgbClr val="FFFFFF"/>
                </a:solidFill>
                <a:latin typeface="Now Bold"/>
                <a:ea typeface="Now Bold"/>
                <a:cs typeface="Now Bold"/>
                <a:sym typeface="Now Bold"/>
              </a:rPr>
              <a:t>STORE SALES FORECASTING AND DEMAND PREDICTION</a:t>
            </a:r>
            <a:r>
              <a:rPr lang="en-US" sz="5158" b="true">
                <a:solidFill>
                  <a:srgbClr val="048AFF"/>
                </a:solidFill>
                <a:latin typeface="Now Bold"/>
                <a:ea typeface="Now Bold"/>
                <a:cs typeface="Now Bold"/>
                <a:sym typeface="Now Bold"/>
              </a:rPr>
              <a:t> </a:t>
            </a:r>
          </a:p>
        </p:txBody>
      </p:sp>
      <p:grpSp>
        <p:nvGrpSpPr>
          <p:cNvPr name="Group 8" id="8"/>
          <p:cNvGrpSpPr>
            <a:grpSpLocks noChangeAspect="true"/>
          </p:cNvGrpSpPr>
          <p:nvPr/>
        </p:nvGrpSpPr>
        <p:grpSpPr>
          <a:xfrm rot="0">
            <a:off x="11900860" y="3055052"/>
            <a:ext cx="5525904" cy="5525904"/>
            <a:chOff x="0" y="0"/>
            <a:chExt cx="14840029" cy="14840029"/>
          </a:xfrm>
        </p:grpSpPr>
        <p:sp>
          <p:nvSpPr>
            <p:cNvPr name="Freeform 9" id="9"/>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true">
              <a:gsLst>
                <a:gs pos="0">
                  <a:srgbClr val="048AFF">
                    <a:alpha val="100000"/>
                  </a:srgbClr>
                </a:gs>
                <a:gs pos="100000">
                  <a:srgbClr val="B100E8">
                    <a:alpha val="100000"/>
                  </a:srgbClr>
                </a:gs>
              </a:gsLst>
              <a:lin ang="2100000"/>
            </a:gradFill>
          </p:spPr>
        </p:sp>
        <p:sp>
          <p:nvSpPr>
            <p:cNvPr name="Freeform 10" id="10"/>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2B1511"/>
            </a:solidFill>
          </p:spPr>
        </p:sp>
        <p:sp>
          <p:nvSpPr>
            <p:cNvPr name="Freeform 11" id="11"/>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7"/>
              <a:stretch>
                <a:fillRect l="-25419" t="0" r="-25419" b="0"/>
              </a:stretch>
            </a:blipFill>
          </p:spPr>
        </p:sp>
      </p:grpSp>
      <p:sp>
        <p:nvSpPr>
          <p:cNvPr name="TextBox 12" id="12"/>
          <p:cNvSpPr txBox="true"/>
          <p:nvPr/>
        </p:nvSpPr>
        <p:spPr>
          <a:xfrm rot="0">
            <a:off x="1339705" y="5364721"/>
            <a:ext cx="8970699" cy="3893579"/>
          </a:xfrm>
          <a:prstGeom prst="rect">
            <a:avLst/>
          </a:prstGeom>
        </p:spPr>
        <p:txBody>
          <a:bodyPr anchor="t" rtlCol="false" tIns="0" lIns="0" bIns="0" rIns="0">
            <a:spAutoFit/>
          </a:bodyPr>
          <a:lstStyle/>
          <a:p>
            <a:pPr algn="l">
              <a:lnSpc>
                <a:spcPts val="3952"/>
              </a:lnSpc>
            </a:pPr>
            <a:r>
              <a:rPr lang="en-US" sz="3213" b="true">
                <a:solidFill>
                  <a:srgbClr val="B100E8"/>
                </a:solidFill>
                <a:latin typeface="DM Sans Bold"/>
                <a:ea typeface="DM Sans Bold"/>
                <a:cs typeface="DM Sans Bold"/>
                <a:sym typeface="DM Sans Bold"/>
              </a:rPr>
              <a:t>Presented by:</a:t>
            </a:r>
          </a:p>
          <a:p>
            <a:pPr algn="l">
              <a:lnSpc>
                <a:spcPts val="3706"/>
              </a:lnSpc>
            </a:pPr>
          </a:p>
          <a:p>
            <a:pPr algn="l">
              <a:lnSpc>
                <a:spcPts val="3952"/>
              </a:lnSpc>
            </a:pPr>
            <a:r>
              <a:rPr lang="en-US" sz="3213" b="true">
                <a:solidFill>
                  <a:srgbClr val="FFFAEB"/>
                </a:solidFill>
                <a:latin typeface="DM Sans Bold"/>
                <a:ea typeface="DM Sans Bold"/>
                <a:cs typeface="DM Sans Bold"/>
                <a:sym typeface="DM Sans Bold"/>
              </a:rPr>
              <a:t>Asmaa Elsayed Mohamed Morsy</a:t>
            </a:r>
          </a:p>
          <a:p>
            <a:pPr algn="l">
              <a:lnSpc>
                <a:spcPts val="3952"/>
              </a:lnSpc>
            </a:pPr>
            <a:r>
              <a:rPr lang="en-US" sz="3213" b="true">
                <a:solidFill>
                  <a:srgbClr val="FFFAEB"/>
                </a:solidFill>
                <a:latin typeface="DM Sans Bold"/>
                <a:ea typeface="DM Sans Bold"/>
                <a:cs typeface="DM Sans Bold"/>
                <a:sym typeface="DM Sans Bold"/>
              </a:rPr>
              <a:t>Aya Ahmed Kamal Abdulhameed</a:t>
            </a:r>
          </a:p>
          <a:p>
            <a:pPr algn="l">
              <a:lnSpc>
                <a:spcPts val="3952"/>
              </a:lnSpc>
            </a:pPr>
            <a:r>
              <a:rPr lang="en-US" sz="3213" b="true">
                <a:solidFill>
                  <a:srgbClr val="FFFAEB"/>
                </a:solidFill>
                <a:latin typeface="DM Sans Bold"/>
                <a:ea typeface="DM Sans Bold"/>
                <a:cs typeface="DM Sans Bold"/>
                <a:sym typeface="DM Sans Bold"/>
              </a:rPr>
              <a:t>Marvel Baheeg Moneer Azmy</a:t>
            </a:r>
          </a:p>
          <a:p>
            <a:pPr algn="l">
              <a:lnSpc>
                <a:spcPts val="3952"/>
              </a:lnSpc>
            </a:pPr>
            <a:r>
              <a:rPr lang="en-US" sz="3213" b="true">
                <a:solidFill>
                  <a:srgbClr val="FFFAEB"/>
                </a:solidFill>
                <a:latin typeface="DM Sans Bold"/>
                <a:ea typeface="DM Sans Bold"/>
                <a:cs typeface="DM Sans Bold"/>
                <a:sym typeface="DM Sans Bold"/>
              </a:rPr>
              <a:t>Yasmeen Esmail Mohamed Abdullah</a:t>
            </a:r>
          </a:p>
          <a:p>
            <a:pPr algn="l">
              <a:lnSpc>
                <a:spcPts val="3952"/>
              </a:lnSpc>
            </a:pPr>
          </a:p>
          <a:p>
            <a:pPr algn="l" marL="0" indent="0" lvl="0">
              <a:lnSpc>
                <a:spcPts val="3583"/>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0">
            <a:off x="16334191" y="-3319492"/>
            <a:ext cx="5257108" cy="5250537"/>
          </a:xfrm>
          <a:custGeom>
            <a:avLst/>
            <a:gdLst/>
            <a:ahLst/>
            <a:cxnLst/>
            <a:rect r="r" b="b" t="t" l="l"/>
            <a:pathLst>
              <a:path h="5250537" w="5257108">
                <a:moveTo>
                  <a:pt x="0" y="0"/>
                </a:moveTo>
                <a:lnTo>
                  <a:pt x="5257108" y="0"/>
                </a:lnTo>
                <a:lnTo>
                  <a:pt x="5257108" y="5250537"/>
                </a:lnTo>
                <a:lnTo>
                  <a:pt x="0" y="5250537"/>
                </a:lnTo>
                <a:lnTo>
                  <a:pt x="0" y="0"/>
                </a:lnTo>
                <a:close/>
              </a:path>
            </a:pathLst>
          </a:custGeom>
          <a:blipFill>
            <a:blip r:embed="rId2"/>
            <a:stretch>
              <a:fillRect l="0" t="0" r="0" b="0"/>
            </a:stretch>
          </a:blipFill>
        </p:spPr>
      </p:sp>
      <p:sp>
        <p:nvSpPr>
          <p:cNvPr name="Freeform 3" id="3"/>
          <p:cNvSpPr/>
          <p:nvPr/>
        </p:nvSpPr>
        <p:spPr>
          <a:xfrm flipH="false" flipV="false" rot="0">
            <a:off x="-3463417" y="-3319492"/>
            <a:ext cx="5257108" cy="5250537"/>
          </a:xfrm>
          <a:custGeom>
            <a:avLst/>
            <a:gdLst/>
            <a:ahLst/>
            <a:cxnLst/>
            <a:rect r="r" b="b" t="t" l="l"/>
            <a:pathLst>
              <a:path h="5250537" w="5257108">
                <a:moveTo>
                  <a:pt x="0" y="0"/>
                </a:moveTo>
                <a:lnTo>
                  <a:pt x="5257108" y="0"/>
                </a:lnTo>
                <a:lnTo>
                  <a:pt x="5257108" y="5250537"/>
                </a:lnTo>
                <a:lnTo>
                  <a:pt x="0" y="5250537"/>
                </a:lnTo>
                <a:lnTo>
                  <a:pt x="0" y="0"/>
                </a:lnTo>
                <a:close/>
              </a:path>
            </a:pathLst>
          </a:custGeom>
          <a:blipFill>
            <a:blip r:embed="rId2"/>
            <a:stretch>
              <a:fillRect l="0" t="0" r="0" b="0"/>
            </a:stretch>
          </a:blipFill>
        </p:spPr>
      </p:sp>
      <p:sp>
        <p:nvSpPr>
          <p:cNvPr name="TextBox 4" id="4"/>
          <p:cNvSpPr txBox="true"/>
          <p:nvPr/>
        </p:nvSpPr>
        <p:spPr>
          <a:xfrm rot="0">
            <a:off x="1793691" y="346738"/>
            <a:ext cx="14700618" cy="2046769"/>
          </a:xfrm>
          <a:prstGeom prst="rect">
            <a:avLst/>
          </a:prstGeom>
        </p:spPr>
        <p:txBody>
          <a:bodyPr anchor="t" rtlCol="false" tIns="0" lIns="0" bIns="0" rIns="0">
            <a:spAutoFit/>
          </a:bodyPr>
          <a:lstStyle/>
          <a:p>
            <a:pPr algn="ctr">
              <a:lnSpc>
                <a:spcPts val="8184"/>
              </a:lnSpc>
            </a:pPr>
            <a:r>
              <a:rPr lang="en-US" b="true" sz="5887">
                <a:solidFill>
                  <a:srgbClr val="FFFFFF"/>
                </a:solidFill>
                <a:latin typeface="Now Bold"/>
                <a:ea typeface="Now Bold"/>
                <a:cs typeface="Now Bold"/>
                <a:sym typeface="Now Bold"/>
              </a:rPr>
              <a:t>BUSINESS PROBLEM STATEMENT</a:t>
            </a:r>
          </a:p>
          <a:p>
            <a:pPr algn="ctr">
              <a:lnSpc>
                <a:spcPts val="8184"/>
              </a:lnSpc>
            </a:pPr>
          </a:p>
        </p:txBody>
      </p:sp>
      <p:sp>
        <p:nvSpPr>
          <p:cNvPr name="TextBox 5" id="5"/>
          <p:cNvSpPr txBox="true"/>
          <p:nvPr/>
        </p:nvSpPr>
        <p:spPr>
          <a:xfrm rot="0">
            <a:off x="1380326" y="1873895"/>
            <a:ext cx="17099061" cy="3686048"/>
          </a:xfrm>
          <a:prstGeom prst="rect">
            <a:avLst/>
          </a:prstGeom>
        </p:spPr>
        <p:txBody>
          <a:bodyPr anchor="t" rtlCol="false" tIns="0" lIns="0" bIns="0" rIns="0">
            <a:spAutoFit/>
          </a:bodyPr>
          <a:lstStyle/>
          <a:p>
            <a:pPr algn="l">
              <a:lnSpc>
                <a:spcPts val="4945"/>
              </a:lnSpc>
              <a:spcBef>
                <a:spcPct val="0"/>
              </a:spcBef>
            </a:pPr>
            <a:r>
              <a:rPr lang="en-US" b="true" sz="3557">
                <a:solidFill>
                  <a:srgbClr val="FFFFFF"/>
                </a:solidFill>
                <a:latin typeface="DM Sans Bold"/>
                <a:ea typeface="DM Sans Bold"/>
                <a:cs typeface="DM Sans Bold"/>
                <a:sym typeface="DM Sans Bold"/>
              </a:rPr>
              <a:t>Ro</a:t>
            </a:r>
            <a:r>
              <a:rPr lang="en-US" b="true" sz="3557">
                <a:solidFill>
                  <a:srgbClr val="FFFFFF"/>
                </a:solidFill>
                <a:latin typeface="DM Sans Bold"/>
                <a:ea typeface="DM Sans Bold"/>
                <a:cs typeface="DM Sans Bold"/>
                <a:sym typeface="DM Sans Bold"/>
              </a:rPr>
              <a:t>ssmann relies on individual store managers for daily sales predictions, which leads to inconsistent forecasting and operational risks.</a:t>
            </a:r>
          </a:p>
          <a:p>
            <a:pPr algn="l">
              <a:lnSpc>
                <a:spcPts val="4945"/>
              </a:lnSpc>
              <a:spcBef>
                <a:spcPct val="0"/>
              </a:spcBef>
            </a:pPr>
            <a:r>
              <a:rPr lang="en-US" b="true" sz="3557">
                <a:solidFill>
                  <a:srgbClr val="FFFFFF"/>
                </a:solidFill>
                <a:latin typeface="DM Sans Bold"/>
                <a:ea typeface="DM Sans Bold"/>
                <a:cs typeface="DM Sans Bold"/>
                <a:sym typeface="DM Sans Bold"/>
              </a:rPr>
              <a:t> Managers also struggle to accurately measure the combined impact of complex factors such as promotions, holidays, seasonality, and nearby competition, making sales planning more difficult and less reliable.</a:t>
            </a:r>
          </a:p>
          <a:p>
            <a:pPr algn="l">
              <a:lnSpc>
                <a:spcPts val="4945"/>
              </a:lnSpc>
              <a:spcBef>
                <a:spcPct val="0"/>
              </a:spcBef>
            </a:pPr>
          </a:p>
        </p:txBody>
      </p:sp>
      <p:sp>
        <p:nvSpPr>
          <p:cNvPr name="TextBox 6" id="6"/>
          <p:cNvSpPr txBox="true"/>
          <p:nvPr/>
        </p:nvSpPr>
        <p:spPr>
          <a:xfrm rot="0">
            <a:off x="1380326" y="5198310"/>
            <a:ext cx="6203977" cy="618491"/>
          </a:xfrm>
          <a:prstGeom prst="rect">
            <a:avLst/>
          </a:prstGeom>
        </p:spPr>
        <p:txBody>
          <a:bodyPr anchor="t" rtlCol="false" tIns="0" lIns="0" bIns="0" rIns="0">
            <a:spAutoFit/>
          </a:bodyPr>
          <a:lstStyle/>
          <a:p>
            <a:pPr algn="l">
              <a:lnSpc>
                <a:spcPts val="4759"/>
              </a:lnSpc>
            </a:pPr>
            <a:r>
              <a:rPr lang="en-US" sz="3399" b="true">
                <a:solidFill>
                  <a:srgbClr val="B100E8"/>
                </a:solidFill>
                <a:latin typeface="Poppins Bold"/>
                <a:ea typeface="Poppins Bold"/>
                <a:cs typeface="Poppins Bold"/>
                <a:sym typeface="Poppins Bold"/>
              </a:rPr>
              <a:t>Why Is This a Problem?</a:t>
            </a:r>
          </a:p>
        </p:txBody>
      </p:sp>
      <p:grpSp>
        <p:nvGrpSpPr>
          <p:cNvPr name="Group 7" id="7"/>
          <p:cNvGrpSpPr/>
          <p:nvPr/>
        </p:nvGrpSpPr>
        <p:grpSpPr>
          <a:xfrm rot="0">
            <a:off x="219996" y="6381685"/>
            <a:ext cx="3147389" cy="3512230"/>
            <a:chOff x="0" y="0"/>
            <a:chExt cx="4196519" cy="4682973"/>
          </a:xfrm>
        </p:grpSpPr>
        <p:grpSp>
          <p:nvGrpSpPr>
            <p:cNvPr name="Group 8" id="8"/>
            <p:cNvGrpSpPr/>
            <p:nvPr/>
          </p:nvGrpSpPr>
          <p:grpSpPr>
            <a:xfrm rot="0">
              <a:off x="0" y="0"/>
              <a:ext cx="4067006" cy="4531012"/>
              <a:chOff x="0" y="0"/>
              <a:chExt cx="1074244" cy="1196804"/>
            </a:xfrm>
          </p:grpSpPr>
          <p:sp>
            <p:nvSpPr>
              <p:cNvPr name="Freeform 9" id="9"/>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10" id="10"/>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129513" y="151961"/>
              <a:ext cx="4067006" cy="4531012"/>
              <a:chOff x="0" y="0"/>
              <a:chExt cx="1074244" cy="1196804"/>
            </a:xfrm>
          </p:grpSpPr>
          <p:sp>
            <p:nvSpPr>
              <p:cNvPr name="Freeform 12" id="12"/>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13" id="13"/>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grpSp>
        <p:nvGrpSpPr>
          <p:cNvPr name="Group 14" id="14"/>
          <p:cNvGrpSpPr/>
          <p:nvPr/>
        </p:nvGrpSpPr>
        <p:grpSpPr>
          <a:xfrm rot="0">
            <a:off x="3721682" y="6381685"/>
            <a:ext cx="3147389" cy="3512230"/>
            <a:chOff x="0" y="0"/>
            <a:chExt cx="4196519" cy="4682973"/>
          </a:xfrm>
        </p:grpSpPr>
        <p:grpSp>
          <p:nvGrpSpPr>
            <p:cNvPr name="Group 15" id="15"/>
            <p:cNvGrpSpPr/>
            <p:nvPr/>
          </p:nvGrpSpPr>
          <p:grpSpPr>
            <a:xfrm rot="0">
              <a:off x="0" y="0"/>
              <a:ext cx="4067006" cy="4531012"/>
              <a:chOff x="0" y="0"/>
              <a:chExt cx="1074244" cy="1196804"/>
            </a:xfrm>
          </p:grpSpPr>
          <p:sp>
            <p:nvSpPr>
              <p:cNvPr name="Freeform 16" id="16"/>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17" id="17"/>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nvGrpSpPr>
            <p:cNvPr name="Group 18" id="18"/>
            <p:cNvGrpSpPr/>
            <p:nvPr/>
          </p:nvGrpSpPr>
          <p:grpSpPr>
            <a:xfrm rot="0">
              <a:off x="129513" y="151961"/>
              <a:ext cx="4067006" cy="4531012"/>
              <a:chOff x="0" y="0"/>
              <a:chExt cx="1074244" cy="1196804"/>
            </a:xfrm>
          </p:grpSpPr>
          <p:sp>
            <p:nvSpPr>
              <p:cNvPr name="Freeform 19" id="19"/>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20" id="20"/>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grpSp>
        <p:nvGrpSpPr>
          <p:cNvPr name="Group 21" id="21"/>
          <p:cNvGrpSpPr/>
          <p:nvPr/>
        </p:nvGrpSpPr>
        <p:grpSpPr>
          <a:xfrm rot="0">
            <a:off x="7322165" y="6381685"/>
            <a:ext cx="3147389" cy="3512230"/>
            <a:chOff x="0" y="0"/>
            <a:chExt cx="4196519" cy="4682973"/>
          </a:xfrm>
        </p:grpSpPr>
        <p:grpSp>
          <p:nvGrpSpPr>
            <p:cNvPr name="Group 22" id="22"/>
            <p:cNvGrpSpPr/>
            <p:nvPr/>
          </p:nvGrpSpPr>
          <p:grpSpPr>
            <a:xfrm rot="0">
              <a:off x="0" y="0"/>
              <a:ext cx="4067006" cy="4531012"/>
              <a:chOff x="0" y="0"/>
              <a:chExt cx="1074244" cy="1196804"/>
            </a:xfrm>
          </p:grpSpPr>
          <p:sp>
            <p:nvSpPr>
              <p:cNvPr name="Freeform 23" id="23"/>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24" id="24"/>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nvGrpSpPr>
            <p:cNvPr name="Group 25" id="25"/>
            <p:cNvGrpSpPr/>
            <p:nvPr/>
          </p:nvGrpSpPr>
          <p:grpSpPr>
            <a:xfrm rot="0">
              <a:off x="129513" y="151961"/>
              <a:ext cx="4067006" cy="4531012"/>
              <a:chOff x="0" y="0"/>
              <a:chExt cx="1074244" cy="1196804"/>
            </a:xfrm>
          </p:grpSpPr>
          <p:sp>
            <p:nvSpPr>
              <p:cNvPr name="Freeform 26" id="26"/>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27" id="27"/>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grpSp>
        <p:nvGrpSpPr>
          <p:cNvPr name="Group 28" id="28"/>
          <p:cNvGrpSpPr/>
          <p:nvPr/>
        </p:nvGrpSpPr>
        <p:grpSpPr>
          <a:xfrm rot="0">
            <a:off x="10972326" y="6381685"/>
            <a:ext cx="3147389" cy="3512230"/>
            <a:chOff x="0" y="0"/>
            <a:chExt cx="4196519" cy="4682973"/>
          </a:xfrm>
        </p:grpSpPr>
        <p:grpSp>
          <p:nvGrpSpPr>
            <p:cNvPr name="Group 29" id="29"/>
            <p:cNvGrpSpPr/>
            <p:nvPr/>
          </p:nvGrpSpPr>
          <p:grpSpPr>
            <a:xfrm rot="0">
              <a:off x="0" y="0"/>
              <a:ext cx="4067006" cy="4531012"/>
              <a:chOff x="0" y="0"/>
              <a:chExt cx="1074244" cy="1196804"/>
            </a:xfrm>
          </p:grpSpPr>
          <p:sp>
            <p:nvSpPr>
              <p:cNvPr name="Freeform 30" id="30"/>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31" id="31"/>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nvGrpSpPr>
            <p:cNvPr name="Group 32" id="32"/>
            <p:cNvGrpSpPr/>
            <p:nvPr/>
          </p:nvGrpSpPr>
          <p:grpSpPr>
            <a:xfrm rot="0">
              <a:off x="129513" y="151961"/>
              <a:ext cx="4067006" cy="4531012"/>
              <a:chOff x="0" y="0"/>
              <a:chExt cx="1074244" cy="1196804"/>
            </a:xfrm>
          </p:grpSpPr>
          <p:sp>
            <p:nvSpPr>
              <p:cNvPr name="Freeform 33" id="33"/>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34" id="34"/>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grpSp>
        <p:nvGrpSpPr>
          <p:cNvPr name="Group 35" id="35"/>
          <p:cNvGrpSpPr/>
          <p:nvPr/>
        </p:nvGrpSpPr>
        <p:grpSpPr>
          <a:xfrm rot="0">
            <a:off x="14622487" y="6381685"/>
            <a:ext cx="3147389" cy="3512230"/>
            <a:chOff x="0" y="0"/>
            <a:chExt cx="4196519" cy="4682973"/>
          </a:xfrm>
        </p:grpSpPr>
        <p:grpSp>
          <p:nvGrpSpPr>
            <p:cNvPr name="Group 36" id="36"/>
            <p:cNvGrpSpPr/>
            <p:nvPr/>
          </p:nvGrpSpPr>
          <p:grpSpPr>
            <a:xfrm rot="0">
              <a:off x="0" y="0"/>
              <a:ext cx="4067006" cy="4531012"/>
              <a:chOff x="0" y="0"/>
              <a:chExt cx="1074244" cy="1196804"/>
            </a:xfrm>
          </p:grpSpPr>
          <p:sp>
            <p:nvSpPr>
              <p:cNvPr name="Freeform 37" id="37"/>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38" id="38"/>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nvGrpSpPr>
            <p:cNvPr name="Group 39" id="39"/>
            <p:cNvGrpSpPr/>
            <p:nvPr/>
          </p:nvGrpSpPr>
          <p:grpSpPr>
            <a:xfrm rot="0">
              <a:off x="129513" y="151961"/>
              <a:ext cx="4067006" cy="4531012"/>
              <a:chOff x="0" y="0"/>
              <a:chExt cx="1074244" cy="1196804"/>
            </a:xfrm>
          </p:grpSpPr>
          <p:sp>
            <p:nvSpPr>
              <p:cNvPr name="Freeform 40" id="40"/>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41" id="41"/>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sp>
        <p:nvSpPr>
          <p:cNvPr name="TextBox 42" id="42"/>
          <p:cNvSpPr txBox="true"/>
          <p:nvPr/>
        </p:nvSpPr>
        <p:spPr>
          <a:xfrm rot="0">
            <a:off x="383783" y="7189744"/>
            <a:ext cx="2819815" cy="1755775"/>
          </a:xfrm>
          <a:prstGeom prst="rect">
            <a:avLst/>
          </a:prstGeom>
        </p:spPr>
        <p:txBody>
          <a:bodyPr anchor="t" rtlCol="false" tIns="0" lIns="0" bIns="0" rIns="0">
            <a:spAutoFit/>
          </a:bodyPr>
          <a:lstStyle/>
          <a:p>
            <a:pPr algn="ctr">
              <a:lnSpc>
                <a:spcPts val="3499"/>
              </a:lnSpc>
            </a:pPr>
            <a:r>
              <a:rPr lang="en-US" sz="2499">
                <a:solidFill>
                  <a:srgbClr val="FFFFFF"/>
                </a:solidFill>
                <a:latin typeface="Poppins"/>
                <a:ea typeface="Poppins"/>
                <a:cs typeface="Poppins"/>
                <a:sym typeface="Poppins"/>
              </a:rPr>
              <a:t>Poor forecasting directly impacts operational efficiency</a:t>
            </a:r>
          </a:p>
        </p:txBody>
      </p:sp>
      <p:sp>
        <p:nvSpPr>
          <p:cNvPr name="TextBox 43" id="43"/>
          <p:cNvSpPr txBox="true"/>
          <p:nvPr/>
        </p:nvSpPr>
        <p:spPr>
          <a:xfrm rot="0">
            <a:off x="3934868" y="6878739"/>
            <a:ext cx="2819815" cy="2632075"/>
          </a:xfrm>
          <a:prstGeom prst="rect">
            <a:avLst/>
          </a:prstGeom>
        </p:spPr>
        <p:txBody>
          <a:bodyPr anchor="t" rtlCol="false" tIns="0" lIns="0" bIns="0" rIns="0">
            <a:spAutoFit/>
          </a:bodyPr>
          <a:lstStyle/>
          <a:p>
            <a:pPr algn="ctr">
              <a:lnSpc>
                <a:spcPts val="3499"/>
              </a:lnSpc>
            </a:pPr>
            <a:r>
              <a:rPr lang="en-US" sz="2499">
                <a:solidFill>
                  <a:srgbClr val="FFFFFF"/>
                </a:solidFill>
                <a:latin typeface="Poppins"/>
                <a:ea typeface="Poppins"/>
                <a:cs typeface="Poppins"/>
                <a:sym typeface="Poppins"/>
              </a:rPr>
              <a:t>Underestimating sales may cause product shortages and long customer waiting times</a:t>
            </a:r>
          </a:p>
        </p:txBody>
      </p:sp>
      <p:sp>
        <p:nvSpPr>
          <p:cNvPr name="TextBox 44" id="44"/>
          <p:cNvSpPr txBox="true"/>
          <p:nvPr/>
        </p:nvSpPr>
        <p:spPr>
          <a:xfrm rot="0">
            <a:off x="7510791" y="6878739"/>
            <a:ext cx="2819815" cy="2193925"/>
          </a:xfrm>
          <a:prstGeom prst="rect">
            <a:avLst/>
          </a:prstGeom>
        </p:spPr>
        <p:txBody>
          <a:bodyPr anchor="t" rtlCol="false" tIns="0" lIns="0" bIns="0" rIns="0">
            <a:spAutoFit/>
          </a:bodyPr>
          <a:lstStyle/>
          <a:p>
            <a:pPr algn="ctr">
              <a:lnSpc>
                <a:spcPts val="3499"/>
              </a:lnSpc>
            </a:pPr>
            <a:r>
              <a:rPr lang="en-US" sz="2499">
                <a:solidFill>
                  <a:srgbClr val="FFFFFF"/>
                </a:solidFill>
                <a:latin typeface="Poppins"/>
                <a:ea typeface="Poppins"/>
                <a:cs typeface="Poppins"/>
                <a:sym typeface="Poppins"/>
              </a:rPr>
              <a:t>Overestimating demand increases operational and inventory costs</a:t>
            </a:r>
          </a:p>
        </p:txBody>
      </p:sp>
      <p:sp>
        <p:nvSpPr>
          <p:cNvPr name="TextBox 45" id="45"/>
          <p:cNvSpPr txBox="true"/>
          <p:nvPr/>
        </p:nvSpPr>
        <p:spPr>
          <a:xfrm rot="0">
            <a:off x="11202979" y="6878739"/>
            <a:ext cx="2916736" cy="2632075"/>
          </a:xfrm>
          <a:prstGeom prst="rect">
            <a:avLst/>
          </a:prstGeom>
        </p:spPr>
        <p:txBody>
          <a:bodyPr anchor="t" rtlCol="false" tIns="0" lIns="0" bIns="0" rIns="0">
            <a:spAutoFit/>
          </a:bodyPr>
          <a:lstStyle/>
          <a:p>
            <a:pPr algn="ctr">
              <a:lnSpc>
                <a:spcPts val="3499"/>
              </a:lnSpc>
            </a:pPr>
            <a:r>
              <a:rPr lang="en-US" sz="2499">
                <a:solidFill>
                  <a:srgbClr val="FFFFFF"/>
                </a:solidFill>
                <a:latin typeface="Poppins"/>
                <a:ea typeface="Poppins"/>
                <a:cs typeface="Poppins"/>
                <a:sym typeface="Poppins"/>
              </a:rPr>
              <a:t>Promotions and holidays create sudden sales spikes that are difficult to predict manually</a:t>
            </a:r>
          </a:p>
        </p:txBody>
      </p:sp>
      <p:sp>
        <p:nvSpPr>
          <p:cNvPr name="TextBox 46" id="46"/>
          <p:cNvSpPr txBox="true"/>
          <p:nvPr/>
        </p:nvSpPr>
        <p:spPr>
          <a:xfrm rot="0">
            <a:off x="14757890" y="6743069"/>
            <a:ext cx="2914958" cy="2874116"/>
          </a:xfrm>
          <a:prstGeom prst="rect">
            <a:avLst/>
          </a:prstGeom>
        </p:spPr>
        <p:txBody>
          <a:bodyPr anchor="t" rtlCol="false" tIns="0" lIns="0" bIns="0" rIns="0">
            <a:spAutoFit/>
          </a:bodyPr>
          <a:lstStyle/>
          <a:p>
            <a:pPr algn="ctr">
              <a:lnSpc>
                <a:spcPts val="3284"/>
              </a:lnSpc>
            </a:pPr>
            <a:r>
              <a:rPr lang="en-US" sz="2345">
                <a:solidFill>
                  <a:srgbClr val="FFFFFF"/>
                </a:solidFill>
                <a:latin typeface="Poppins"/>
                <a:ea typeface="Poppins"/>
                <a:cs typeface="Poppins"/>
                <a:sym typeface="Poppins"/>
              </a:rPr>
              <a:t>Different store types and competition levels make forecasting even more complex across 1,115 stores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0">
            <a:off x="14827267" y="-6574060"/>
            <a:ext cx="9641780" cy="9629727"/>
          </a:xfrm>
          <a:custGeom>
            <a:avLst/>
            <a:gdLst/>
            <a:ahLst/>
            <a:cxnLst/>
            <a:rect r="r" b="b" t="t" l="l"/>
            <a:pathLst>
              <a:path h="9629727" w="9641780">
                <a:moveTo>
                  <a:pt x="0" y="0"/>
                </a:moveTo>
                <a:lnTo>
                  <a:pt x="9641780" y="0"/>
                </a:lnTo>
                <a:lnTo>
                  <a:pt x="9641780" y="9629727"/>
                </a:lnTo>
                <a:lnTo>
                  <a:pt x="0" y="9629727"/>
                </a:lnTo>
                <a:lnTo>
                  <a:pt x="0" y="0"/>
                </a:lnTo>
                <a:close/>
              </a:path>
            </a:pathLst>
          </a:custGeom>
          <a:blipFill>
            <a:blip r:embed="rId2"/>
            <a:stretch>
              <a:fillRect l="0" t="0" r="0" b="0"/>
            </a:stretch>
          </a:blipFill>
        </p:spPr>
      </p:sp>
      <p:sp>
        <p:nvSpPr>
          <p:cNvPr name="Freeform 3" id="3"/>
          <p:cNvSpPr/>
          <p:nvPr/>
        </p:nvSpPr>
        <p:spPr>
          <a:xfrm flipH="false" flipV="false" rot="0">
            <a:off x="16373133" y="8547678"/>
            <a:ext cx="1469330" cy="1421243"/>
          </a:xfrm>
          <a:custGeom>
            <a:avLst/>
            <a:gdLst/>
            <a:ahLst/>
            <a:cxnLst/>
            <a:rect r="r" b="b" t="t" l="l"/>
            <a:pathLst>
              <a:path h="1421243" w="1469330">
                <a:moveTo>
                  <a:pt x="0" y="0"/>
                </a:moveTo>
                <a:lnTo>
                  <a:pt x="1469330" y="0"/>
                </a:lnTo>
                <a:lnTo>
                  <a:pt x="1469330" y="1421244"/>
                </a:lnTo>
                <a:lnTo>
                  <a:pt x="0" y="1421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221729" y="590280"/>
            <a:ext cx="9844541" cy="2277398"/>
          </a:xfrm>
          <a:prstGeom prst="rect">
            <a:avLst/>
          </a:prstGeom>
        </p:spPr>
        <p:txBody>
          <a:bodyPr anchor="t" rtlCol="false" tIns="0" lIns="0" bIns="0" rIns="0">
            <a:spAutoFit/>
          </a:bodyPr>
          <a:lstStyle/>
          <a:p>
            <a:pPr algn="ctr">
              <a:lnSpc>
                <a:spcPts val="8678"/>
              </a:lnSpc>
            </a:pPr>
            <a:r>
              <a:rPr lang="en-US" sz="6243" b="true">
                <a:solidFill>
                  <a:srgbClr val="FFFFFF"/>
                </a:solidFill>
                <a:latin typeface="Now Bold"/>
                <a:ea typeface="Now Bold"/>
                <a:cs typeface="Now Bold"/>
                <a:sym typeface="Now Bold"/>
              </a:rPr>
              <a:t>Project Objectives </a:t>
            </a:r>
          </a:p>
          <a:p>
            <a:pPr algn="ctr">
              <a:lnSpc>
                <a:spcPts val="9651"/>
              </a:lnSpc>
            </a:pPr>
          </a:p>
        </p:txBody>
      </p:sp>
      <p:sp>
        <p:nvSpPr>
          <p:cNvPr name="AutoShape 5" id="5"/>
          <p:cNvSpPr/>
          <p:nvPr/>
        </p:nvSpPr>
        <p:spPr>
          <a:xfrm>
            <a:off x="9144000" y="2023386"/>
            <a:ext cx="0" cy="7474190"/>
          </a:xfrm>
          <a:prstGeom prst="line">
            <a:avLst/>
          </a:prstGeom>
          <a:ln cap="flat" w="38100">
            <a:solidFill>
              <a:srgbClr val="FFFFFF"/>
            </a:solidFill>
            <a:prstDash val="solid"/>
            <a:headEnd type="none" len="sm" w="sm"/>
            <a:tailEnd type="none" len="sm" w="sm"/>
          </a:ln>
        </p:spPr>
      </p:sp>
      <p:sp>
        <p:nvSpPr>
          <p:cNvPr name="Freeform 6" id="6"/>
          <p:cNvSpPr/>
          <p:nvPr/>
        </p:nvSpPr>
        <p:spPr>
          <a:xfrm flipH="false" flipV="false" rot="0">
            <a:off x="-6053878" y="7615810"/>
            <a:ext cx="9641780" cy="9629727"/>
          </a:xfrm>
          <a:custGeom>
            <a:avLst/>
            <a:gdLst/>
            <a:ahLst/>
            <a:cxnLst/>
            <a:rect r="r" b="b" t="t" l="l"/>
            <a:pathLst>
              <a:path h="9629727" w="9641780">
                <a:moveTo>
                  <a:pt x="0" y="0"/>
                </a:moveTo>
                <a:lnTo>
                  <a:pt x="9641780" y="0"/>
                </a:lnTo>
                <a:lnTo>
                  <a:pt x="9641780" y="9629728"/>
                </a:lnTo>
                <a:lnTo>
                  <a:pt x="0" y="9629728"/>
                </a:lnTo>
                <a:lnTo>
                  <a:pt x="0" y="0"/>
                </a:lnTo>
                <a:close/>
              </a:path>
            </a:pathLst>
          </a:custGeom>
          <a:blipFill>
            <a:blip r:embed="rId2"/>
            <a:stretch>
              <a:fillRect l="0" t="0" r="0" b="0"/>
            </a:stretch>
          </a:blipFill>
        </p:spPr>
      </p:sp>
      <p:sp>
        <p:nvSpPr>
          <p:cNvPr name="TextBox 7" id="7"/>
          <p:cNvSpPr txBox="true"/>
          <p:nvPr/>
        </p:nvSpPr>
        <p:spPr>
          <a:xfrm rot="0">
            <a:off x="1385568" y="2894984"/>
            <a:ext cx="7520307" cy="1779573"/>
          </a:xfrm>
          <a:prstGeom prst="rect">
            <a:avLst/>
          </a:prstGeom>
        </p:spPr>
        <p:txBody>
          <a:bodyPr anchor="t" rtlCol="false" tIns="0" lIns="0" bIns="0" rIns="0">
            <a:spAutoFit/>
          </a:bodyPr>
          <a:lstStyle/>
          <a:p>
            <a:pPr algn="l" marL="630557" indent="-315279" lvl="1">
              <a:lnSpc>
                <a:spcPts val="3592"/>
              </a:lnSpc>
              <a:buFont typeface="Arial"/>
              <a:buChar char="•"/>
            </a:pPr>
            <a:r>
              <a:rPr lang="en-US" b="true" sz="2920">
                <a:solidFill>
                  <a:srgbClr val="FFFFFF"/>
                </a:solidFill>
                <a:latin typeface="DM Sans Bold"/>
                <a:ea typeface="DM Sans Bold"/>
                <a:cs typeface="DM Sans Bold"/>
                <a:sym typeface="DM Sans Bold"/>
              </a:rPr>
              <a:t>Develop an accurate machine learning model to forecast daily sales for Rossmann stores.</a:t>
            </a:r>
          </a:p>
          <a:p>
            <a:pPr algn="l">
              <a:lnSpc>
                <a:spcPts val="3592"/>
              </a:lnSpc>
            </a:pPr>
          </a:p>
        </p:txBody>
      </p:sp>
      <p:sp>
        <p:nvSpPr>
          <p:cNvPr name="AutoShape 8" id="8"/>
          <p:cNvSpPr/>
          <p:nvPr/>
        </p:nvSpPr>
        <p:spPr>
          <a:xfrm flipV="true">
            <a:off x="2287870" y="5588957"/>
            <a:ext cx="14381390" cy="0"/>
          </a:xfrm>
          <a:prstGeom prst="line">
            <a:avLst/>
          </a:prstGeom>
          <a:ln cap="flat" w="38100">
            <a:solidFill>
              <a:srgbClr val="FFFFFF"/>
            </a:solidFill>
            <a:prstDash val="solid"/>
            <a:headEnd type="none" len="sm" w="sm"/>
            <a:tailEnd type="none" len="sm" w="sm"/>
          </a:ln>
        </p:spPr>
      </p:sp>
      <p:sp>
        <p:nvSpPr>
          <p:cNvPr name="TextBox 9" id="9"/>
          <p:cNvSpPr txBox="true"/>
          <p:nvPr/>
        </p:nvSpPr>
        <p:spPr>
          <a:xfrm rot="0">
            <a:off x="9352685" y="2613567"/>
            <a:ext cx="7755113" cy="2807925"/>
          </a:xfrm>
          <a:prstGeom prst="rect">
            <a:avLst/>
          </a:prstGeom>
        </p:spPr>
        <p:txBody>
          <a:bodyPr anchor="t" rtlCol="false" tIns="0" lIns="0" bIns="0" rIns="0">
            <a:spAutoFit/>
          </a:bodyPr>
          <a:lstStyle/>
          <a:p>
            <a:pPr algn="l" marL="650245" indent="-325123" lvl="1">
              <a:lnSpc>
                <a:spcPts val="3704"/>
              </a:lnSpc>
              <a:buFont typeface="Arial"/>
              <a:buChar char="•"/>
            </a:pPr>
            <a:r>
              <a:rPr lang="en-US" b="true" sz="3011">
                <a:solidFill>
                  <a:srgbClr val="FFFFFF"/>
                </a:solidFill>
                <a:latin typeface="DM Sans Bold"/>
                <a:ea typeface="DM Sans Bold"/>
                <a:cs typeface="DM Sans Bold"/>
                <a:sym typeface="DM Sans Bold"/>
              </a:rPr>
              <a:t>Perform data cleaning, preprocessing, and feature engineering to improve model qualityand Analyze the impact of promotions, holidays, seasonality, and competition on sales performance</a:t>
            </a:r>
          </a:p>
        </p:txBody>
      </p:sp>
      <p:sp>
        <p:nvSpPr>
          <p:cNvPr name="TextBox 10" id="10"/>
          <p:cNvSpPr txBox="true"/>
          <p:nvPr/>
        </p:nvSpPr>
        <p:spPr>
          <a:xfrm rot="0">
            <a:off x="1385568" y="6502186"/>
            <a:ext cx="7520307" cy="1331898"/>
          </a:xfrm>
          <a:prstGeom prst="rect">
            <a:avLst/>
          </a:prstGeom>
        </p:spPr>
        <p:txBody>
          <a:bodyPr anchor="t" rtlCol="false" tIns="0" lIns="0" bIns="0" rIns="0">
            <a:spAutoFit/>
          </a:bodyPr>
          <a:lstStyle/>
          <a:p>
            <a:pPr algn="l" marL="630557" indent="-315279" lvl="1">
              <a:lnSpc>
                <a:spcPts val="3592"/>
              </a:lnSpc>
              <a:buFont typeface="Arial"/>
              <a:buChar char="•"/>
            </a:pPr>
            <a:r>
              <a:rPr lang="en-US" b="true" sz="2920">
                <a:solidFill>
                  <a:srgbClr val="FFFFFF"/>
                </a:solidFill>
                <a:latin typeface="DM Sans Bold"/>
                <a:ea typeface="DM Sans Bold"/>
                <a:cs typeface="DM Sans Bold"/>
                <a:sym typeface="DM Sans Bold"/>
              </a:rPr>
              <a:t>Compare multiple machine learning   models to identify the best forecasting approach.</a:t>
            </a:r>
          </a:p>
        </p:txBody>
      </p:sp>
      <p:sp>
        <p:nvSpPr>
          <p:cNvPr name="TextBox 11" id="11"/>
          <p:cNvSpPr txBox="true"/>
          <p:nvPr/>
        </p:nvSpPr>
        <p:spPr>
          <a:xfrm rot="0">
            <a:off x="9587491" y="6502186"/>
            <a:ext cx="7520307" cy="1331898"/>
          </a:xfrm>
          <a:prstGeom prst="rect">
            <a:avLst/>
          </a:prstGeom>
        </p:spPr>
        <p:txBody>
          <a:bodyPr anchor="t" rtlCol="false" tIns="0" lIns="0" bIns="0" rIns="0">
            <a:spAutoFit/>
          </a:bodyPr>
          <a:lstStyle/>
          <a:p>
            <a:pPr algn="l" marL="630557" indent="-315279" lvl="1">
              <a:lnSpc>
                <a:spcPts val="3592"/>
              </a:lnSpc>
              <a:buFont typeface="Arial"/>
              <a:buChar char="•"/>
            </a:pPr>
            <a:r>
              <a:rPr lang="en-US" b="true" sz="2920">
                <a:solidFill>
                  <a:srgbClr val="FFFFFF"/>
                </a:solidFill>
                <a:latin typeface="DM Sans Bold"/>
                <a:ea typeface="DM Sans Bold"/>
                <a:cs typeface="DM Sans Bold"/>
                <a:sym typeface="DM Sans Bold"/>
              </a:rPr>
              <a:t>Support data-driven decision-making for inventory planning, staffing, and business operations.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8328748">
            <a:off x="-5365388" y="-5442294"/>
            <a:ext cx="8882019" cy="8060433"/>
          </a:xfrm>
          <a:custGeom>
            <a:avLst/>
            <a:gdLst/>
            <a:ahLst/>
            <a:cxnLst/>
            <a:rect r="r" b="b" t="t" l="l"/>
            <a:pathLst>
              <a:path h="8060433" w="8882019">
                <a:moveTo>
                  <a:pt x="0" y="0"/>
                </a:moveTo>
                <a:lnTo>
                  <a:pt x="8882020" y="0"/>
                </a:lnTo>
                <a:lnTo>
                  <a:pt x="8882020" y="8060432"/>
                </a:lnTo>
                <a:lnTo>
                  <a:pt x="0" y="8060432"/>
                </a:lnTo>
                <a:lnTo>
                  <a:pt x="0" y="0"/>
                </a:lnTo>
                <a:close/>
              </a:path>
            </a:pathLst>
          </a:custGeom>
          <a:blipFill>
            <a:blip r:embed="rId2"/>
            <a:stretch>
              <a:fillRect l="0" t="0" r="0" b="0"/>
            </a:stretch>
          </a:blipFill>
        </p:spPr>
      </p:sp>
      <p:sp>
        <p:nvSpPr>
          <p:cNvPr name="Freeform 3" id="3"/>
          <p:cNvSpPr/>
          <p:nvPr/>
        </p:nvSpPr>
        <p:spPr>
          <a:xfrm flipH="false" flipV="false" rot="0">
            <a:off x="-1722671" y="793885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3">
              <a:alphaModFix amt="67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371144" y="375520"/>
            <a:ext cx="13459133" cy="1134528"/>
          </a:xfrm>
          <a:prstGeom prst="rect">
            <a:avLst/>
          </a:prstGeom>
        </p:spPr>
        <p:txBody>
          <a:bodyPr anchor="t" rtlCol="false" tIns="0" lIns="0" bIns="0" rIns="0">
            <a:spAutoFit/>
          </a:bodyPr>
          <a:lstStyle/>
          <a:p>
            <a:pPr algn="ctr">
              <a:lnSpc>
                <a:spcPts val="9157"/>
              </a:lnSpc>
            </a:pPr>
            <a:r>
              <a:rPr lang="en-US" b="true" sz="6587">
                <a:solidFill>
                  <a:srgbClr val="FFFFFF"/>
                </a:solidFill>
                <a:latin typeface="Now Bold"/>
                <a:ea typeface="Now Bold"/>
                <a:cs typeface="Now Bold"/>
                <a:sym typeface="Now Bold"/>
              </a:rPr>
              <a:t>DATASET DESCRIBTION</a:t>
            </a:r>
          </a:p>
        </p:txBody>
      </p:sp>
      <p:sp>
        <p:nvSpPr>
          <p:cNvPr name="TextBox 5" id="5"/>
          <p:cNvSpPr txBox="true"/>
          <p:nvPr/>
        </p:nvSpPr>
        <p:spPr>
          <a:xfrm rot="0">
            <a:off x="1187447" y="1715994"/>
            <a:ext cx="16773894" cy="2021852"/>
          </a:xfrm>
          <a:prstGeom prst="rect">
            <a:avLst/>
          </a:prstGeom>
        </p:spPr>
        <p:txBody>
          <a:bodyPr anchor="t" rtlCol="false" tIns="0" lIns="0" bIns="0" rIns="0">
            <a:spAutoFit/>
          </a:bodyPr>
          <a:lstStyle/>
          <a:p>
            <a:pPr algn="ctr">
              <a:lnSpc>
                <a:spcPts val="4044"/>
              </a:lnSpc>
            </a:pPr>
            <a:r>
              <a:rPr lang="en-US" sz="3287" b="true">
                <a:solidFill>
                  <a:srgbClr val="FFFFFF"/>
                </a:solidFill>
                <a:latin typeface="DM Sans Bold"/>
                <a:ea typeface="DM Sans Bold"/>
                <a:cs typeface="DM Sans Bold"/>
                <a:sym typeface="DM Sans Bold"/>
              </a:rPr>
              <a:t>The Rossmann dataset contains historical sales records collected from 1,115 Rossmann stores, with over 1 million daily sales records spanning several years.</a:t>
            </a:r>
          </a:p>
          <a:p>
            <a:pPr algn="ctr">
              <a:lnSpc>
                <a:spcPts val="4044"/>
              </a:lnSpc>
            </a:pPr>
            <a:r>
              <a:rPr lang="en-US" b="true" sz="3287">
                <a:solidFill>
                  <a:srgbClr val="FFFFFF"/>
                </a:solidFill>
                <a:latin typeface="DM Sans Bold"/>
                <a:ea typeface="DM Sans Bold"/>
                <a:cs typeface="DM Sans Bold"/>
                <a:sym typeface="DM Sans Bold"/>
              </a:rPr>
              <a:t> The data combines daily operational sales information with detailed store-related attributes to help analyze the factors affecting sales performance.</a:t>
            </a:r>
          </a:p>
        </p:txBody>
      </p:sp>
      <p:sp>
        <p:nvSpPr>
          <p:cNvPr name="TextBox 6" id="6"/>
          <p:cNvSpPr txBox="true"/>
          <p:nvPr/>
        </p:nvSpPr>
        <p:spPr>
          <a:xfrm rot="0">
            <a:off x="7503244" y="3844372"/>
            <a:ext cx="7471921" cy="701041"/>
          </a:xfrm>
          <a:prstGeom prst="rect">
            <a:avLst/>
          </a:prstGeom>
        </p:spPr>
        <p:txBody>
          <a:bodyPr anchor="t" rtlCol="false" tIns="0" lIns="0" bIns="0" rIns="0">
            <a:spAutoFit/>
          </a:bodyPr>
          <a:lstStyle/>
          <a:p>
            <a:pPr algn="l">
              <a:lnSpc>
                <a:spcPts val="5459"/>
              </a:lnSpc>
            </a:pPr>
            <a:r>
              <a:rPr lang="en-US" sz="3899" b="true">
                <a:solidFill>
                  <a:srgbClr val="B100E8"/>
                </a:solidFill>
                <a:latin typeface="Poppins Bold"/>
                <a:ea typeface="Poppins Bold"/>
                <a:cs typeface="Poppins Bold"/>
                <a:sym typeface="Poppins Bold"/>
              </a:rPr>
              <a:t>Dataset Files</a:t>
            </a:r>
          </a:p>
        </p:txBody>
      </p:sp>
      <p:grpSp>
        <p:nvGrpSpPr>
          <p:cNvPr name="Group 7" id="7"/>
          <p:cNvGrpSpPr/>
          <p:nvPr/>
        </p:nvGrpSpPr>
        <p:grpSpPr>
          <a:xfrm rot="0">
            <a:off x="1028700" y="3958672"/>
            <a:ext cx="5313978" cy="5929966"/>
            <a:chOff x="0" y="0"/>
            <a:chExt cx="7085304" cy="7906621"/>
          </a:xfrm>
        </p:grpSpPr>
        <p:grpSp>
          <p:nvGrpSpPr>
            <p:cNvPr name="Group 8" id="8"/>
            <p:cNvGrpSpPr/>
            <p:nvPr/>
          </p:nvGrpSpPr>
          <p:grpSpPr>
            <a:xfrm rot="0">
              <a:off x="0" y="0"/>
              <a:ext cx="6866637" cy="7650055"/>
              <a:chOff x="0" y="0"/>
              <a:chExt cx="1074244" cy="1196804"/>
            </a:xfrm>
          </p:grpSpPr>
          <p:sp>
            <p:nvSpPr>
              <p:cNvPr name="Freeform 9" id="9"/>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10" id="10"/>
              <p:cNvSpPr txBox="true"/>
              <p:nvPr/>
            </p:nvSpPr>
            <p:spPr>
              <a:xfrm>
                <a:off x="0" y="-28575"/>
                <a:ext cx="1074244" cy="1225379"/>
              </a:xfrm>
              <a:prstGeom prst="rect">
                <a:avLst/>
              </a:prstGeom>
            </p:spPr>
            <p:txBody>
              <a:bodyPr anchor="ctr" rtlCol="false" tIns="50800" lIns="50800" bIns="50800" rIns="50800"/>
              <a:lstStyle/>
              <a:p>
                <a:pPr algn="ctr">
                  <a:lnSpc>
                    <a:spcPts val="2799"/>
                  </a:lnSpc>
                </a:pPr>
              </a:p>
            </p:txBody>
          </p:sp>
        </p:grpSp>
        <p:grpSp>
          <p:nvGrpSpPr>
            <p:cNvPr name="Group 11" id="11"/>
            <p:cNvGrpSpPr/>
            <p:nvPr/>
          </p:nvGrpSpPr>
          <p:grpSpPr>
            <a:xfrm rot="0">
              <a:off x="218667" y="256567"/>
              <a:ext cx="6866637" cy="7650055"/>
              <a:chOff x="0" y="0"/>
              <a:chExt cx="1074244" cy="1196804"/>
            </a:xfrm>
          </p:grpSpPr>
          <p:sp>
            <p:nvSpPr>
              <p:cNvPr name="Freeform 12" id="12"/>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13" id="13"/>
              <p:cNvSpPr txBox="true"/>
              <p:nvPr/>
            </p:nvSpPr>
            <p:spPr>
              <a:xfrm>
                <a:off x="0" y="-28575"/>
                <a:ext cx="1074244" cy="1225379"/>
              </a:xfrm>
              <a:prstGeom prst="rect">
                <a:avLst/>
              </a:prstGeom>
            </p:spPr>
            <p:txBody>
              <a:bodyPr anchor="ctr" rtlCol="false" tIns="50800" lIns="50800" bIns="50800" rIns="50800"/>
              <a:lstStyle/>
              <a:p>
                <a:pPr algn="ctr">
                  <a:lnSpc>
                    <a:spcPts val="2799"/>
                  </a:lnSpc>
                </a:pPr>
              </a:p>
            </p:txBody>
          </p:sp>
        </p:grpSp>
      </p:grpSp>
      <p:grpSp>
        <p:nvGrpSpPr>
          <p:cNvPr name="Group 14" id="14"/>
          <p:cNvGrpSpPr/>
          <p:nvPr/>
        </p:nvGrpSpPr>
        <p:grpSpPr>
          <a:xfrm rot="0">
            <a:off x="11917018" y="4034700"/>
            <a:ext cx="5509746" cy="5961551"/>
            <a:chOff x="0" y="0"/>
            <a:chExt cx="7346328" cy="7948734"/>
          </a:xfrm>
        </p:grpSpPr>
        <p:grpSp>
          <p:nvGrpSpPr>
            <p:cNvPr name="Group 15" id="15"/>
            <p:cNvGrpSpPr/>
            <p:nvPr/>
          </p:nvGrpSpPr>
          <p:grpSpPr>
            <a:xfrm rot="0">
              <a:off x="0" y="0"/>
              <a:ext cx="7119606" cy="7690801"/>
              <a:chOff x="0" y="0"/>
              <a:chExt cx="1107918" cy="1196804"/>
            </a:xfrm>
          </p:grpSpPr>
          <p:sp>
            <p:nvSpPr>
              <p:cNvPr name="Freeform 16" id="16"/>
              <p:cNvSpPr/>
              <p:nvPr/>
            </p:nvSpPr>
            <p:spPr>
              <a:xfrm flipH="false" flipV="false" rot="0">
                <a:off x="0" y="0"/>
                <a:ext cx="1107918" cy="1196804"/>
              </a:xfrm>
              <a:custGeom>
                <a:avLst/>
                <a:gdLst/>
                <a:ahLst/>
                <a:cxnLst/>
                <a:rect r="r" b="b" t="t" l="l"/>
                <a:pathLst>
                  <a:path h="1196804" w="1107918">
                    <a:moveTo>
                      <a:pt x="93861" y="0"/>
                    </a:moveTo>
                    <a:lnTo>
                      <a:pt x="1014057" y="0"/>
                    </a:lnTo>
                    <a:cubicBezTo>
                      <a:pt x="1065895" y="0"/>
                      <a:pt x="1107918" y="42023"/>
                      <a:pt x="1107918" y="93861"/>
                    </a:cubicBezTo>
                    <a:lnTo>
                      <a:pt x="1107918" y="1102944"/>
                    </a:lnTo>
                    <a:cubicBezTo>
                      <a:pt x="1107918" y="1127837"/>
                      <a:pt x="1098029" y="1151711"/>
                      <a:pt x="1080427" y="1169313"/>
                    </a:cubicBezTo>
                    <a:cubicBezTo>
                      <a:pt x="1062824" y="1186916"/>
                      <a:pt x="1038950" y="1196804"/>
                      <a:pt x="1014057" y="1196804"/>
                    </a:cubicBezTo>
                    <a:lnTo>
                      <a:pt x="93861" y="1196804"/>
                    </a:lnTo>
                    <a:cubicBezTo>
                      <a:pt x="42023" y="1196804"/>
                      <a:pt x="0" y="1154781"/>
                      <a:pt x="0" y="1102944"/>
                    </a:cubicBezTo>
                    <a:lnTo>
                      <a:pt x="0" y="93861"/>
                    </a:lnTo>
                    <a:cubicBezTo>
                      <a:pt x="0" y="42023"/>
                      <a:pt x="42023" y="0"/>
                      <a:pt x="93861" y="0"/>
                    </a:cubicBezTo>
                    <a:close/>
                  </a:path>
                </a:pathLst>
              </a:custGeom>
              <a:solidFill>
                <a:srgbClr val="01237D"/>
              </a:solidFill>
            </p:spPr>
          </p:sp>
          <p:sp>
            <p:nvSpPr>
              <p:cNvPr name="TextBox 17" id="17"/>
              <p:cNvSpPr txBox="true"/>
              <p:nvPr/>
            </p:nvSpPr>
            <p:spPr>
              <a:xfrm>
                <a:off x="0" y="-28575"/>
                <a:ext cx="1107918" cy="1225379"/>
              </a:xfrm>
              <a:prstGeom prst="rect">
                <a:avLst/>
              </a:prstGeom>
            </p:spPr>
            <p:txBody>
              <a:bodyPr anchor="ctr" rtlCol="false" tIns="50800" lIns="50800" bIns="50800" rIns="50800"/>
              <a:lstStyle/>
              <a:p>
                <a:pPr algn="ctr">
                  <a:lnSpc>
                    <a:spcPts val="2799"/>
                  </a:lnSpc>
                </a:pPr>
              </a:p>
            </p:txBody>
          </p:sp>
        </p:grpSp>
        <p:grpSp>
          <p:nvGrpSpPr>
            <p:cNvPr name="Group 18" id="18"/>
            <p:cNvGrpSpPr/>
            <p:nvPr/>
          </p:nvGrpSpPr>
          <p:grpSpPr>
            <a:xfrm rot="0">
              <a:off x="226722" y="257933"/>
              <a:ext cx="7119606" cy="7690801"/>
              <a:chOff x="0" y="0"/>
              <a:chExt cx="1107918" cy="1196804"/>
            </a:xfrm>
          </p:grpSpPr>
          <p:sp>
            <p:nvSpPr>
              <p:cNvPr name="Freeform 19" id="19"/>
              <p:cNvSpPr/>
              <p:nvPr/>
            </p:nvSpPr>
            <p:spPr>
              <a:xfrm flipH="false" flipV="false" rot="0">
                <a:off x="0" y="0"/>
                <a:ext cx="1107918" cy="1196804"/>
              </a:xfrm>
              <a:custGeom>
                <a:avLst/>
                <a:gdLst/>
                <a:ahLst/>
                <a:cxnLst/>
                <a:rect r="r" b="b" t="t" l="l"/>
                <a:pathLst>
                  <a:path h="1196804" w="1107918">
                    <a:moveTo>
                      <a:pt x="93861" y="0"/>
                    </a:moveTo>
                    <a:lnTo>
                      <a:pt x="1014057" y="0"/>
                    </a:lnTo>
                    <a:cubicBezTo>
                      <a:pt x="1065895" y="0"/>
                      <a:pt x="1107918" y="42023"/>
                      <a:pt x="1107918" y="93861"/>
                    </a:cubicBezTo>
                    <a:lnTo>
                      <a:pt x="1107918" y="1102944"/>
                    </a:lnTo>
                    <a:cubicBezTo>
                      <a:pt x="1107918" y="1127837"/>
                      <a:pt x="1098029" y="1151711"/>
                      <a:pt x="1080427" y="1169313"/>
                    </a:cubicBezTo>
                    <a:cubicBezTo>
                      <a:pt x="1062824" y="1186916"/>
                      <a:pt x="1038950" y="1196804"/>
                      <a:pt x="1014057" y="1196804"/>
                    </a:cubicBezTo>
                    <a:lnTo>
                      <a:pt x="93861" y="1196804"/>
                    </a:lnTo>
                    <a:cubicBezTo>
                      <a:pt x="42023" y="1196804"/>
                      <a:pt x="0" y="1154781"/>
                      <a:pt x="0" y="1102944"/>
                    </a:cubicBezTo>
                    <a:lnTo>
                      <a:pt x="0" y="93861"/>
                    </a:lnTo>
                    <a:cubicBezTo>
                      <a:pt x="0" y="42023"/>
                      <a:pt x="42023" y="0"/>
                      <a:pt x="93861"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20" id="20"/>
              <p:cNvSpPr txBox="true"/>
              <p:nvPr/>
            </p:nvSpPr>
            <p:spPr>
              <a:xfrm>
                <a:off x="0" y="-28575"/>
                <a:ext cx="1107918" cy="1225379"/>
              </a:xfrm>
              <a:prstGeom prst="rect">
                <a:avLst/>
              </a:prstGeom>
            </p:spPr>
            <p:txBody>
              <a:bodyPr anchor="ctr" rtlCol="false" tIns="50800" lIns="50800" bIns="50800" rIns="50800"/>
              <a:lstStyle/>
              <a:p>
                <a:pPr algn="ctr">
                  <a:lnSpc>
                    <a:spcPts val="2799"/>
                  </a:lnSpc>
                </a:pPr>
              </a:p>
            </p:txBody>
          </p:sp>
        </p:grpSp>
      </p:grpSp>
      <p:sp>
        <p:nvSpPr>
          <p:cNvPr name="TextBox 21" id="21"/>
          <p:cNvSpPr txBox="true"/>
          <p:nvPr/>
        </p:nvSpPr>
        <p:spPr>
          <a:xfrm rot="0">
            <a:off x="1614899" y="4312213"/>
            <a:ext cx="4141581" cy="5358900"/>
          </a:xfrm>
          <a:prstGeom prst="rect">
            <a:avLst/>
          </a:prstGeom>
        </p:spPr>
        <p:txBody>
          <a:bodyPr anchor="t" rtlCol="false" tIns="0" lIns="0" bIns="0" rIns="0">
            <a:spAutoFit/>
          </a:bodyPr>
          <a:lstStyle/>
          <a:p>
            <a:pPr algn="ctr">
              <a:lnSpc>
                <a:spcPts val="3914"/>
              </a:lnSpc>
              <a:spcBef>
                <a:spcPct val="0"/>
              </a:spcBef>
            </a:pPr>
            <a:r>
              <a:rPr lang="en-US" b="true" sz="2795">
                <a:solidFill>
                  <a:srgbClr val="048AFF"/>
                </a:solidFill>
                <a:latin typeface="Fahkwang Bold"/>
                <a:ea typeface="Fahkwang Bold"/>
                <a:cs typeface="Fahkwang Bold"/>
                <a:sym typeface="Fahkwang Bold"/>
              </a:rPr>
              <a:t>train.csv</a:t>
            </a:r>
          </a:p>
          <a:p>
            <a:pPr algn="l" marL="603619" indent="-301810" lvl="1">
              <a:lnSpc>
                <a:spcPts val="3914"/>
              </a:lnSpc>
              <a:buFont typeface="Arial"/>
              <a:buChar char="•"/>
            </a:pPr>
            <a:r>
              <a:rPr lang="en-US" sz="2795">
                <a:solidFill>
                  <a:srgbClr val="FFFFFF"/>
                </a:solidFill>
                <a:latin typeface="Fahkwang"/>
                <a:ea typeface="Fahkwang"/>
                <a:cs typeface="Fahkwang"/>
                <a:sym typeface="Fahkwang"/>
              </a:rPr>
              <a:t>Sales (Target)</a:t>
            </a:r>
          </a:p>
          <a:p>
            <a:pPr algn="l" marL="603619" indent="-301810" lvl="1">
              <a:lnSpc>
                <a:spcPts val="3914"/>
              </a:lnSpc>
              <a:buFont typeface="Arial"/>
              <a:buChar char="•"/>
            </a:pPr>
            <a:r>
              <a:rPr lang="en-US" sz="2795">
                <a:solidFill>
                  <a:srgbClr val="FFFFFF"/>
                </a:solidFill>
                <a:latin typeface="Fahkwang"/>
                <a:ea typeface="Fahkwang"/>
                <a:cs typeface="Fahkwang"/>
                <a:sym typeface="Fahkwang"/>
              </a:rPr>
              <a:t>StoreID</a:t>
            </a:r>
          </a:p>
          <a:p>
            <a:pPr algn="l" marL="603619" indent="-301810" lvl="1">
              <a:lnSpc>
                <a:spcPts val="3914"/>
              </a:lnSpc>
              <a:buFont typeface="Arial"/>
              <a:buChar char="•"/>
            </a:pPr>
            <a:r>
              <a:rPr lang="en-US" sz="2795">
                <a:solidFill>
                  <a:srgbClr val="FFFFFF"/>
                </a:solidFill>
                <a:latin typeface="Fahkwang"/>
                <a:ea typeface="Fahkwang"/>
                <a:cs typeface="Fahkwang"/>
                <a:sym typeface="Fahkwang"/>
              </a:rPr>
              <a:t>Customers</a:t>
            </a:r>
          </a:p>
          <a:p>
            <a:pPr algn="l" marL="603619" indent="-301810" lvl="1">
              <a:lnSpc>
                <a:spcPts val="3914"/>
              </a:lnSpc>
              <a:buFont typeface="Arial"/>
              <a:buChar char="•"/>
            </a:pPr>
            <a:r>
              <a:rPr lang="en-US" sz="2795">
                <a:solidFill>
                  <a:srgbClr val="FFFFFF"/>
                </a:solidFill>
                <a:latin typeface="Fahkwang"/>
                <a:ea typeface="Fahkwang"/>
                <a:cs typeface="Fahkwang"/>
                <a:sym typeface="Fahkwang"/>
              </a:rPr>
              <a:t>dayof week</a:t>
            </a:r>
          </a:p>
          <a:p>
            <a:pPr algn="l" marL="603619" indent="-301810" lvl="1">
              <a:lnSpc>
                <a:spcPts val="3914"/>
              </a:lnSpc>
              <a:buFont typeface="Arial"/>
              <a:buChar char="•"/>
            </a:pPr>
            <a:r>
              <a:rPr lang="en-US" sz="2795">
                <a:solidFill>
                  <a:srgbClr val="FFFFFF"/>
                </a:solidFill>
                <a:latin typeface="Fahkwang"/>
                <a:ea typeface="Fahkwang"/>
                <a:cs typeface="Fahkwang"/>
                <a:sym typeface="Fahkwang"/>
              </a:rPr>
              <a:t>Open (0,1)</a:t>
            </a:r>
          </a:p>
          <a:p>
            <a:pPr algn="l" marL="603619" indent="-301810" lvl="1">
              <a:lnSpc>
                <a:spcPts val="3914"/>
              </a:lnSpc>
              <a:buFont typeface="Arial"/>
              <a:buChar char="•"/>
            </a:pPr>
            <a:r>
              <a:rPr lang="en-US" sz="2795">
                <a:solidFill>
                  <a:srgbClr val="FFFFFF"/>
                </a:solidFill>
                <a:latin typeface="Fahkwang"/>
                <a:ea typeface="Fahkwang"/>
                <a:cs typeface="Fahkwang"/>
                <a:sym typeface="Fahkwang"/>
              </a:rPr>
              <a:t>Promo (0,1)</a:t>
            </a:r>
          </a:p>
          <a:p>
            <a:pPr algn="l" marL="603619" indent="-301810" lvl="1">
              <a:lnSpc>
                <a:spcPts val="3914"/>
              </a:lnSpc>
              <a:buFont typeface="Arial"/>
              <a:buChar char="•"/>
            </a:pPr>
            <a:r>
              <a:rPr lang="en-US" sz="2795">
                <a:solidFill>
                  <a:srgbClr val="FFFFFF"/>
                </a:solidFill>
                <a:latin typeface="Fahkwang"/>
                <a:ea typeface="Fahkwang"/>
                <a:cs typeface="Fahkwang"/>
                <a:sym typeface="Fahkwang"/>
              </a:rPr>
              <a:t>StateHoliday</a:t>
            </a:r>
          </a:p>
          <a:p>
            <a:pPr algn="l">
              <a:lnSpc>
                <a:spcPts val="3914"/>
              </a:lnSpc>
            </a:pPr>
            <a:r>
              <a:rPr lang="en-US" sz="2795">
                <a:solidFill>
                  <a:srgbClr val="FFFFFF"/>
                </a:solidFill>
                <a:latin typeface="Fahkwang"/>
                <a:ea typeface="Fahkwang"/>
                <a:cs typeface="Fahkwang"/>
                <a:sym typeface="Fahkwang"/>
              </a:rPr>
              <a:t>        (0,a,b,c)</a:t>
            </a:r>
          </a:p>
          <a:p>
            <a:pPr algn="l" marL="603619" indent="-301810" lvl="1">
              <a:lnSpc>
                <a:spcPts val="3914"/>
              </a:lnSpc>
              <a:buFont typeface="Arial"/>
              <a:buChar char="•"/>
            </a:pPr>
            <a:r>
              <a:rPr lang="en-US" sz="2795">
                <a:solidFill>
                  <a:srgbClr val="FFFFFF"/>
                </a:solidFill>
                <a:latin typeface="Fahkwang"/>
                <a:ea typeface="Fahkwang"/>
                <a:cs typeface="Fahkwang"/>
                <a:sym typeface="Fahkwang"/>
              </a:rPr>
              <a:t>SchoolHoliday (0,1)</a:t>
            </a:r>
          </a:p>
          <a:p>
            <a:pPr algn="l" marL="603619" indent="-301810" lvl="1">
              <a:lnSpc>
                <a:spcPts val="3914"/>
              </a:lnSpc>
              <a:buFont typeface="Arial"/>
              <a:buChar char="•"/>
            </a:pPr>
            <a:r>
              <a:rPr lang="en-US" sz="2795">
                <a:solidFill>
                  <a:srgbClr val="FFFFFF"/>
                </a:solidFill>
                <a:latin typeface="Fahkwang"/>
                <a:ea typeface="Fahkwang"/>
                <a:cs typeface="Fahkwang"/>
                <a:sym typeface="Fahkwang"/>
              </a:rPr>
              <a:t>Date</a:t>
            </a:r>
          </a:p>
        </p:txBody>
      </p:sp>
      <p:sp>
        <p:nvSpPr>
          <p:cNvPr name="TextBox 22" id="22"/>
          <p:cNvSpPr txBox="true"/>
          <p:nvPr/>
        </p:nvSpPr>
        <p:spPr>
          <a:xfrm rot="0">
            <a:off x="12102591" y="4399558"/>
            <a:ext cx="5138601" cy="5165159"/>
          </a:xfrm>
          <a:prstGeom prst="rect">
            <a:avLst/>
          </a:prstGeom>
        </p:spPr>
        <p:txBody>
          <a:bodyPr anchor="t" rtlCol="false" tIns="0" lIns="0" bIns="0" rIns="0">
            <a:spAutoFit/>
          </a:bodyPr>
          <a:lstStyle/>
          <a:p>
            <a:pPr algn="ctr">
              <a:lnSpc>
                <a:spcPts val="4538"/>
              </a:lnSpc>
              <a:spcBef>
                <a:spcPct val="0"/>
              </a:spcBef>
            </a:pPr>
            <a:r>
              <a:rPr lang="en-US" b="true" sz="3241">
                <a:solidFill>
                  <a:srgbClr val="048AFF"/>
                </a:solidFill>
                <a:latin typeface="Fahkwang Bold"/>
                <a:ea typeface="Fahkwang Bold"/>
                <a:cs typeface="Fahkwang Bold"/>
                <a:sym typeface="Fahkwang Bold"/>
              </a:rPr>
              <a:t>store.csv</a:t>
            </a:r>
          </a:p>
          <a:p>
            <a:pPr algn="l" marL="699947" indent="-349974" lvl="1">
              <a:lnSpc>
                <a:spcPts val="4538"/>
              </a:lnSpc>
              <a:buFont typeface="Arial"/>
              <a:buChar char="•"/>
            </a:pPr>
            <a:r>
              <a:rPr lang="en-US" sz="3241">
                <a:solidFill>
                  <a:srgbClr val="FFFFFF"/>
                </a:solidFill>
                <a:latin typeface="Fahkwang"/>
                <a:ea typeface="Fahkwang"/>
                <a:cs typeface="Fahkwang"/>
                <a:sym typeface="Fahkwang"/>
              </a:rPr>
              <a:t>StoreType (a,b,c,d)</a:t>
            </a:r>
          </a:p>
          <a:p>
            <a:pPr algn="l" marL="699947" indent="-349974" lvl="1">
              <a:lnSpc>
                <a:spcPts val="4538"/>
              </a:lnSpc>
              <a:buFont typeface="Arial"/>
              <a:buChar char="•"/>
            </a:pPr>
            <a:r>
              <a:rPr lang="en-US" sz="3241">
                <a:solidFill>
                  <a:srgbClr val="FFFFFF"/>
                </a:solidFill>
                <a:latin typeface="Fahkwang"/>
                <a:ea typeface="Fahkwang"/>
                <a:cs typeface="Fahkwang"/>
                <a:sym typeface="Fahkwang"/>
              </a:rPr>
              <a:t>StoreID</a:t>
            </a:r>
          </a:p>
          <a:p>
            <a:pPr algn="l" marL="699947" indent="-349974" lvl="1">
              <a:lnSpc>
                <a:spcPts val="4538"/>
              </a:lnSpc>
              <a:buFont typeface="Arial"/>
              <a:buChar char="•"/>
            </a:pPr>
            <a:r>
              <a:rPr lang="en-US" sz="3241">
                <a:solidFill>
                  <a:srgbClr val="FFFFFF"/>
                </a:solidFill>
                <a:latin typeface="Fahkwang"/>
                <a:ea typeface="Fahkwang"/>
                <a:cs typeface="Fahkwang"/>
                <a:sym typeface="Fahkwang"/>
              </a:rPr>
              <a:t>Assortment (a,b,c)</a:t>
            </a:r>
          </a:p>
          <a:p>
            <a:pPr algn="l" marL="699947" indent="-349974" lvl="1">
              <a:lnSpc>
                <a:spcPts val="4538"/>
              </a:lnSpc>
              <a:buFont typeface="Arial"/>
              <a:buChar char="•"/>
            </a:pPr>
            <a:r>
              <a:rPr lang="en-US" sz="3241">
                <a:solidFill>
                  <a:srgbClr val="FFFFFF"/>
                </a:solidFill>
                <a:latin typeface="Fahkwang"/>
                <a:ea typeface="Fahkwang"/>
                <a:cs typeface="Fahkwang"/>
                <a:sym typeface="Fahkwang"/>
              </a:rPr>
              <a:t>CompetitionDistance</a:t>
            </a:r>
          </a:p>
          <a:p>
            <a:pPr algn="l" marL="699947" indent="-349974" lvl="1">
              <a:lnSpc>
                <a:spcPts val="4538"/>
              </a:lnSpc>
              <a:buFont typeface="Arial"/>
              <a:buChar char="•"/>
            </a:pPr>
            <a:r>
              <a:rPr lang="en-US" sz="3241">
                <a:solidFill>
                  <a:srgbClr val="FFFFFF"/>
                </a:solidFill>
                <a:latin typeface="Fahkwang"/>
                <a:ea typeface="Fahkwang"/>
                <a:cs typeface="Fahkwang"/>
                <a:sym typeface="Fahkwang"/>
              </a:rPr>
              <a:t>Promo2</a:t>
            </a:r>
          </a:p>
          <a:p>
            <a:pPr algn="l" marL="699947" indent="-349974" lvl="1">
              <a:lnSpc>
                <a:spcPts val="4538"/>
              </a:lnSpc>
              <a:buFont typeface="Arial"/>
              <a:buChar char="•"/>
            </a:pPr>
            <a:r>
              <a:rPr lang="en-US" sz="3241">
                <a:solidFill>
                  <a:srgbClr val="FFFFFF"/>
                </a:solidFill>
                <a:latin typeface="Fahkwang"/>
                <a:ea typeface="Fahkwang"/>
                <a:cs typeface="Fahkwang"/>
                <a:sym typeface="Fahkwang"/>
              </a:rPr>
              <a:t>Promo2SinceWeek</a:t>
            </a:r>
          </a:p>
          <a:p>
            <a:pPr algn="l" marL="699947" indent="-349974" lvl="1">
              <a:lnSpc>
                <a:spcPts val="4538"/>
              </a:lnSpc>
              <a:buFont typeface="Arial"/>
              <a:buChar char="•"/>
            </a:pPr>
            <a:r>
              <a:rPr lang="en-US" sz="3241">
                <a:solidFill>
                  <a:srgbClr val="FFFFFF"/>
                </a:solidFill>
                <a:latin typeface="Fahkwang"/>
                <a:ea typeface="Fahkwang"/>
                <a:cs typeface="Fahkwang"/>
                <a:sym typeface="Fahkwang"/>
              </a:rPr>
              <a:t>Promo2SinceYear</a:t>
            </a:r>
          </a:p>
          <a:p>
            <a:pPr algn="l" marL="699947" indent="-349974" lvl="1">
              <a:lnSpc>
                <a:spcPts val="4538"/>
              </a:lnSpc>
              <a:buFont typeface="Arial"/>
              <a:buChar char="•"/>
            </a:pPr>
            <a:r>
              <a:rPr lang="en-US" sz="3241">
                <a:solidFill>
                  <a:srgbClr val="FFFFFF"/>
                </a:solidFill>
                <a:latin typeface="Fahkwang"/>
                <a:ea typeface="Fahkwang"/>
                <a:cs typeface="Fahkwang"/>
                <a:sym typeface="Fahkwang"/>
              </a:rPr>
              <a:t>PromoInterval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2267E"/>
        </a:solidFill>
      </p:bgPr>
    </p:bg>
    <p:spTree>
      <p:nvGrpSpPr>
        <p:cNvPr id="1" name=""/>
        <p:cNvGrpSpPr/>
        <p:nvPr/>
      </p:nvGrpSpPr>
      <p:grpSpPr>
        <a:xfrm>
          <a:off x="0" y="0"/>
          <a:ext cx="0" cy="0"/>
          <a:chOff x="0" y="0"/>
          <a:chExt cx="0" cy="0"/>
        </a:xfrm>
      </p:grpSpPr>
      <p:grpSp>
        <p:nvGrpSpPr>
          <p:cNvPr name="Group 2" id="2"/>
          <p:cNvGrpSpPr/>
          <p:nvPr/>
        </p:nvGrpSpPr>
        <p:grpSpPr>
          <a:xfrm rot="0">
            <a:off x="3862693" y="7765996"/>
            <a:ext cx="1279432" cy="127943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5" id="5"/>
          <p:cNvGrpSpPr/>
          <p:nvPr/>
        </p:nvGrpSpPr>
        <p:grpSpPr>
          <a:xfrm rot="0">
            <a:off x="5290647" y="7765996"/>
            <a:ext cx="1279432" cy="12794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8" id="8"/>
          <p:cNvGrpSpPr/>
          <p:nvPr/>
        </p:nvGrpSpPr>
        <p:grpSpPr>
          <a:xfrm rot="0">
            <a:off x="13364483" y="9369508"/>
            <a:ext cx="5765006" cy="1028700"/>
            <a:chOff x="0" y="0"/>
            <a:chExt cx="1049690" cy="187305"/>
          </a:xfrm>
        </p:grpSpPr>
        <p:sp>
          <p:nvSpPr>
            <p:cNvPr name="Freeform 9" id="9"/>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10" id="10"/>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1" id="11"/>
          <p:cNvSpPr/>
          <p:nvPr/>
        </p:nvSpPr>
        <p:spPr>
          <a:xfrm flipH="false" flipV="false" rot="0">
            <a:off x="11788293" y="3307255"/>
            <a:ext cx="5178810" cy="4114800"/>
          </a:xfrm>
          <a:custGeom>
            <a:avLst/>
            <a:gdLst/>
            <a:ahLst/>
            <a:cxnLst/>
            <a:rect r="r" b="b" t="t" l="l"/>
            <a:pathLst>
              <a:path h="4114800" w="5178810">
                <a:moveTo>
                  <a:pt x="0" y="0"/>
                </a:moveTo>
                <a:lnTo>
                  <a:pt x="5178810" y="0"/>
                </a:lnTo>
                <a:lnTo>
                  <a:pt x="517881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775894" y="4193746"/>
            <a:ext cx="10628901" cy="2038350"/>
          </a:xfrm>
          <a:prstGeom prst="rect">
            <a:avLst/>
          </a:prstGeom>
        </p:spPr>
        <p:txBody>
          <a:bodyPr anchor="t" rtlCol="false" tIns="0" lIns="0" bIns="0" rIns="0">
            <a:spAutoFit/>
          </a:bodyPr>
          <a:lstStyle/>
          <a:p>
            <a:pPr algn="ctr">
              <a:lnSpc>
                <a:spcPts val="8078"/>
              </a:lnSpc>
            </a:pPr>
            <a:r>
              <a:rPr lang="en-US" sz="6731">
                <a:solidFill>
                  <a:srgbClr val="FFFFFF"/>
                </a:solidFill>
                <a:latin typeface="Secular One"/>
                <a:ea typeface="Secular One"/>
                <a:cs typeface="Secular One"/>
                <a:sym typeface="Secular One"/>
              </a:rPr>
              <a:t>Data Cleaning&amp;Preprocessing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0" y="0"/>
            <a:ext cx="5739024" cy="10287000"/>
            <a:chOff x="0" y="0"/>
            <a:chExt cx="1511513" cy="2709333"/>
          </a:xfrm>
        </p:grpSpPr>
        <p:sp>
          <p:nvSpPr>
            <p:cNvPr name="Freeform 3" id="3"/>
            <p:cNvSpPr/>
            <p:nvPr/>
          </p:nvSpPr>
          <p:spPr>
            <a:xfrm flipH="false" flipV="false" rot="0">
              <a:off x="0" y="0"/>
              <a:ext cx="1511513" cy="2709333"/>
            </a:xfrm>
            <a:custGeom>
              <a:avLst/>
              <a:gdLst/>
              <a:ahLst/>
              <a:cxnLst/>
              <a:rect r="r" b="b" t="t" l="l"/>
              <a:pathLst>
                <a:path h="2709333" w="1511513">
                  <a:moveTo>
                    <a:pt x="0" y="0"/>
                  </a:moveTo>
                  <a:lnTo>
                    <a:pt x="1511513" y="0"/>
                  </a:lnTo>
                  <a:lnTo>
                    <a:pt x="1511513" y="2709333"/>
                  </a:lnTo>
                  <a:lnTo>
                    <a:pt x="0" y="2709333"/>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4" id="4"/>
            <p:cNvSpPr txBox="true"/>
            <p:nvPr/>
          </p:nvSpPr>
          <p:spPr>
            <a:xfrm>
              <a:off x="0" y="-28575"/>
              <a:ext cx="1511513" cy="2737908"/>
            </a:xfrm>
            <a:prstGeom prst="rect">
              <a:avLst/>
            </a:prstGeom>
          </p:spPr>
          <p:txBody>
            <a:bodyPr anchor="ctr" rtlCol="false" tIns="50800" lIns="50800" bIns="50800" rIns="50800"/>
            <a:lstStyle/>
            <a:p>
              <a:pPr algn="ctr">
                <a:lnSpc>
                  <a:spcPts val="2100"/>
                </a:lnSpc>
              </a:pPr>
            </a:p>
          </p:txBody>
        </p:sp>
      </p:grpSp>
      <p:grpSp>
        <p:nvGrpSpPr>
          <p:cNvPr name="Group 5" id="5"/>
          <p:cNvGrpSpPr/>
          <p:nvPr/>
        </p:nvGrpSpPr>
        <p:grpSpPr>
          <a:xfrm rot="-5400000">
            <a:off x="6758749" y="615396"/>
            <a:ext cx="528783" cy="297825"/>
            <a:chOff x="0" y="0"/>
            <a:chExt cx="812800" cy="457791"/>
          </a:xfrm>
        </p:grpSpPr>
        <p:sp>
          <p:nvSpPr>
            <p:cNvPr name="Freeform 6" id="6"/>
            <p:cNvSpPr/>
            <p:nvPr/>
          </p:nvSpPr>
          <p:spPr>
            <a:xfrm flipH="false" flipV="false" rot="0">
              <a:off x="0" y="0"/>
              <a:ext cx="812800" cy="457791"/>
            </a:xfrm>
            <a:custGeom>
              <a:avLst/>
              <a:gdLst/>
              <a:ahLst/>
              <a:cxnLst/>
              <a:rect r="r" b="b" t="t" l="l"/>
              <a:pathLst>
                <a:path h="457791" w="812800">
                  <a:moveTo>
                    <a:pt x="406400" y="457791"/>
                  </a:moveTo>
                  <a:lnTo>
                    <a:pt x="812800" y="0"/>
                  </a:lnTo>
                  <a:lnTo>
                    <a:pt x="0" y="0"/>
                  </a:lnTo>
                  <a:lnTo>
                    <a:pt x="406400" y="457791"/>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7" id="7"/>
            <p:cNvSpPr txBox="true"/>
            <p:nvPr/>
          </p:nvSpPr>
          <p:spPr>
            <a:xfrm>
              <a:off x="127000" y="23174"/>
              <a:ext cx="558800" cy="222071"/>
            </a:xfrm>
            <a:prstGeom prst="rect">
              <a:avLst/>
            </a:prstGeom>
          </p:spPr>
          <p:txBody>
            <a:bodyPr anchor="ctr" rtlCol="false" tIns="45702" lIns="45702" bIns="45702" rIns="45702"/>
            <a:lstStyle/>
            <a:p>
              <a:pPr algn="ctr">
                <a:lnSpc>
                  <a:spcPts val="140"/>
                </a:lnSpc>
              </a:pPr>
            </a:p>
          </p:txBody>
        </p:sp>
      </p:grpSp>
      <p:grpSp>
        <p:nvGrpSpPr>
          <p:cNvPr name="Group 8" id="8"/>
          <p:cNvGrpSpPr/>
          <p:nvPr/>
        </p:nvGrpSpPr>
        <p:grpSpPr>
          <a:xfrm rot="-5400000">
            <a:off x="6758749" y="5155644"/>
            <a:ext cx="528783" cy="297825"/>
            <a:chOff x="0" y="0"/>
            <a:chExt cx="812800" cy="457791"/>
          </a:xfrm>
        </p:grpSpPr>
        <p:sp>
          <p:nvSpPr>
            <p:cNvPr name="Freeform 9" id="9"/>
            <p:cNvSpPr/>
            <p:nvPr/>
          </p:nvSpPr>
          <p:spPr>
            <a:xfrm flipH="false" flipV="false" rot="0">
              <a:off x="0" y="0"/>
              <a:ext cx="812800" cy="457791"/>
            </a:xfrm>
            <a:custGeom>
              <a:avLst/>
              <a:gdLst/>
              <a:ahLst/>
              <a:cxnLst/>
              <a:rect r="r" b="b" t="t" l="l"/>
              <a:pathLst>
                <a:path h="457791" w="812800">
                  <a:moveTo>
                    <a:pt x="406400" y="457791"/>
                  </a:moveTo>
                  <a:lnTo>
                    <a:pt x="812800" y="0"/>
                  </a:lnTo>
                  <a:lnTo>
                    <a:pt x="0" y="0"/>
                  </a:lnTo>
                  <a:lnTo>
                    <a:pt x="406400" y="457791"/>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10" id="10"/>
            <p:cNvSpPr txBox="true"/>
            <p:nvPr/>
          </p:nvSpPr>
          <p:spPr>
            <a:xfrm>
              <a:off x="127000" y="23174"/>
              <a:ext cx="558800" cy="222071"/>
            </a:xfrm>
            <a:prstGeom prst="rect">
              <a:avLst/>
            </a:prstGeom>
          </p:spPr>
          <p:txBody>
            <a:bodyPr anchor="ctr" rtlCol="false" tIns="45702" lIns="45702" bIns="45702" rIns="45702"/>
            <a:lstStyle/>
            <a:p>
              <a:pPr algn="ctr">
                <a:lnSpc>
                  <a:spcPts val="140"/>
                </a:lnSpc>
              </a:pPr>
            </a:p>
          </p:txBody>
        </p:sp>
      </p:grpSp>
      <p:grpSp>
        <p:nvGrpSpPr>
          <p:cNvPr name="Group 11" id="11"/>
          <p:cNvGrpSpPr/>
          <p:nvPr/>
        </p:nvGrpSpPr>
        <p:grpSpPr>
          <a:xfrm rot="0">
            <a:off x="14070439" y="9561545"/>
            <a:ext cx="5765006" cy="1028700"/>
            <a:chOff x="0" y="0"/>
            <a:chExt cx="1049690" cy="187305"/>
          </a:xfrm>
        </p:grpSpPr>
        <p:sp>
          <p:nvSpPr>
            <p:cNvPr name="Freeform 12" id="12"/>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13" id="13"/>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4" id="14"/>
          <p:cNvSpPr/>
          <p:nvPr/>
        </p:nvSpPr>
        <p:spPr>
          <a:xfrm flipH="false" flipV="false" rot="0">
            <a:off x="378292" y="6172200"/>
            <a:ext cx="3987615" cy="4114800"/>
          </a:xfrm>
          <a:custGeom>
            <a:avLst/>
            <a:gdLst/>
            <a:ahLst/>
            <a:cxnLst/>
            <a:rect r="r" b="b" t="t" l="l"/>
            <a:pathLst>
              <a:path h="4114800" w="3987615">
                <a:moveTo>
                  <a:pt x="0" y="0"/>
                </a:moveTo>
                <a:lnTo>
                  <a:pt x="3987615" y="0"/>
                </a:lnTo>
                <a:lnTo>
                  <a:pt x="398761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605401" y="486029"/>
            <a:ext cx="5269087" cy="2514600"/>
          </a:xfrm>
          <a:prstGeom prst="rect">
            <a:avLst/>
          </a:prstGeom>
        </p:spPr>
        <p:txBody>
          <a:bodyPr anchor="t" rtlCol="false" tIns="0" lIns="0" bIns="0" rIns="0">
            <a:spAutoFit/>
          </a:bodyPr>
          <a:lstStyle/>
          <a:p>
            <a:pPr algn="l">
              <a:lnSpc>
                <a:spcPts val="6600"/>
              </a:lnSpc>
            </a:pPr>
            <a:r>
              <a:rPr lang="en-US" b="true" sz="5500">
                <a:solidFill>
                  <a:srgbClr val="FFFFFF"/>
                </a:solidFill>
                <a:latin typeface="TT Hoves Bold"/>
                <a:ea typeface="TT Hoves Bold"/>
                <a:cs typeface="TT Hoves Bold"/>
                <a:sym typeface="TT Hoves Bold"/>
              </a:rPr>
              <a:t>Data Preprocessing Challenges</a:t>
            </a:r>
          </a:p>
        </p:txBody>
      </p:sp>
      <p:sp>
        <p:nvSpPr>
          <p:cNvPr name="TextBox 16" id="16"/>
          <p:cNvSpPr txBox="true"/>
          <p:nvPr/>
        </p:nvSpPr>
        <p:spPr>
          <a:xfrm rot="0">
            <a:off x="7172053" y="1200742"/>
            <a:ext cx="9453671" cy="498856"/>
          </a:xfrm>
          <a:prstGeom prst="rect">
            <a:avLst/>
          </a:prstGeom>
        </p:spPr>
        <p:txBody>
          <a:bodyPr anchor="t" rtlCol="false" tIns="0" lIns="0" bIns="0" rIns="0">
            <a:spAutoFit/>
          </a:bodyPr>
          <a:lstStyle/>
          <a:p>
            <a:pPr algn="l">
              <a:lnSpc>
                <a:spcPts val="4003"/>
              </a:lnSpc>
            </a:pPr>
            <a:r>
              <a:rPr lang="en-US" sz="2859">
                <a:solidFill>
                  <a:srgbClr val="FFFFFF"/>
                </a:solidFill>
                <a:latin typeface="Helios"/>
                <a:ea typeface="Helios"/>
                <a:cs typeface="Helios"/>
                <a:sym typeface="Helios"/>
              </a:rPr>
              <a:t>S</a:t>
            </a:r>
            <a:r>
              <a:rPr lang="en-US" sz="2859">
                <a:solidFill>
                  <a:srgbClr val="FFFFFF"/>
                </a:solidFill>
                <a:latin typeface="Helios"/>
                <a:ea typeface="Helios"/>
                <a:cs typeface="Helios"/>
                <a:sym typeface="Helios"/>
              </a:rPr>
              <a:t>ales data and store metadata existed in separate files</a:t>
            </a:r>
          </a:p>
        </p:txBody>
      </p:sp>
      <p:sp>
        <p:nvSpPr>
          <p:cNvPr name="TextBox 17" id="17"/>
          <p:cNvSpPr txBox="true"/>
          <p:nvPr/>
        </p:nvSpPr>
        <p:spPr>
          <a:xfrm rot="0">
            <a:off x="7172053" y="328144"/>
            <a:ext cx="7655918" cy="679452"/>
          </a:xfrm>
          <a:prstGeom prst="rect">
            <a:avLst/>
          </a:prstGeom>
        </p:spPr>
        <p:txBody>
          <a:bodyPr anchor="t" rtlCol="false" tIns="0" lIns="0" bIns="0" rIns="0">
            <a:spAutoFit/>
          </a:bodyPr>
          <a:lstStyle/>
          <a:p>
            <a:pPr algn="ctr">
              <a:lnSpc>
                <a:spcPts val="5599"/>
              </a:lnSpc>
              <a:spcBef>
                <a:spcPct val="0"/>
              </a:spcBef>
            </a:pPr>
            <a:r>
              <a:rPr lang="en-US" sz="3999">
                <a:solidFill>
                  <a:srgbClr val="B100E8"/>
                </a:solidFill>
                <a:latin typeface="Montserrat Classic"/>
                <a:ea typeface="Montserrat Classic"/>
                <a:cs typeface="Montserrat Classic"/>
                <a:sym typeface="Montserrat Classic"/>
              </a:rPr>
              <a:t>Problem 1 : Separate Datasets</a:t>
            </a:r>
          </a:p>
        </p:txBody>
      </p:sp>
      <p:sp>
        <p:nvSpPr>
          <p:cNvPr name="TextBox 18" id="18"/>
          <p:cNvSpPr txBox="true"/>
          <p:nvPr/>
        </p:nvSpPr>
        <p:spPr>
          <a:xfrm rot="0">
            <a:off x="7172053" y="1706138"/>
            <a:ext cx="9780888" cy="5993429"/>
          </a:xfrm>
          <a:prstGeom prst="rect">
            <a:avLst/>
          </a:prstGeom>
        </p:spPr>
        <p:txBody>
          <a:bodyPr anchor="t" rtlCol="false" tIns="0" lIns="0" bIns="0" rIns="0">
            <a:spAutoFit/>
          </a:bodyPr>
          <a:lstStyle/>
          <a:p>
            <a:pPr algn="l">
              <a:lnSpc>
                <a:spcPts val="3635"/>
              </a:lnSpc>
            </a:pPr>
            <a:r>
              <a:rPr lang="en-US" sz="2596" b="true">
                <a:solidFill>
                  <a:srgbClr val="048AFF"/>
                </a:solidFill>
                <a:latin typeface="Helios Bold"/>
                <a:ea typeface="Helios Bold"/>
                <a:cs typeface="Helios Bold"/>
                <a:sym typeface="Helios Bold"/>
              </a:rPr>
              <a:t>Solution:</a:t>
            </a:r>
          </a:p>
          <a:p>
            <a:pPr algn="l">
              <a:lnSpc>
                <a:spcPts val="3635"/>
              </a:lnSpc>
            </a:pPr>
            <a:r>
              <a:rPr lang="en-US" sz="2596" b="true">
                <a:solidFill>
                  <a:srgbClr val="FFFFFF"/>
                </a:solidFill>
                <a:latin typeface="Helios Bold"/>
                <a:ea typeface="Helios Bold"/>
                <a:cs typeface="Helios Bold"/>
                <a:sym typeface="Helios Bold"/>
              </a:rPr>
              <a:t>M</a:t>
            </a:r>
            <a:r>
              <a:rPr lang="en-US" sz="2596" b="true">
                <a:solidFill>
                  <a:srgbClr val="FFFFFF"/>
                </a:solidFill>
                <a:latin typeface="Helios Bold"/>
                <a:ea typeface="Helios Bold"/>
                <a:cs typeface="Helios Bold"/>
                <a:sym typeface="Helios Bold"/>
              </a:rPr>
              <a:t>erged:</a:t>
            </a:r>
          </a:p>
          <a:p>
            <a:pPr algn="l" marL="560679" indent="-280340" lvl="1">
              <a:lnSpc>
                <a:spcPts val="3635"/>
              </a:lnSpc>
              <a:buFont typeface="Arial"/>
              <a:buChar char="•"/>
            </a:pPr>
            <a:r>
              <a:rPr lang="en-US" b="true" sz="2596">
                <a:solidFill>
                  <a:srgbClr val="FFFFFF"/>
                </a:solidFill>
                <a:latin typeface="Helios Bold"/>
                <a:ea typeface="Helios Bold"/>
                <a:cs typeface="Helios Bold"/>
                <a:sym typeface="Helios Bold"/>
              </a:rPr>
              <a:t>train.csv</a:t>
            </a:r>
          </a:p>
          <a:p>
            <a:pPr algn="l" marL="560679" indent="-280340" lvl="1">
              <a:lnSpc>
                <a:spcPts val="3635"/>
              </a:lnSpc>
              <a:buFont typeface="Arial"/>
              <a:buChar char="•"/>
            </a:pPr>
            <a:r>
              <a:rPr lang="en-US" b="true" sz="2596">
                <a:solidFill>
                  <a:srgbClr val="FFFFFF"/>
                </a:solidFill>
                <a:latin typeface="Helios Bold"/>
                <a:ea typeface="Helios Bold"/>
                <a:cs typeface="Helios Bold"/>
                <a:sym typeface="Helios Bold"/>
              </a:rPr>
              <a:t>store.csv</a:t>
            </a:r>
          </a:p>
          <a:p>
            <a:pPr algn="l">
              <a:lnSpc>
                <a:spcPts val="3635"/>
              </a:lnSpc>
            </a:pPr>
            <a:r>
              <a:rPr lang="en-US" sz="2596" b="true">
                <a:solidFill>
                  <a:srgbClr val="FFFFFF"/>
                </a:solidFill>
                <a:latin typeface="Helios Bold"/>
                <a:ea typeface="Helios Bold"/>
                <a:cs typeface="Helios Bold"/>
                <a:sym typeface="Helios Bold"/>
              </a:rPr>
              <a:t>using:</a:t>
            </a:r>
          </a:p>
          <a:p>
            <a:pPr algn="l">
              <a:lnSpc>
                <a:spcPts val="3635"/>
              </a:lnSpc>
            </a:pPr>
            <a:r>
              <a:rPr lang="en-US" sz="2596" b="true">
                <a:solidFill>
                  <a:srgbClr val="FFFFFF"/>
                </a:solidFill>
                <a:latin typeface="Helios Bold"/>
                <a:ea typeface="Helios Bold"/>
                <a:cs typeface="Helios Bold"/>
                <a:sym typeface="Helios Bold"/>
              </a:rPr>
              <a:t>Store ID to create one unified dataset for analysis and modeling.</a:t>
            </a:r>
          </a:p>
          <a:p>
            <a:pPr algn="l">
              <a:lnSpc>
                <a:spcPts val="3635"/>
              </a:lnSpc>
            </a:pPr>
            <a:r>
              <a:rPr lang="en-US" sz="2596" b="true">
                <a:solidFill>
                  <a:srgbClr val="FFFFFF"/>
                </a:solidFill>
                <a:latin typeface="Helios Bold"/>
                <a:ea typeface="Helios Bold"/>
                <a:cs typeface="Helios Bold"/>
                <a:sym typeface="Helios Bold"/>
              </a:rPr>
              <a:t> </a:t>
            </a:r>
          </a:p>
          <a:p>
            <a:pPr algn="l">
              <a:lnSpc>
                <a:spcPts val="3635"/>
              </a:lnSpc>
            </a:pPr>
          </a:p>
          <a:p>
            <a:pPr algn="l">
              <a:lnSpc>
                <a:spcPts val="3635"/>
              </a:lnSpc>
            </a:pPr>
          </a:p>
          <a:p>
            <a:pPr algn="l">
              <a:lnSpc>
                <a:spcPts val="3635"/>
              </a:lnSpc>
            </a:pPr>
          </a:p>
          <a:p>
            <a:pPr algn="l">
              <a:lnSpc>
                <a:spcPts val="3635"/>
              </a:lnSpc>
            </a:pPr>
          </a:p>
          <a:p>
            <a:pPr algn="l">
              <a:lnSpc>
                <a:spcPts val="3635"/>
              </a:lnSpc>
            </a:pPr>
          </a:p>
        </p:txBody>
      </p:sp>
      <p:sp>
        <p:nvSpPr>
          <p:cNvPr name="TextBox 19" id="19"/>
          <p:cNvSpPr txBox="true"/>
          <p:nvPr/>
        </p:nvSpPr>
        <p:spPr>
          <a:xfrm rot="0">
            <a:off x="6874228" y="4926731"/>
            <a:ext cx="7655918" cy="679452"/>
          </a:xfrm>
          <a:prstGeom prst="rect">
            <a:avLst/>
          </a:prstGeom>
        </p:spPr>
        <p:txBody>
          <a:bodyPr anchor="t" rtlCol="false" tIns="0" lIns="0" bIns="0" rIns="0">
            <a:spAutoFit/>
          </a:bodyPr>
          <a:lstStyle/>
          <a:p>
            <a:pPr algn="ctr">
              <a:lnSpc>
                <a:spcPts val="5599"/>
              </a:lnSpc>
              <a:spcBef>
                <a:spcPct val="0"/>
              </a:spcBef>
            </a:pPr>
            <a:r>
              <a:rPr lang="en-US" sz="3999">
                <a:solidFill>
                  <a:srgbClr val="B100E8"/>
                </a:solidFill>
                <a:latin typeface="Montserrat Classic"/>
                <a:ea typeface="Montserrat Classic"/>
                <a:cs typeface="Montserrat Classic"/>
                <a:sym typeface="Montserrat Classic"/>
              </a:rPr>
              <a:t>Problem 2 : Missing Values</a:t>
            </a:r>
          </a:p>
        </p:txBody>
      </p:sp>
      <p:sp>
        <p:nvSpPr>
          <p:cNvPr name="TextBox 20" id="20"/>
          <p:cNvSpPr txBox="true"/>
          <p:nvPr/>
        </p:nvSpPr>
        <p:spPr>
          <a:xfrm rot="0">
            <a:off x="7335662" y="5711444"/>
            <a:ext cx="9453671" cy="2518156"/>
          </a:xfrm>
          <a:prstGeom prst="rect">
            <a:avLst/>
          </a:prstGeom>
        </p:spPr>
        <p:txBody>
          <a:bodyPr anchor="t" rtlCol="false" tIns="0" lIns="0" bIns="0" rIns="0">
            <a:spAutoFit/>
          </a:bodyPr>
          <a:lstStyle/>
          <a:p>
            <a:pPr algn="l">
              <a:lnSpc>
                <a:spcPts val="4003"/>
              </a:lnSpc>
            </a:pPr>
            <a:r>
              <a:rPr lang="en-US" sz="2859">
                <a:solidFill>
                  <a:srgbClr val="FFFFFF"/>
                </a:solidFill>
                <a:latin typeface="Helios"/>
                <a:ea typeface="Helios"/>
                <a:cs typeface="Helios"/>
                <a:sym typeface="Helios"/>
              </a:rPr>
              <a:t>Some store-re</a:t>
            </a:r>
            <a:r>
              <a:rPr lang="en-US" sz="2859">
                <a:solidFill>
                  <a:srgbClr val="FFFFFF"/>
                </a:solidFill>
                <a:latin typeface="Helios"/>
                <a:ea typeface="Helios"/>
                <a:cs typeface="Helios"/>
                <a:sym typeface="Helios"/>
              </a:rPr>
              <a:t>lated features contained missing values because:</a:t>
            </a:r>
          </a:p>
          <a:p>
            <a:pPr algn="l" marL="617470" indent="-308735" lvl="1">
              <a:lnSpc>
                <a:spcPts val="4003"/>
              </a:lnSpc>
              <a:buFont typeface="Arial"/>
              <a:buChar char="•"/>
            </a:pPr>
            <a:r>
              <a:rPr lang="en-US" sz="2859">
                <a:solidFill>
                  <a:srgbClr val="FFFFFF"/>
                </a:solidFill>
                <a:latin typeface="Helios"/>
                <a:ea typeface="Helios"/>
                <a:cs typeface="Helios"/>
                <a:sym typeface="Helios"/>
              </a:rPr>
              <a:t>Certain stores had no nearby competitors</a:t>
            </a:r>
          </a:p>
          <a:p>
            <a:pPr algn="l" marL="617470" indent="-308735" lvl="1">
              <a:lnSpc>
                <a:spcPts val="4003"/>
              </a:lnSpc>
              <a:buFont typeface="Arial"/>
              <a:buChar char="•"/>
            </a:pPr>
            <a:r>
              <a:rPr lang="en-US" sz="2859">
                <a:solidFill>
                  <a:srgbClr val="FFFFFF"/>
                </a:solidFill>
                <a:latin typeface="Helios"/>
                <a:ea typeface="Helios"/>
                <a:cs typeface="Helios"/>
                <a:sym typeface="Helios"/>
              </a:rPr>
              <a:t>Some stores did not participate in Promo2 campaigns</a:t>
            </a:r>
          </a:p>
          <a:p>
            <a:pPr algn="l">
              <a:lnSpc>
                <a:spcPts val="4003"/>
              </a:lnSpc>
            </a:pPr>
          </a:p>
        </p:txBody>
      </p:sp>
      <p:sp>
        <p:nvSpPr>
          <p:cNvPr name="TextBox 21" id="21"/>
          <p:cNvSpPr txBox="true"/>
          <p:nvPr/>
        </p:nvSpPr>
        <p:spPr>
          <a:xfrm rot="0">
            <a:off x="7335662" y="7709092"/>
            <a:ext cx="9780888" cy="5993429"/>
          </a:xfrm>
          <a:prstGeom prst="rect">
            <a:avLst/>
          </a:prstGeom>
        </p:spPr>
        <p:txBody>
          <a:bodyPr anchor="t" rtlCol="false" tIns="0" lIns="0" bIns="0" rIns="0">
            <a:spAutoFit/>
          </a:bodyPr>
          <a:lstStyle/>
          <a:p>
            <a:pPr algn="l">
              <a:lnSpc>
                <a:spcPts val="3635"/>
              </a:lnSpc>
            </a:pPr>
            <a:r>
              <a:rPr lang="en-US" sz="2596" b="true">
                <a:solidFill>
                  <a:srgbClr val="048AFF"/>
                </a:solidFill>
                <a:latin typeface="Helios Bold"/>
                <a:ea typeface="Helios Bold"/>
                <a:cs typeface="Helios Bold"/>
                <a:sym typeface="Helios Bold"/>
              </a:rPr>
              <a:t>Solution:</a:t>
            </a:r>
          </a:p>
          <a:p>
            <a:pPr algn="l" marL="560679" indent="-280340" lvl="1">
              <a:lnSpc>
                <a:spcPts val="3635"/>
              </a:lnSpc>
              <a:buFont typeface="Arial"/>
              <a:buChar char="•"/>
            </a:pPr>
            <a:r>
              <a:rPr lang="en-US" b="true" sz="2596">
                <a:solidFill>
                  <a:srgbClr val="FFFFFF"/>
                </a:solidFill>
                <a:latin typeface="Helios Bold"/>
                <a:ea typeface="Helios Bold"/>
                <a:cs typeface="Helios Bold"/>
                <a:sym typeface="Helios Bold"/>
              </a:rPr>
              <a:t>Fill</a:t>
            </a:r>
            <a:r>
              <a:rPr lang="en-US" b="true" sz="2596">
                <a:solidFill>
                  <a:srgbClr val="FFFFFF"/>
                </a:solidFill>
                <a:latin typeface="Helios Bold"/>
                <a:ea typeface="Helios Bold"/>
                <a:cs typeface="Helios Bold"/>
                <a:sym typeface="Helios Bold"/>
              </a:rPr>
              <a:t>ed competition and promotion time features with 0</a:t>
            </a:r>
          </a:p>
          <a:p>
            <a:pPr algn="l" marL="560679" indent="-280340" lvl="1">
              <a:lnSpc>
                <a:spcPts val="3635"/>
              </a:lnSpc>
              <a:buFont typeface="Arial"/>
              <a:buChar char="•"/>
            </a:pPr>
            <a:r>
              <a:rPr lang="en-US" b="true" sz="2596">
                <a:solidFill>
                  <a:srgbClr val="FFFFFF"/>
                </a:solidFill>
                <a:latin typeface="Helios Bold"/>
                <a:ea typeface="Helios Bold"/>
                <a:cs typeface="Helios Bold"/>
                <a:sym typeface="Helios Bold"/>
              </a:rPr>
              <a:t>Replaced missing CompetitionDistance values using the Mean</a:t>
            </a:r>
          </a:p>
          <a:p>
            <a:pPr algn="l" marL="560679" indent="-280340" lvl="1">
              <a:lnSpc>
                <a:spcPts val="3635"/>
              </a:lnSpc>
              <a:buFont typeface="Arial"/>
              <a:buChar char="•"/>
            </a:pPr>
            <a:r>
              <a:rPr lang="en-US" b="true" sz="2596">
                <a:solidFill>
                  <a:srgbClr val="FFFFFF"/>
                </a:solidFill>
                <a:latin typeface="Helios Bold"/>
                <a:ea typeface="Helios Bold"/>
                <a:cs typeface="Helios Bold"/>
                <a:sym typeface="Helios Bold"/>
              </a:rPr>
              <a:t>Replaced missing PromoInterval values with: “No Promo”</a:t>
            </a:r>
          </a:p>
          <a:p>
            <a:pPr algn="l">
              <a:lnSpc>
                <a:spcPts val="3635"/>
              </a:lnSpc>
            </a:pPr>
          </a:p>
          <a:p>
            <a:pPr algn="l">
              <a:lnSpc>
                <a:spcPts val="3635"/>
              </a:lnSpc>
            </a:pPr>
            <a:r>
              <a:rPr lang="en-US" sz="2596" b="true">
                <a:solidFill>
                  <a:srgbClr val="FFFFFF"/>
                </a:solidFill>
                <a:latin typeface="Helios Bold"/>
                <a:ea typeface="Helios Bold"/>
                <a:cs typeface="Helios Bold"/>
                <a:sym typeface="Helios Bold"/>
              </a:rPr>
              <a:t> modeling.</a:t>
            </a:r>
          </a:p>
          <a:p>
            <a:pPr algn="l">
              <a:lnSpc>
                <a:spcPts val="3635"/>
              </a:lnSpc>
            </a:pPr>
            <a:r>
              <a:rPr lang="en-US" sz="2596" b="true">
                <a:solidFill>
                  <a:srgbClr val="FFFFFF"/>
                </a:solidFill>
                <a:latin typeface="Helios Bold"/>
                <a:ea typeface="Helios Bold"/>
                <a:cs typeface="Helios Bold"/>
                <a:sym typeface="Helios Bold"/>
              </a:rPr>
              <a:t> </a:t>
            </a:r>
          </a:p>
          <a:p>
            <a:pPr algn="l">
              <a:lnSpc>
                <a:spcPts val="3635"/>
              </a:lnSpc>
            </a:pPr>
          </a:p>
          <a:p>
            <a:pPr algn="l">
              <a:lnSpc>
                <a:spcPts val="3635"/>
              </a:lnSpc>
            </a:pPr>
          </a:p>
          <a:p>
            <a:pPr algn="l">
              <a:lnSpc>
                <a:spcPts val="3635"/>
              </a:lnSpc>
            </a:pPr>
          </a:p>
          <a:p>
            <a:pPr algn="l">
              <a:lnSpc>
                <a:spcPts val="3635"/>
              </a:lnSpc>
            </a:pPr>
          </a:p>
          <a:p>
            <a:pPr algn="l">
              <a:lnSpc>
                <a:spcPts val="3635"/>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0" y="0"/>
            <a:ext cx="5739024" cy="10287000"/>
            <a:chOff x="0" y="0"/>
            <a:chExt cx="1511513" cy="2709333"/>
          </a:xfrm>
        </p:grpSpPr>
        <p:sp>
          <p:nvSpPr>
            <p:cNvPr name="Freeform 3" id="3"/>
            <p:cNvSpPr/>
            <p:nvPr/>
          </p:nvSpPr>
          <p:spPr>
            <a:xfrm flipH="false" flipV="false" rot="0">
              <a:off x="0" y="0"/>
              <a:ext cx="1511513" cy="2709333"/>
            </a:xfrm>
            <a:custGeom>
              <a:avLst/>
              <a:gdLst/>
              <a:ahLst/>
              <a:cxnLst/>
              <a:rect r="r" b="b" t="t" l="l"/>
              <a:pathLst>
                <a:path h="2709333" w="1511513">
                  <a:moveTo>
                    <a:pt x="0" y="0"/>
                  </a:moveTo>
                  <a:lnTo>
                    <a:pt x="1511513" y="0"/>
                  </a:lnTo>
                  <a:lnTo>
                    <a:pt x="1511513" y="2709333"/>
                  </a:lnTo>
                  <a:lnTo>
                    <a:pt x="0" y="2709333"/>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4" id="4"/>
            <p:cNvSpPr txBox="true"/>
            <p:nvPr/>
          </p:nvSpPr>
          <p:spPr>
            <a:xfrm>
              <a:off x="0" y="-28575"/>
              <a:ext cx="1511513" cy="2737908"/>
            </a:xfrm>
            <a:prstGeom prst="rect">
              <a:avLst/>
            </a:prstGeom>
          </p:spPr>
          <p:txBody>
            <a:bodyPr anchor="ctr" rtlCol="false" tIns="50800" lIns="50800" bIns="50800" rIns="50800"/>
            <a:lstStyle/>
            <a:p>
              <a:pPr algn="ctr">
                <a:lnSpc>
                  <a:spcPts val="2100"/>
                </a:lnSpc>
              </a:pPr>
            </a:p>
          </p:txBody>
        </p:sp>
      </p:grpSp>
      <p:grpSp>
        <p:nvGrpSpPr>
          <p:cNvPr name="Group 5" id="5"/>
          <p:cNvGrpSpPr/>
          <p:nvPr/>
        </p:nvGrpSpPr>
        <p:grpSpPr>
          <a:xfrm rot="-5400000">
            <a:off x="6758749" y="615396"/>
            <a:ext cx="528783" cy="297825"/>
            <a:chOff x="0" y="0"/>
            <a:chExt cx="812800" cy="457791"/>
          </a:xfrm>
        </p:grpSpPr>
        <p:sp>
          <p:nvSpPr>
            <p:cNvPr name="Freeform 6" id="6"/>
            <p:cNvSpPr/>
            <p:nvPr/>
          </p:nvSpPr>
          <p:spPr>
            <a:xfrm flipH="false" flipV="false" rot="0">
              <a:off x="0" y="0"/>
              <a:ext cx="812800" cy="457791"/>
            </a:xfrm>
            <a:custGeom>
              <a:avLst/>
              <a:gdLst/>
              <a:ahLst/>
              <a:cxnLst/>
              <a:rect r="r" b="b" t="t" l="l"/>
              <a:pathLst>
                <a:path h="457791" w="812800">
                  <a:moveTo>
                    <a:pt x="406400" y="457791"/>
                  </a:moveTo>
                  <a:lnTo>
                    <a:pt x="812800" y="0"/>
                  </a:lnTo>
                  <a:lnTo>
                    <a:pt x="0" y="0"/>
                  </a:lnTo>
                  <a:lnTo>
                    <a:pt x="406400" y="457791"/>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7" id="7"/>
            <p:cNvSpPr txBox="true"/>
            <p:nvPr/>
          </p:nvSpPr>
          <p:spPr>
            <a:xfrm>
              <a:off x="127000" y="23174"/>
              <a:ext cx="558800" cy="222071"/>
            </a:xfrm>
            <a:prstGeom prst="rect">
              <a:avLst/>
            </a:prstGeom>
          </p:spPr>
          <p:txBody>
            <a:bodyPr anchor="ctr" rtlCol="false" tIns="45702" lIns="45702" bIns="45702" rIns="45702"/>
            <a:lstStyle/>
            <a:p>
              <a:pPr algn="ctr">
                <a:lnSpc>
                  <a:spcPts val="140"/>
                </a:lnSpc>
              </a:pPr>
            </a:p>
          </p:txBody>
        </p:sp>
      </p:grpSp>
      <p:grpSp>
        <p:nvGrpSpPr>
          <p:cNvPr name="Group 8" id="8"/>
          <p:cNvGrpSpPr/>
          <p:nvPr/>
        </p:nvGrpSpPr>
        <p:grpSpPr>
          <a:xfrm rot="-5400000">
            <a:off x="6758749" y="5155644"/>
            <a:ext cx="528783" cy="297825"/>
            <a:chOff x="0" y="0"/>
            <a:chExt cx="812800" cy="457791"/>
          </a:xfrm>
        </p:grpSpPr>
        <p:sp>
          <p:nvSpPr>
            <p:cNvPr name="Freeform 9" id="9"/>
            <p:cNvSpPr/>
            <p:nvPr/>
          </p:nvSpPr>
          <p:spPr>
            <a:xfrm flipH="false" flipV="false" rot="0">
              <a:off x="0" y="0"/>
              <a:ext cx="812800" cy="457791"/>
            </a:xfrm>
            <a:custGeom>
              <a:avLst/>
              <a:gdLst/>
              <a:ahLst/>
              <a:cxnLst/>
              <a:rect r="r" b="b" t="t" l="l"/>
              <a:pathLst>
                <a:path h="457791" w="812800">
                  <a:moveTo>
                    <a:pt x="406400" y="457791"/>
                  </a:moveTo>
                  <a:lnTo>
                    <a:pt x="812800" y="0"/>
                  </a:lnTo>
                  <a:lnTo>
                    <a:pt x="0" y="0"/>
                  </a:lnTo>
                  <a:lnTo>
                    <a:pt x="406400" y="457791"/>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10" id="10"/>
            <p:cNvSpPr txBox="true"/>
            <p:nvPr/>
          </p:nvSpPr>
          <p:spPr>
            <a:xfrm>
              <a:off x="127000" y="23174"/>
              <a:ext cx="558800" cy="222071"/>
            </a:xfrm>
            <a:prstGeom prst="rect">
              <a:avLst/>
            </a:prstGeom>
          </p:spPr>
          <p:txBody>
            <a:bodyPr anchor="ctr" rtlCol="false" tIns="45702" lIns="45702" bIns="45702" rIns="45702"/>
            <a:lstStyle/>
            <a:p>
              <a:pPr algn="ctr">
                <a:lnSpc>
                  <a:spcPts val="140"/>
                </a:lnSpc>
              </a:pPr>
            </a:p>
          </p:txBody>
        </p:sp>
      </p:grpSp>
      <p:grpSp>
        <p:nvGrpSpPr>
          <p:cNvPr name="Group 11" id="11"/>
          <p:cNvGrpSpPr/>
          <p:nvPr/>
        </p:nvGrpSpPr>
        <p:grpSpPr>
          <a:xfrm rot="0">
            <a:off x="14070439" y="9561545"/>
            <a:ext cx="5765006" cy="1028700"/>
            <a:chOff x="0" y="0"/>
            <a:chExt cx="1049690" cy="187305"/>
          </a:xfrm>
        </p:grpSpPr>
        <p:sp>
          <p:nvSpPr>
            <p:cNvPr name="Freeform 12" id="12"/>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13" id="13"/>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4" id="14"/>
          <p:cNvSpPr/>
          <p:nvPr/>
        </p:nvSpPr>
        <p:spPr>
          <a:xfrm flipH="false" flipV="false" rot="0">
            <a:off x="378292" y="6172200"/>
            <a:ext cx="3987615" cy="4114800"/>
          </a:xfrm>
          <a:custGeom>
            <a:avLst/>
            <a:gdLst/>
            <a:ahLst/>
            <a:cxnLst/>
            <a:rect r="r" b="b" t="t" l="l"/>
            <a:pathLst>
              <a:path h="4114800" w="3987615">
                <a:moveTo>
                  <a:pt x="0" y="0"/>
                </a:moveTo>
                <a:lnTo>
                  <a:pt x="3987615" y="0"/>
                </a:lnTo>
                <a:lnTo>
                  <a:pt x="398761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605401" y="486029"/>
            <a:ext cx="5269087" cy="2514600"/>
          </a:xfrm>
          <a:prstGeom prst="rect">
            <a:avLst/>
          </a:prstGeom>
        </p:spPr>
        <p:txBody>
          <a:bodyPr anchor="t" rtlCol="false" tIns="0" lIns="0" bIns="0" rIns="0">
            <a:spAutoFit/>
          </a:bodyPr>
          <a:lstStyle/>
          <a:p>
            <a:pPr algn="l">
              <a:lnSpc>
                <a:spcPts val="6600"/>
              </a:lnSpc>
            </a:pPr>
            <a:r>
              <a:rPr lang="en-US" b="true" sz="5500">
                <a:solidFill>
                  <a:srgbClr val="FFFFFF"/>
                </a:solidFill>
                <a:latin typeface="TT Hoves Bold"/>
                <a:ea typeface="TT Hoves Bold"/>
                <a:cs typeface="TT Hoves Bold"/>
                <a:sym typeface="TT Hoves Bold"/>
              </a:rPr>
              <a:t>Data Preprocessing Challenges</a:t>
            </a:r>
          </a:p>
        </p:txBody>
      </p:sp>
      <p:sp>
        <p:nvSpPr>
          <p:cNvPr name="TextBox 16" id="16"/>
          <p:cNvSpPr txBox="true"/>
          <p:nvPr/>
        </p:nvSpPr>
        <p:spPr>
          <a:xfrm rot="0">
            <a:off x="7335662" y="962025"/>
            <a:ext cx="9923638" cy="3022981"/>
          </a:xfrm>
          <a:prstGeom prst="rect">
            <a:avLst/>
          </a:prstGeom>
        </p:spPr>
        <p:txBody>
          <a:bodyPr anchor="t" rtlCol="false" tIns="0" lIns="0" bIns="0" rIns="0">
            <a:spAutoFit/>
          </a:bodyPr>
          <a:lstStyle/>
          <a:p>
            <a:pPr algn="l">
              <a:lnSpc>
                <a:spcPts val="4003"/>
              </a:lnSpc>
            </a:pPr>
            <a:r>
              <a:rPr lang="en-US" sz="2859">
                <a:solidFill>
                  <a:srgbClr val="FFFFFF"/>
                </a:solidFill>
                <a:latin typeface="Helios"/>
                <a:ea typeface="Helios"/>
                <a:cs typeface="Helios"/>
                <a:sym typeface="Helios"/>
              </a:rPr>
              <a:t>Th</a:t>
            </a:r>
            <a:r>
              <a:rPr lang="en-US" sz="2859">
                <a:solidFill>
                  <a:srgbClr val="FFFFFF"/>
                </a:solidFill>
                <a:latin typeface="Helios"/>
                <a:ea typeface="Helios"/>
                <a:cs typeface="Helios"/>
                <a:sym typeface="Helios"/>
              </a:rPr>
              <a:t>e StateHoliday feature contained:</a:t>
            </a:r>
          </a:p>
          <a:p>
            <a:pPr algn="l" marL="617470" indent="-308735" lvl="1">
              <a:lnSpc>
                <a:spcPts val="4003"/>
              </a:lnSpc>
              <a:buFont typeface="Arial"/>
              <a:buChar char="•"/>
            </a:pPr>
            <a:r>
              <a:rPr lang="en-US" sz="2859">
                <a:solidFill>
                  <a:srgbClr val="FFFFFF"/>
                </a:solidFill>
                <a:latin typeface="Helios"/>
                <a:ea typeface="Helios"/>
                <a:cs typeface="Helios"/>
                <a:sym typeface="Helios"/>
              </a:rPr>
              <a:t>Integer 0</a:t>
            </a:r>
          </a:p>
          <a:p>
            <a:pPr algn="l" marL="617470" indent="-308735" lvl="1">
              <a:lnSpc>
                <a:spcPts val="4003"/>
              </a:lnSpc>
              <a:buFont typeface="Arial"/>
              <a:buChar char="•"/>
            </a:pPr>
            <a:r>
              <a:rPr lang="en-US" sz="2859">
                <a:solidFill>
                  <a:srgbClr val="FFFFFF"/>
                </a:solidFill>
                <a:latin typeface="Helios"/>
                <a:ea typeface="Helios"/>
                <a:cs typeface="Helios"/>
                <a:sym typeface="Helios"/>
              </a:rPr>
              <a:t>String "0"</a:t>
            </a:r>
          </a:p>
          <a:p>
            <a:pPr algn="l">
              <a:lnSpc>
                <a:spcPts val="4003"/>
              </a:lnSpc>
            </a:pPr>
            <a:r>
              <a:rPr lang="en-US" sz="2859">
                <a:solidFill>
                  <a:srgbClr val="FFFFFF"/>
                </a:solidFill>
                <a:latin typeface="Helios"/>
                <a:ea typeface="Helios"/>
                <a:cs typeface="Helios"/>
                <a:sym typeface="Helios"/>
              </a:rPr>
              <a:t>Although both represented normal business days, the model would treat them as different categories.</a:t>
            </a:r>
          </a:p>
          <a:p>
            <a:pPr algn="l">
              <a:lnSpc>
                <a:spcPts val="4003"/>
              </a:lnSpc>
            </a:pPr>
          </a:p>
        </p:txBody>
      </p:sp>
      <p:sp>
        <p:nvSpPr>
          <p:cNvPr name="TextBox 17" id="17"/>
          <p:cNvSpPr txBox="true"/>
          <p:nvPr/>
        </p:nvSpPr>
        <p:spPr>
          <a:xfrm rot="0">
            <a:off x="7023141" y="349248"/>
            <a:ext cx="9453671" cy="679452"/>
          </a:xfrm>
          <a:prstGeom prst="rect">
            <a:avLst/>
          </a:prstGeom>
        </p:spPr>
        <p:txBody>
          <a:bodyPr anchor="t" rtlCol="false" tIns="0" lIns="0" bIns="0" rIns="0">
            <a:spAutoFit/>
          </a:bodyPr>
          <a:lstStyle/>
          <a:p>
            <a:pPr algn="ctr">
              <a:lnSpc>
                <a:spcPts val="5599"/>
              </a:lnSpc>
              <a:spcBef>
                <a:spcPct val="0"/>
              </a:spcBef>
            </a:pPr>
            <a:r>
              <a:rPr lang="en-US" sz="3999">
                <a:solidFill>
                  <a:srgbClr val="B100E8"/>
                </a:solidFill>
                <a:latin typeface="Montserrat Classic"/>
                <a:ea typeface="Montserrat Classic"/>
                <a:cs typeface="Montserrat Classic"/>
                <a:sym typeface="Montserrat Classic"/>
              </a:rPr>
              <a:t>Problem 3 : Inconsistent Data Types</a:t>
            </a:r>
          </a:p>
        </p:txBody>
      </p:sp>
      <p:sp>
        <p:nvSpPr>
          <p:cNvPr name="TextBox 18" id="18"/>
          <p:cNvSpPr txBox="true"/>
          <p:nvPr/>
        </p:nvSpPr>
        <p:spPr>
          <a:xfrm rot="0">
            <a:off x="7335662" y="3445395"/>
            <a:ext cx="9780888" cy="4608296"/>
          </a:xfrm>
          <a:prstGeom prst="rect">
            <a:avLst/>
          </a:prstGeom>
        </p:spPr>
        <p:txBody>
          <a:bodyPr anchor="t" rtlCol="false" tIns="0" lIns="0" bIns="0" rIns="0">
            <a:spAutoFit/>
          </a:bodyPr>
          <a:lstStyle/>
          <a:p>
            <a:pPr algn="l">
              <a:lnSpc>
                <a:spcPts val="3635"/>
              </a:lnSpc>
            </a:pPr>
            <a:r>
              <a:rPr lang="en-US" sz="2596" b="true">
                <a:solidFill>
                  <a:srgbClr val="048AFF"/>
                </a:solidFill>
                <a:latin typeface="Helios Bold"/>
                <a:ea typeface="Helios Bold"/>
                <a:cs typeface="Helios Bold"/>
                <a:sym typeface="Helios Bold"/>
              </a:rPr>
              <a:t>Solution:</a:t>
            </a:r>
          </a:p>
          <a:p>
            <a:pPr algn="l">
              <a:lnSpc>
                <a:spcPts val="3635"/>
              </a:lnSpc>
            </a:pPr>
            <a:r>
              <a:rPr lang="en-US" sz="2596" b="true">
                <a:solidFill>
                  <a:srgbClr val="FFFFFF"/>
                </a:solidFill>
                <a:latin typeface="Helios Bold"/>
                <a:ea typeface="Helios Bold"/>
                <a:cs typeface="Helios Bold"/>
                <a:sym typeface="Helios Bold"/>
              </a:rPr>
              <a:t>S</a:t>
            </a:r>
            <a:r>
              <a:rPr lang="en-US" sz="2596" b="true">
                <a:solidFill>
                  <a:srgbClr val="FFFFFF"/>
                </a:solidFill>
                <a:latin typeface="Helios Bold"/>
                <a:ea typeface="Helios Bold"/>
                <a:cs typeface="Helios Bold"/>
                <a:sym typeface="Helios Bold"/>
              </a:rPr>
              <a:t>tandardized all values into one consistent categorical format.</a:t>
            </a:r>
          </a:p>
          <a:p>
            <a:pPr algn="l">
              <a:lnSpc>
                <a:spcPts val="3635"/>
              </a:lnSpc>
            </a:pPr>
          </a:p>
          <a:p>
            <a:pPr algn="l">
              <a:lnSpc>
                <a:spcPts val="3635"/>
              </a:lnSpc>
            </a:pPr>
            <a:r>
              <a:rPr lang="en-US" sz="2596" b="true">
                <a:solidFill>
                  <a:srgbClr val="FFFFFF"/>
                </a:solidFill>
                <a:latin typeface="Helios Bold"/>
                <a:ea typeface="Helios Bold"/>
                <a:cs typeface="Helios Bold"/>
                <a:sym typeface="Helios Bold"/>
              </a:rPr>
              <a:t> </a:t>
            </a:r>
          </a:p>
          <a:p>
            <a:pPr algn="l">
              <a:lnSpc>
                <a:spcPts val="3635"/>
              </a:lnSpc>
            </a:pPr>
          </a:p>
          <a:p>
            <a:pPr algn="l">
              <a:lnSpc>
                <a:spcPts val="3635"/>
              </a:lnSpc>
            </a:pPr>
          </a:p>
          <a:p>
            <a:pPr algn="l">
              <a:lnSpc>
                <a:spcPts val="3635"/>
              </a:lnSpc>
            </a:pPr>
          </a:p>
          <a:p>
            <a:pPr algn="l">
              <a:lnSpc>
                <a:spcPts val="3635"/>
              </a:lnSpc>
            </a:pPr>
          </a:p>
          <a:p>
            <a:pPr algn="l">
              <a:lnSpc>
                <a:spcPts val="3635"/>
              </a:lnSpc>
            </a:pPr>
          </a:p>
        </p:txBody>
      </p:sp>
      <p:sp>
        <p:nvSpPr>
          <p:cNvPr name="TextBox 19" id="19"/>
          <p:cNvSpPr txBox="true"/>
          <p:nvPr/>
        </p:nvSpPr>
        <p:spPr>
          <a:xfrm rot="0">
            <a:off x="6874228" y="4926731"/>
            <a:ext cx="9378408" cy="679452"/>
          </a:xfrm>
          <a:prstGeom prst="rect">
            <a:avLst/>
          </a:prstGeom>
        </p:spPr>
        <p:txBody>
          <a:bodyPr anchor="t" rtlCol="false" tIns="0" lIns="0" bIns="0" rIns="0">
            <a:spAutoFit/>
          </a:bodyPr>
          <a:lstStyle/>
          <a:p>
            <a:pPr algn="ctr">
              <a:lnSpc>
                <a:spcPts val="5599"/>
              </a:lnSpc>
              <a:spcBef>
                <a:spcPct val="0"/>
              </a:spcBef>
            </a:pPr>
            <a:r>
              <a:rPr lang="en-US" sz="3999">
                <a:solidFill>
                  <a:srgbClr val="B100E8"/>
                </a:solidFill>
                <a:latin typeface="Montserrat Classic"/>
                <a:ea typeface="Montserrat Classic"/>
                <a:cs typeface="Montserrat Classic"/>
                <a:sym typeface="Montserrat Classic"/>
              </a:rPr>
              <a:t>Problem 4 : Incorrect Date Format</a:t>
            </a:r>
          </a:p>
        </p:txBody>
      </p:sp>
      <p:sp>
        <p:nvSpPr>
          <p:cNvPr name="TextBox 20" id="20"/>
          <p:cNvSpPr txBox="true"/>
          <p:nvPr/>
        </p:nvSpPr>
        <p:spPr>
          <a:xfrm rot="0">
            <a:off x="7335662" y="5711444"/>
            <a:ext cx="9453671" cy="1003681"/>
          </a:xfrm>
          <a:prstGeom prst="rect">
            <a:avLst/>
          </a:prstGeom>
        </p:spPr>
        <p:txBody>
          <a:bodyPr anchor="t" rtlCol="false" tIns="0" lIns="0" bIns="0" rIns="0">
            <a:spAutoFit/>
          </a:bodyPr>
          <a:lstStyle/>
          <a:p>
            <a:pPr algn="l">
              <a:lnSpc>
                <a:spcPts val="4003"/>
              </a:lnSpc>
            </a:pPr>
            <a:r>
              <a:rPr lang="en-US" sz="2859">
                <a:solidFill>
                  <a:srgbClr val="FFFFFF"/>
                </a:solidFill>
                <a:latin typeface="Helios"/>
                <a:ea typeface="Helios"/>
                <a:cs typeface="Helios"/>
                <a:sym typeface="Helios"/>
              </a:rPr>
              <a:t>The D</a:t>
            </a:r>
            <a:r>
              <a:rPr lang="en-US" sz="2859">
                <a:solidFill>
                  <a:srgbClr val="FFFFFF"/>
                </a:solidFill>
                <a:latin typeface="Helios"/>
                <a:ea typeface="Helios"/>
                <a:cs typeface="Helios"/>
                <a:sym typeface="Helios"/>
              </a:rPr>
              <a:t>ate column was stored as a string instead of a datetime format.</a:t>
            </a:r>
          </a:p>
        </p:txBody>
      </p:sp>
      <p:sp>
        <p:nvSpPr>
          <p:cNvPr name="TextBox 21" id="21"/>
          <p:cNvSpPr txBox="true"/>
          <p:nvPr/>
        </p:nvSpPr>
        <p:spPr>
          <a:xfrm rot="0">
            <a:off x="7335662" y="6829425"/>
            <a:ext cx="9780888" cy="6455140"/>
          </a:xfrm>
          <a:prstGeom prst="rect">
            <a:avLst/>
          </a:prstGeom>
        </p:spPr>
        <p:txBody>
          <a:bodyPr anchor="t" rtlCol="false" tIns="0" lIns="0" bIns="0" rIns="0">
            <a:spAutoFit/>
          </a:bodyPr>
          <a:lstStyle/>
          <a:p>
            <a:pPr algn="l">
              <a:lnSpc>
                <a:spcPts val="3635"/>
              </a:lnSpc>
            </a:pPr>
            <a:r>
              <a:rPr lang="en-US" sz="2596" b="true">
                <a:solidFill>
                  <a:srgbClr val="048AFF"/>
                </a:solidFill>
                <a:latin typeface="Helios Bold"/>
                <a:ea typeface="Helios Bold"/>
                <a:cs typeface="Helios Bold"/>
                <a:sym typeface="Helios Bold"/>
              </a:rPr>
              <a:t>Solution:</a:t>
            </a:r>
          </a:p>
          <a:p>
            <a:pPr algn="l">
              <a:lnSpc>
                <a:spcPts val="3635"/>
              </a:lnSpc>
            </a:pPr>
            <a:r>
              <a:rPr lang="en-US" sz="2596" b="true">
                <a:solidFill>
                  <a:srgbClr val="FFFFFF"/>
                </a:solidFill>
                <a:latin typeface="Helios Bold"/>
                <a:ea typeface="Helios Bold"/>
                <a:cs typeface="Helios Bold"/>
                <a:sym typeface="Helios Bold"/>
              </a:rPr>
              <a:t>Convert</a:t>
            </a:r>
            <a:r>
              <a:rPr lang="en-US" sz="2596" b="true">
                <a:solidFill>
                  <a:srgbClr val="FFFFFF"/>
                </a:solidFill>
                <a:latin typeface="Helios Bold"/>
                <a:ea typeface="Helios Bold"/>
                <a:cs typeface="Helios Bold"/>
                <a:sym typeface="Helios Bold"/>
              </a:rPr>
              <a:t>ed the column into:Datetime Format</a:t>
            </a:r>
          </a:p>
          <a:p>
            <a:pPr algn="l">
              <a:lnSpc>
                <a:spcPts val="3635"/>
              </a:lnSpc>
            </a:pPr>
            <a:r>
              <a:rPr lang="en-US" sz="2596" b="true">
                <a:solidFill>
                  <a:srgbClr val="FFFFFF"/>
                </a:solidFill>
                <a:latin typeface="Helios Bold"/>
                <a:ea typeface="Helios Bold"/>
                <a:cs typeface="Helios Bold"/>
                <a:sym typeface="Helios Bold"/>
              </a:rPr>
              <a:t>This enabled:</a:t>
            </a:r>
          </a:p>
          <a:p>
            <a:pPr algn="l" marL="560679" indent="-280340" lvl="1">
              <a:lnSpc>
                <a:spcPts val="3635"/>
              </a:lnSpc>
              <a:buFont typeface="Arial"/>
              <a:buChar char="•"/>
            </a:pPr>
            <a:r>
              <a:rPr lang="en-US" b="true" sz="2596">
                <a:solidFill>
                  <a:srgbClr val="FFFFFF"/>
                </a:solidFill>
                <a:latin typeface="Helios Bold"/>
                <a:ea typeface="Helios Bold"/>
                <a:cs typeface="Helios Bold"/>
                <a:sym typeface="Helios Bold"/>
              </a:rPr>
              <a:t>Time-series analysis</a:t>
            </a:r>
          </a:p>
          <a:p>
            <a:pPr algn="l" marL="560679" indent="-280340" lvl="1">
              <a:lnSpc>
                <a:spcPts val="3635"/>
              </a:lnSpc>
              <a:buFont typeface="Arial"/>
              <a:buChar char="•"/>
            </a:pPr>
            <a:r>
              <a:rPr lang="en-US" b="true" sz="2596">
                <a:solidFill>
                  <a:srgbClr val="FFFFFF"/>
                </a:solidFill>
                <a:latin typeface="Helios Bold"/>
                <a:ea typeface="Helios Bold"/>
                <a:cs typeface="Helios Bold"/>
                <a:sym typeface="Helios Bold"/>
              </a:rPr>
              <a:t>Seasonal feature extraction</a:t>
            </a:r>
          </a:p>
          <a:p>
            <a:pPr algn="l" marL="560679" indent="-280340" lvl="1">
              <a:lnSpc>
                <a:spcPts val="3635"/>
              </a:lnSpc>
              <a:buFont typeface="Arial"/>
              <a:buChar char="•"/>
            </a:pPr>
            <a:r>
              <a:rPr lang="en-US" b="true" sz="2596">
                <a:solidFill>
                  <a:srgbClr val="FFFFFF"/>
                </a:solidFill>
                <a:latin typeface="Helios Bold"/>
                <a:ea typeface="Helios Bold"/>
                <a:cs typeface="Helios Bold"/>
                <a:sym typeface="Helios Bold"/>
              </a:rPr>
              <a:t>Trend analysis</a:t>
            </a:r>
          </a:p>
          <a:p>
            <a:pPr algn="l">
              <a:lnSpc>
                <a:spcPts val="3635"/>
              </a:lnSpc>
            </a:pPr>
          </a:p>
          <a:p>
            <a:pPr algn="l">
              <a:lnSpc>
                <a:spcPts val="3635"/>
              </a:lnSpc>
            </a:pPr>
            <a:r>
              <a:rPr lang="en-US" sz="2596" b="true">
                <a:solidFill>
                  <a:srgbClr val="FFFFFF"/>
                </a:solidFill>
                <a:latin typeface="Helios Bold"/>
                <a:ea typeface="Helios Bold"/>
                <a:cs typeface="Helios Bold"/>
                <a:sym typeface="Helios Bold"/>
              </a:rPr>
              <a:t> </a:t>
            </a:r>
          </a:p>
          <a:p>
            <a:pPr algn="l">
              <a:lnSpc>
                <a:spcPts val="3635"/>
              </a:lnSpc>
            </a:pPr>
            <a:r>
              <a:rPr lang="en-US" sz="2596" b="true">
                <a:solidFill>
                  <a:srgbClr val="FFFFFF"/>
                </a:solidFill>
                <a:latin typeface="Helios Bold"/>
                <a:ea typeface="Helios Bold"/>
                <a:cs typeface="Helios Bold"/>
                <a:sym typeface="Helios Bold"/>
              </a:rPr>
              <a:t> </a:t>
            </a:r>
          </a:p>
          <a:p>
            <a:pPr algn="l">
              <a:lnSpc>
                <a:spcPts val="3635"/>
              </a:lnSpc>
            </a:pPr>
          </a:p>
          <a:p>
            <a:pPr algn="l">
              <a:lnSpc>
                <a:spcPts val="3635"/>
              </a:lnSpc>
            </a:pPr>
          </a:p>
          <a:p>
            <a:pPr algn="l">
              <a:lnSpc>
                <a:spcPts val="3635"/>
              </a:lnSpc>
            </a:pPr>
          </a:p>
          <a:p>
            <a:pPr algn="l">
              <a:lnSpc>
                <a:spcPts val="3635"/>
              </a:lnSpc>
            </a:pPr>
          </a:p>
          <a:p>
            <a:pPr algn="l">
              <a:lnSpc>
                <a:spcPts val="3635"/>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2267E"/>
        </a:solidFill>
      </p:bgPr>
    </p:bg>
    <p:spTree>
      <p:nvGrpSpPr>
        <p:cNvPr id="1" name=""/>
        <p:cNvGrpSpPr/>
        <p:nvPr/>
      </p:nvGrpSpPr>
      <p:grpSpPr>
        <a:xfrm>
          <a:off x="0" y="0"/>
          <a:ext cx="0" cy="0"/>
          <a:chOff x="0" y="0"/>
          <a:chExt cx="0" cy="0"/>
        </a:xfrm>
      </p:grpSpPr>
      <p:grpSp>
        <p:nvGrpSpPr>
          <p:cNvPr name="Group 2" id="2"/>
          <p:cNvGrpSpPr/>
          <p:nvPr/>
        </p:nvGrpSpPr>
        <p:grpSpPr>
          <a:xfrm rot="0">
            <a:off x="3862693" y="7765996"/>
            <a:ext cx="1279432" cy="127943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5" id="5"/>
          <p:cNvGrpSpPr/>
          <p:nvPr/>
        </p:nvGrpSpPr>
        <p:grpSpPr>
          <a:xfrm rot="0">
            <a:off x="5290647" y="7765996"/>
            <a:ext cx="1279432" cy="12794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8" id="8"/>
          <p:cNvGrpSpPr/>
          <p:nvPr/>
        </p:nvGrpSpPr>
        <p:grpSpPr>
          <a:xfrm rot="0">
            <a:off x="13364483" y="9369508"/>
            <a:ext cx="5765006" cy="1028700"/>
            <a:chOff x="0" y="0"/>
            <a:chExt cx="1049690" cy="187305"/>
          </a:xfrm>
        </p:grpSpPr>
        <p:sp>
          <p:nvSpPr>
            <p:cNvPr name="Freeform 9" id="9"/>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10" id="10"/>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1" id="11"/>
          <p:cNvSpPr/>
          <p:nvPr/>
        </p:nvSpPr>
        <p:spPr>
          <a:xfrm flipH="false" flipV="false" rot="0">
            <a:off x="12668752" y="3136471"/>
            <a:ext cx="4590548" cy="4114800"/>
          </a:xfrm>
          <a:custGeom>
            <a:avLst/>
            <a:gdLst/>
            <a:ahLst/>
            <a:cxnLst/>
            <a:rect r="r" b="b" t="t" l="l"/>
            <a:pathLst>
              <a:path h="4114800" w="4590548">
                <a:moveTo>
                  <a:pt x="0" y="0"/>
                </a:moveTo>
                <a:lnTo>
                  <a:pt x="4590548" y="0"/>
                </a:lnTo>
                <a:lnTo>
                  <a:pt x="459054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775894" y="4193746"/>
            <a:ext cx="10628901" cy="3057525"/>
          </a:xfrm>
          <a:prstGeom prst="rect">
            <a:avLst/>
          </a:prstGeom>
        </p:spPr>
        <p:txBody>
          <a:bodyPr anchor="t" rtlCol="false" tIns="0" lIns="0" bIns="0" rIns="0">
            <a:spAutoFit/>
          </a:bodyPr>
          <a:lstStyle/>
          <a:p>
            <a:pPr algn="ctr">
              <a:lnSpc>
                <a:spcPts val="8078"/>
              </a:lnSpc>
            </a:pPr>
            <a:r>
              <a:rPr lang="en-US" sz="6731">
                <a:solidFill>
                  <a:srgbClr val="FFFFFF"/>
                </a:solidFill>
                <a:latin typeface="Secular One"/>
                <a:ea typeface="Secular One"/>
                <a:cs typeface="Secular One"/>
                <a:sym typeface="Secular One"/>
              </a:rPr>
              <a:t>Exploratory Data Analysis</a:t>
            </a:r>
          </a:p>
          <a:p>
            <a:pPr algn="ctr">
              <a:lnSpc>
                <a:spcPts val="8078"/>
              </a:lnSpc>
            </a:pPr>
            <a:r>
              <a:rPr lang="en-US" sz="6731">
                <a:solidFill>
                  <a:srgbClr val="FFFFFF"/>
                </a:solidFill>
                <a:latin typeface="Secular One"/>
                <a:ea typeface="Secular One"/>
                <a:cs typeface="Secular One"/>
                <a:sym typeface="Secular One"/>
              </a:rPr>
              <a:t>(EDA)</a:t>
            </a:r>
          </a:p>
          <a:p>
            <a:pPr algn="ctr">
              <a:lnSpc>
                <a:spcPts val="8078"/>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0">
            <a:off x="-8344763" y="4270557"/>
            <a:ext cx="17894953" cy="17894953"/>
          </a:xfrm>
          <a:custGeom>
            <a:avLst/>
            <a:gdLst/>
            <a:ahLst/>
            <a:cxnLst/>
            <a:rect r="r" b="b" t="t" l="l"/>
            <a:pathLst>
              <a:path h="17894953" w="17894953">
                <a:moveTo>
                  <a:pt x="0" y="0"/>
                </a:moveTo>
                <a:lnTo>
                  <a:pt x="17894952" y="0"/>
                </a:lnTo>
                <a:lnTo>
                  <a:pt x="17894952" y="17894953"/>
                </a:lnTo>
                <a:lnTo>
                  <a:pt x="0" y="178949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24620" y="-1132633"/>
            <a:ext cx="3308580" cy="3304444"/>
          </a:xfrm>
          <a:custGeom>
            <a:avLst/>
            <a:gdLst/>
            <a:ahLst/>
            <a:cxnLst/>
            <a:rect r="r" b="b" t="t" l="l"/>
            <a:pathLst>
              <a:path h="3304444" w="3308580">
                <a:moveTo>
                  <a:pt x="0" y="0"/>
                </a:moveTo>
                <a:lnTo>
                  <a:pt x="3308580" y="0"/>
                </a:lnTo>
                <a:lnTo>
                  <a:pt x="3308580" y="3304444"/>
                </a:lnTo>
                <a:lnTo>
                  <a:pt x="0" y="3304444"/>
                </a:lnTo>
                <a:lnTo>
                  <a:pt x="0" y="0"/>
                </a:lnTo>
                <a:close/>
              </a:path>
            </a:pathLst>
          </a:custGeom>
          <a:blipFill>
            <a:blip r:embed="rId4"/>
            <a:stretch>
              <a:fillRect l="0" t="0" r="0" b="0"/>
            </a:stretch>
          </a:blipFill>
        </p:spPr>
      </p:sp>
      <p:sp>
        <p:nvSpPr>
          <p:cNvPr name="Freeform 4" id="4"/>
          <p:cNvSpPr/>
          <p:nvPr/>
        </p:nvSpPr>
        <p:spPr>
          <a:xfrm flipH="false" flipV="false" rot="0">
            <a:off x="16633710" y="8634778"/>
            <a:ext cx="3308580" cy="3304444"/>
          </a:xfrm>
          <a:custGeom>
            <a:avLst/>
            <a:gdLst/>
            <a:ahLst/>
            <a:cxnLst/>
            <a:rect r="r" b="b" t="t" l="l"/>
            <a:pathLst>
              <a:path h="3304444" w="3308580">
                <a:moveTo>
                  <a:pt x="0" y="0"/>
                </a:moveTo>
                <a:lnTo>
                  <a:pt x="3308580" y="0"/>
                </a:lnTo>
                <a:lnTo>
                  <a:pt x="3308580" y="3304444"/>
                </a:lnTo>
                <a:lnTo>
                  <a:pt x="0" y="3304444"/>
                </a:lnTo>
                <a:lnTo>
                  <a:pt x="0" y="0"/>
                </a:lnTo>
                <a:close/>
              </a:path>
            </a:pathLst>
          </a:custGeom>
          <a:blipFill>
            <a:blip r:embed="rId4"/>
            <a:stretch>
              <a:fillRect l="0" t="0" r="0" b="0"/>
            </a:stretch>
          </a:blipFill>
        </p:spPr>
      </p:sp>
      <p:sp>
        <p:nvSpPr>
          <p:cNvPr name="Freeform 5" id="5"/>
          <p:cNvSpPr/>
          <p:nvPr/>
        </p:nvSpPr>
        <p:spPr>
          <a:xfrm flipH="false" flipV="false" rot="0">
            <a:off x="1380645" y="1540451"/>
            <a:ext cx="15526709" cy="8344602"/>
          </a:xfrm>
          <a:custGeom>
            <a:avLst/>
            <a:gdLst/>
            <a:ahLst/>
            <a:cxnLst/>
            <a:rect r="r" b="b" t="t" l="l"/>
            <a:pathLst>
              <a:path h="8344602" w="15526709">
                <a:moveTo>
                  <a:pt x="0" y="0"/>
                </a:moveTo>
                <a:lnTo>
                  <a:pt x="15526710" y="0"/>
                </a:lnTo>
                <a:lnTo>
                  <a:pt x="15526710" y="8344602"/>
                </a:lnTo>
                <a:lnTo>
                  <a:pt x="0" y="8344602"/>
                </a:lnTo>
                <a:lnTo>
                  <a:pt x="0" y="0"/>
                </a:lnTo>
                <a:close/>
              </a:path>
            </a:pathLst>
          </a:custGeom>
          <a:blipFill>
            <a:blip r:embed="rId5"/>
            <a:stretch>
              <a:fillRect l="-383" t="-1000" r="0" b="-3364"/>
            </a:stretch>
          </a:blipFill>
        </p:spPr>
      </p:sp>
      <p:sp>
        <p:nvSpPr>
          <p:cNvPr name="TextBox 6" id="6"/>
          <p:cNvSpPr txBox="true"/>
          <p:nvPr/>
        </p:nvSpPr>
        <p:spPr>
          <a:xfrm rot="0">
            <a:off x="1028700" y="424339"/>
            <a:ext cx="14591135" cy="875485"/>
          </a:xfrm>
          <a:prstGeom prst="rect">
            <a:avLst/>
          </a:prstGeom>
        </p:spPr>
        <p:txBody>
          <a:bodyPr anchor="t" rtlCol="false" tIns="0" lIns="0" bIns="0" rIns="0">
            <a:spAutoFit/>
          </a:bodyPr>
          <a:lstStyle/>
          <a:p>
            <a:pPr algn="ctr">
              <a:lnSpc>
                <a:spcPts val="7179"/>
              </a:lnSpc>
            </a:pPr>
            <a:r>
              <a:rPr lang="en-US" sz="5165" b="true">
                <a:solidFill>
                  <a:srgbClr val="FFFFFF"/>
                </a:solidFill>
                <a:latin typeface="TT Hoves Bold"/>
                <a:ea typeface="TT Hoves Bold"/>
                <a:cs typeface="TT Hoves Bold"/>
                <a:sym typeface="TT Hoves Bold"/>
              </a:rPr>
              <a:t> EDA via Dashboard — High-Level KPI Metrics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0">
            <a:off x="-8344763" y="4270557"/>
            <a:ext cx="17894953" cy="17894953"/>
          </a:xfrm>
          <a:custGeom>
            <a:avLst/>
            <a:gdLst/>
            <a:ahLst/>
            <a:cxnLst/>
            <a:rect r="r" b="b" t="t" l="l"/>
            <a:pathLst>
              <a:path h="17894953" w="17894953">
                <a:moveTo>
                  <a:pt x="0" y="0"/>
                </a:moveTo>
                <a:lnTo>
                  <a:pt x="17894952" y="0"/>
                </a:lnTo>
                <a:lnTo>
                  <a:pt x="17894952" y="17894953"/>
                </a:lnTo>
                <a:lnTo>
                  <a:pt x="0" y="178949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6446" y="-1739695"/>
            <a:ext cx="3308580" cy="3479391"/>
          </a:xfrm>
          <a:custGeom>
            <a:avLst/>
            <a:gdLst/>
            <a:ahLst/>
            <a:cxnLst/>
            <a:rect r="r" b="b" t="t" l="l"/>
            <a:pathLst>
              <a:path h="3479391" w="3308580">
                <a:moveTo>
                  <a:pt x="0" y="0"/>
                </a:moveTo>
                <a:lnTo>
                  <a:pt x="3308580" y="0"/>
                </a:lnTo>
                <a:lnTo>
                  <a:pt x="3308580" y="3479390"/>
                </a:lnTo>
                <a:lnTo>
                  <a:pt x="0" y="3479390"/>
                </a:lnTo>
                <a:lnTo>
                  <a:pt x="0" y="0"/>
                </a:lnTo>
                <a:close/>
              </a:path>
            </a:pathLst>
          </a:custGeom>
          <a:blipFill>
            <a:blip r:embed="rId4"/>
            <a:stretch>
              <a:fillRect l="-2647" t="0" r="-2647" b="0"/>
            </a:stretch>
          </a:blipFill>
        </p:spPr>
      </p:sp>
      <p:sp>
        <p:nvSpPr>
          <p:cNvPr name="Freeform 4" id="4"/>
          <p:cNvSpPr/>
          <p:nvPr/>
        </p:nvSpPr>
        <p:spPr>
          <a:xfrm flipH="false" flipV="false" rot="0">
            <a:off x="16633710" y="8634778"/>
            <a:ext cx="3308580" cy="3304444"/>
          </a:xfrm>
          <a:custGeom>
            <a:avLst/>
            <a:gdLst/>
            <a:ahLst/>
            <a:cxnLst/>
            <a:rect r="r" b="b" t="t" l="l"/>
            <a:pathLst>
              <a:path h="3304444" w="3308580">
                <a:moveTo>
                  <a:pt x="0" y="0"/>
                </a:moveTo>
                <a:lnTo>
                  <a:pt x="3308580" y="0"/>
                </a:lnTo>
                <a:lnTo>
                  <a:pt x="3308580" y="3304444"/>
                </a:lnTo>
                <a:lnTo>
                  <a:pt x="0" y="3304444"/>
                </a:lnTo>
                <a:lnTo>
                  <a:pt x="0" y="0"/>
                </a:lnTo>
                <a:close/>
              </a:path>
            </a:pathLst>
          </a:custGeom>
          <a:blipFill>
            <a:blip r:embed="rId4"/>
            <a:stretch>
              <a:fillRect l="0" t="0" r="0" b="0"/>
            </a:stretch>
          </a:blipFill>
        </p:spPr>
      </p:sp>
      <p:sp>
        <p:nvSpPr>
          <p:cNvPr name="Freeform 5" id="5"/>
          <p:cNvSpPr/>
          <p:nvPr/>
        </p:nvSpPr>
        <p:spPr>
          <a:xfrm flipH="false" flipV="false" rot="0">
            <a:off x="1299725" y="1415956"/>
            <a:ext cx="15406224" cy="8424628"/>
          </a:xfrm>
          <a:custGeom>
            <a:avLst/>
            <a:gdLst/>
            <a:ahLst/>
            <a:cxnLst/>
            <a:rect r="r" b="b" t="t" l="l"/>
            <a:pathLst>
              <a:path h="8424628" w="15406224">
                <a:moveTo>
                  <a:pt x="0" y="0"/>
                </a:moveTo>
                <a:lnTo>
                  <a:pt x="15406224" y="0"/>
                </a:lnTo>
                <a:lnTo>
                  <a:pt x="15406224" y="8424628"/>
                </a:lnTo>
                <a:lnTo>
                  <a:pt x="0" y="8424628"/>
                </a:lnTo>
                <a:lnTo>
                  <a:pt x="0" y="0"/>
                </a:lnTo>
                <a:close/>
              </a:path>
            </a:pathLst>
          </a:custGeom>
          <a:blipFill>
            <a:blip r:embed="rId5"/>
            <a:stretch>
              <a:fillRect l="-273" t="-3196" r="-273" b="0"/>
            </a:stretch>
          </a:blipFill>
        </p:spPr>
      </p:sp>
      <p:sp>
        <p:nvSpPr>
          <p:cNvPr name="TextBox 6" id="6"/>
          <p:cNvSpPr txBox="true"/>
          <p:nvPr/>
        </p:nvSpPr>
        <p:spPr>
          <a:xfrm rot="0">
            <a:off x="1086114" y="176964"/>
            <a:ext cx="15619835" cy="851736"/>
          </a:xfrm>
          <a:prstGeom prst="rect">
            <a:avLst/>
          </a:prstGeom>
        </p:spPr>
        <p:txBody>
          <a:bodyPr anchor="t" rtlCol="false" tIns="0" lIns="0" bIns="0" rIns="0">
            <a:spAutoFit/>
          </a:bodyPr>
          <a:lstStyle/>
          <a:p>
            <a:pPr algn="ctr">
              <a:lnSpc>
                <a:spcPts val="6901"/>
              </a:lnSpc>
            </a:pPr>
            <a:r>
              <a:rPr lang="en-US" sz="4965" b="true">
                <a:solidFill>
                  <a:srgbClr val="FFFFFF"/>
                </a:solidFill>
                <a:latin typeface="TT Hoves Bold"/>
                <a:ea typeface="TT Hoves Bold"/>
                <a:cs typeface="TT Hoves Bold"/>
                <a:sym typeface="TT Hoves Bold"/>
              </a:rPr>
              <a:t>EDA via Dashboard — Promo &amp; Holiday Efficiency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0">
            <a:off x="-8344763" y="4270557"/>
            <a:ext cx="17894953" cy="17894953"/>
          </a:xfrm>
          <a:custGeom>
            <a:avLst/>
            <a:gdLst/>
            <a:ahLst/>
            <a:cxnLst/>
            <a:rect r="r" b="b" t="t" l="l"/>
            <a:pathLst>
              <a:path h="17894953" w="17894953">
                <a:moveTo>
                  <a:pt x="0" y="0"/>
                </a:moveTo>
                <a:lnTo>
                  <a:pt x="17894952" y="0"/>
                </a:lnTo>
                <a:lnTo>
                  <a:pt x="17894952" y="17894953"/>
                </a:lnTo>
                <a:lnTo>
                  <a:pt x="0" y="178949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6446" y="-1739695"/>
            <a:ext cx="3308580" cy="3479391"/>
          </a:xfrm>
          <a:custGeom>
            <a:avLst/>
            <a:gdLst/>
            <a:ahLst/>
            <a:cxnLst/>
            <a:rect r="r" b="b" t="t" l="l"/>
            <a:pathLst>
              <a:path h="3479391" w="3308580">
                <a:moveTo>
                  <a:pt x="0" y="0"/>
                </a:moveTo>
                <a:lnTo>
                  <a:pt x="3308580" y="0"/>
                </a:lnTo>
                <a:lnTo>
                  <a:pt x="3308580" y="3479390"/>
                </a:lnTo>
                <a:lnTo>
                  <a:pt x="0" y="3479390"/>
                </a:lnTo>
                <a:lnTo>
                  <a:pt x="0" y="0"/>
                </a:lnTo>
                <a:close/>
              </a:path>
            </a:pathLst>
          </a:custGeom>
          <a:blipFill>
            <a:blip r:embed="rId4"/>
            <a:stretch>
              <a:fillRect l="-2647" t="0" r="-2647" b="0"/>
            </a:stretch>
          </a:blipFill>
        </p:spPr>
      </p:sp>
      <p:sp>
        <p:nvSpPr>
          <p:cNvPr name="Freeform 4" id="4"/>
          <p:cNvSpPr/>
          <p:nvPr/>
        </p:nvSpPr>
        <p:spPr>
          <a:xfrm flipH="false" flipV="false" rot="0">
            <a:off x="16778098" y="8802242"/>
            <a:ext cx="3308580" cy="3304444"/>
          </a:xfrm>
          <a:custGeom>
            <a:avLst/>
            <a:gdLst/>
            <a:ahLst/>
            <a:cxnLst/>
            <a:rect r="r" b="b" t="t" l="l"/>
            <a:pathLst>
              <a:path h="3304444" w="3308580">
                <a:moveTo>
                  <a:pt x="0" y="0"/>
                </a:moveTo>
                <a:lnTo>
                  <a:pt x="3308580" y="0"/>
                </a:lnTo>
                <a:lnTo>
                  <a:pt x="3308580" y="3304444"/>
                </a:lnTo>
                <a:lnTo>
                  <a:pt x="0" y="3304444"/>
                </a:lnTo>
                <a:lnTo>
                  <a:pt x="0" y="0"/>
                </a:lnTo>
                <a:close/>
              </a:path>
            </a:pathLst>
          </a:custGeom>
          <a:blipFill>
            <a:blip r:embed="rId4"/>
            <a:stretch>
              <a:fillRect l="0" t="0" r="0" b="0"/>
            </a:stretch>
          </a:blipFill>
        </p:spPr>
      </p:sp>
      <p:sp>
        <p:nvSpPr>
          <p:cNvPr name="Freeform 5" id="5"/>
          <p:cNvSpPr/>
          <p:nvPr/>
        </p:nvSpPr>
        <p:spPr>
          <a:xfrm flipH="false" flipV="false" rot="0">
            <a:off x="1245871" y="1207947"/>
            <a:ext cx="15796258" cy="8789759"/>
          </a:xfrm>
          <a:custGeom>
            <a:avLst/>
            <a:gdLst/>
            <a:ahLst/>
            <a:cxnLst/>
            <a:rect r="r" b="b" t="t" l="l"/>
            <a:pathLst>
              <a:path h="8789759" w="15796258">
                <a:moveTo>
                  <a:pt x="0" y="0"/>
                </a:moveTo>
                <a:lnTo>
                  <a:pt x="15796258" y="0"/>
                </a:lnTo>
                <a:lnTo>
                  <a:pt x="15796258" y="8789759"/>
                </a:lnTo>
                <a:lnTo>
                  <a:pt x="0" y="8789759"/>
                </a:lnTo>
                <a:lnTo>
                  <a:pt x="0" y="0"/>
                </a:lnTo>
                <a:close/>
              </a:path>
            </a:pathLst>
          </a:custGeom>
          <a:blipFill>
            <a:blip r:embed="rId5"/>
            <a:stretch>
              <a:fillRect l="-567" t="0" r="-567" b="-1780"/>
            </a:stretch>
          </a:blipFill>
        </p:spPr>
      </p:sp>
      <p:sp>
        <p:nvSpPr>
          <p:cNvPr name="TextBox 6" id="6"/>
          <p:cNvSpPr txBox="true"/>
          <p:nvPr/>
        </p:nvSpPr>
        <p:spPr>
          <a:xfrm rot="0">
            <a:off x="866745" y="245925"/>
            <a:ext cx="16175384" cy="782775"/>
          </a:xfrm>
          <a:prstGeom prst="rect">
            <a:avLst/>
          </a:prstGeom>
        </p:spPr>
        <p:txBody>
          <a:bodyPr anchor="t" rtlCol="false" tIns="0" lIns="0" bIns="0" rIns="0">
            <a:spAutoFit/>
          </a:bodyPr>
          <a:lstStyle/>
          <a:p>
            <a:pPr algn="ctr">
              <a:lnSpc>
                <a:spcPts val="6484"/>
              </a:lnSpc>
            </a:pPr>
            <a:r>
              <a:rPr lang="en-US" b="true" sz="4665">
                <a:solidFill>
                  <a:srgbClr val="FFFFFF"/>
                </a:solidFill>
                <a:latin typeface="TT Hoves Bold"/>
                <a:ea typeface="TT Hoves Bold"/>
                <a:cs typeface="TT Hoves Bold"/>
                <a:sym typeface="TT Hoves Bold"/>
              </a:rPr>
              <a:t> EDA via Dashboard — Time Series &amp; Seasonality Trends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587426" y="1235869"/>
            <a:ext cx="8148085" cy="3281591"/>
            <a:chOff x="0" y="0"/>
            <a:chExt cx="10864113" cy="4375455"/>
          </a:xfrm>
        </p:grpSpPr>
        <p:sp>
          <p:nvSpPr>
            <p:cNvPr name="Freeform 3" id="3" descr="image.png"/>
            <p:cNvSpPr/>
            <p:nvPr/>
          </p:nvSpPr>
          <p:spPr>
            <a:xfrm flipH="false" flipV="false" rot="0">
              <a:off x="0" y="0"/>
              <a:ext cx="10864114" cy="4375404"/>
            </a:xfrm>
            <a:custGeom>
              <a:avLst/>
              <a:gdLst/>
              <a:ahLst/>
              <a:cxnLst/>
              <a:rect r="r" b="b" t="t" l="l"/>
              <a:pathLst>
                <a:path h="4375404" w="10864114">
                  <a:moveTo>
                    <a:pt x="0" y="0"/>
                  </a:moveTo>
                  <a:lnTo>
                    <a:pt x="10864114" y="0"/>
                  </a:lnTo>
                  <a:lnTo>
                    <a:pt x="10864114" y="4375404"/>
                  </a:lnTo>
                  <a:lnTo>
                    <a:pt x="0" y="4375404"/>
                  </a:lnTo>
                  <a:lnTo>
                    <a:pt x="0" y="0"/>
                  </a:lnTo>
                  <a:close/>
                </a:path>
              </a:pathLst>
            </a:custGeom>
            <a:blipFill>
              <a:blip r:embed="rId2"/>
              <a:stretch>
                <a:fillRect l="0" t="-1377" r="0" b="-6889"/>
              </a:stretch>
            </a:blipFill>
          </p:spPr>
        </p:sp>
      </p:grpSp>
      <p:sp>
        <p:nvSpPr>
          <p:cNvPr name="TextBox 4" id="4"/>
          <p:cNvSpPr txBox="true"/>
          <p:nvPr/>
        </p:nvSpPr>
        <p:spPr>
          <a:xfrm rot="0">
            <a:off x="958901" y="1493044"/>
            <a:ext cx="7545943" cy="1333090"/>
          </a:xfrm>
          <a:prstGeom prst="rect">
            <a:avLst/>
          </a:prstGeom>
        </p:spPr>
        <p:txBody>
          <a:bodyPr anchor="t" rtlCol="false" tIns="0" lIns="0" bIns="0" rIns="0">
            <a:spAutoFit/>
          </a:bodyPr>
          <a:lstStyle/>
          <a:p>
            <a:pPr algn="l">
              <a:lnSpc>
                <a:spcPts val="9504"/>
              </a:lnSpc>
            </a:pPr>
            <a:r>
              <a:rPr lang="en-US" b="true" sz="7200">
                <a:solidFill>
                  <a:srgbClr val="558ED5"/>
                </a:solidFill>
                <a:latin typeface="Arimo Bold"/>
                <a:ea typeface="Arimo Bold"/>
                <a:cs typeface="Arimo Bold"/>
                <a:sym typeface="Arimo Bold"/>
              </a:rPr>
              <a:t>9.74K€</a:t>
            </a:r>
          </a:p>
        </p:txBody>
      </p:sp>
      <p:sp>
        <p:nvSpPr>
          <p:cNvPr name="TextBox 5" id="5"/>
          <p:cNvSpPr txBox="true"/>
          <p:nvPr/>
        </p:nvSpPr>
        <p:spPr>
          <a:xfrm rot="0">
            <a:off x="976760" y="3252968"/>
            <a:ext cx="7186612" cy="426720"/>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Avg Customers: </a:t>
            </a:r>
            <a:r>
              <a:rPr lang="en-US" b="true" sz="2025">
                <a:solidFill>
                  <a:srgbClr val="DAFFDE"/>
                </a:solidFill>
                <a:latin typeface="Arimo Bold"/>
                <a:ea typeface="Arimo Bold"/>
                <a:cs typeface="Arimo Bold"/>
                <a:sym typeface="Arimo Bold"/>
              </a:rPr>
              <a:t>1,569</a:t>
            </a:r>
          </a:p>
        </p:txBody>
      </p:sp>
      <p:sp>
        <p:nvSpPr>
          <p:cNvPr name="TextBox 6" id="6"/>
          <p:cNvSpPr txBox="true"/>
          <p:nvPr/>
        </p:nvSpPr>
        <p:spPr>
          <a:xfrm rot="0">
            <a:off x="976760" y="3638731"/>
            <a:ext cx="7186612" cy="509587"/>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Sales per Customer: </a:t>
            </a:r>
            <a:r>
              <a:rPr lang="en-US" b="true" sz="2025">
                <a:solidFill>
                  <a:srgbClr val="DAFFDE"/>
                </a:solidFill>
                <a:latin typeface="Arimo Bold"/>
                <a:ea typeface="Arimo Bold"/>
                <a:cs typeface="Arimo Bold"/>
                <a:sym typeface="Arimo Bold"/>
              </a:rPr>
              <a:t>6.21€</a:t>
            </a:r>
          </a:p>
        </p:txBody>
      </p:sp>
      <p:sp>
        <p:nvSpPr>
          <p:cNvPr name="TextBox 7" id="7"/>
          <p:cNvSpPr txBox="true"/>
          <p:nvPr/>
        </p:nvSpPr>
        <p:spPr>
          <a:xfrm rot="0">
            <a:off x="5471703" y="3267256"/>
            <a:ext cx="7186612" cy="426720"/>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Promo 1 Impact: No Promo</a:t>
            </a:r>
          </a:p>
        </p:txBody>
      </p:sp>
      <p:sp>
        <p:nvSpPr>
          <p:cNvPr name="TextBox 8" id="8"/>
          <p:cNvSpPr txBox="true"/>
          <p:nvPr/>
        </p:nvSpPr>
        <p:spPr>
          <a:xfrm rot="0">
            <a:off x="5453844" y="3734695"/>
            <a:ext cx="7186612" cy="591264"/>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Promo 2 Impact: </a:t>
            </a:r>
            <a:r>
              <a:rPr lang="en-US" b="true" sz="2025">
                <a:solidFill>
                  <a:srgbClr val="EF4444"/>
                </a:solidFill>
                <a:latin typeface="Arimo Bold"/>
                <a:ea typeface="Arimo Bold"/>
                <a:cs typeface="Arimo Bold"/>
                <a:sym typeface="Arimo Bold"/>
              </a:rPr>
              <a:t>-35.26%</a:t>
            </a:r>
          </a:p>
        </p:txBody>
      </p:sp>
      <p:grpSp>
        <p:nvGrpSpPr>
          <p:cNvPr name="Group 9" id="9"/>
          <p:cNvGrpSpPr/>
          <p:nvPr/>
        </p:nvGrpSpPr>
        <p:grpSpPr>
          <a:xfrm rot="0">
            <a:off x="9249223" y="1232649"/>
            <a:ext cx="8326041" cy="3281591"/>
            <a:chOff x="0" y="0"/>
            <a:chExt cx="11101388" cy="4375455"/>
          </a:xfrm>
        </p:grpSpPr>
        <p:sp>
          <p:nvSpPr>
            <p:cNvPr name="Freeform 10" id="10" descr="image.png"/>
            <p:cNvSpPr/>
            <p:nvPr/>
          </p:nvSpPr>
          <p:spPr>
            <a:xfrm flipH="false" flipV="false" rot="0">
              <a:off x="0" y="0"/>
              <a:ext cx="11101324" cy="4375404"/>
            </a:xfrm>
            <a:custGeom>
              <a:avLst/>
              <a:gdLst/>
              <a:ahLst/>
              <a:cxnLst/>
              <a:rect r="r" b="b" t="t" l="l"/>
              <a:pathLst>
                <a:path h="4375404" w="11101324">
                  <a:moveTo>
                    <a:pt x="0" y="0"/>
                  </a:moveTo>
                  <a:lnTo>
                    <a:pt x="11101324" y="0"/>
                  </a:lnTo>
                  <a:lnTo>
                    <a:pt x="11101324" y="4375404"/>
                  </a:lnTo>
                  <a:lnTo>
                    <a:pt x="0" y="4375404"/>
                  </a:lnTo>
                  <a:lnTo>
                    <a:pt x="0" y="0"/>
                  </a:lnTo>
                  <a:close/>
                </a:path>
              </a:pathLst>
            </a:custGeom>
            <a:blipFill>
              <a:blip r:embed="rId3"/>
              <a:stretch>
                <a:fillRect l="0" t="0" r="-31775" b="-1"/>
              </a:stretch>
            </a:blipFill>
          </p:spPr>
        </p:sp>
      </p:grpSp>
      <p:sp>
        <p:nvSpPr>
          <p:cNvPr name="TextBox 11" id="11"/>
          <p:cNvSpPr txBox="true"/>
          <p:nvPr/>
        </p:nvSpPr>
        <p:spPr>
          <a:xfrm rot="0">
            <a:off x="9782499" y="1493044"/>
            <a:ext cx="8326041" cy="1333090"/>
          </a:xfrm>
          <a:prstGeom prst="rect">
            <a:avLst/>
          </a:prstGeom>
        </p:spPr>
        <p:txBody>
          <a:bodyPr anchor="t" rtlCol="false" tIns="0" lIns="0" bIns="0" rIns="0">
            <a:spAutoFit/>
          </a:bodyPr>
          <a:lstStyle/>
          <a:p>
            <a:pPr algn="l">
              <a:lnSpc>
                <a:spcPts val="9504"/>
              </a:lnSpc>
            </a:pPr>
            <a:r>
              <a:rPr lang="en-US" b="true" sz="7200">
                <a:solidFill>
                  <a:srgbClr val="1F497D"/>
                </a:solidFill>
                <a:latin typeface="Arimo Bold"/>
                <a:ea typeface="Arimo Bold"/>
                <a:cs typeface="Arimo Bold"/>
                <a:sym typeface="Arimo Bold"/>
              </a:rPr>
              <a:t>9.89K€</a:t>
            </a:r>
          </a:p>
        </p:txBody>
      </p:sp>
      <p:sp>
        <p:nvSpPr>
          <p:cNvPr name="TextBox 12" id="12"/>
          <p:cNvSpPr txBox="true"/>
          <p:nvPr/>
        </p:nvSpPr>
        <p:spPr>
          <a:xfrm rot="0">
            <a:off x="14371291" y="3267256"/>
            <a:ext cx="3221831" cy="591264"/>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Promo 1 Impact: </a:t>
            </a:r>
            <a:r>
              <a:rPr lang="en-US" b="true" sz="2025">
                <a:solidFill>
                  <a:srgbClr val="00B050"/>
                </a:solidFill>
                <a:latin typeface="Arimo Bold"/>
                <a:ea typeface="Arimo Bold"/>
                <a:cs typeface="Arimo Bold"/>
                <a:sym typeface="Arimo Bold"/>
              </a:rPr>
              <a:t>+70.82%</a:t>
            </a:r>
          </a:p>
        </p:txBody>
      </p:sp>
      <p:sp>
        <p:nvSpPr>
          <p:cNvPr name="TextBox 13" id="13"/>
          <p:cNvSpPr txBox="true"/>
          <p:nvPr/>
        </p:nvSpPr>
        <p:spPr>
          <a:xfrm rot="0">
            <a:off x="14371291" y="3653018"/>
            <a:ext cx="3153432" cy="591264"/>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Promo 2 Impact</a:t>
            </a:r>
            <a:r>
              <a:rPr lang="en-US" b="true" sz="2025">
                <a:solidFill>
                  <a:srgbClr val="DAFFDE"/>
                </a:solidFill>
                <a:latin typeface="Arimo Bold"/>
                <a:ea typeface="Arimo Bold"/>
                <a:cs typeface="Arimo Bold"/>
                <a:sym typeface="Arimo Bold"/>
              </a:rPr>
              <a:t>: </a:t>
            </a:r>
            <a:r>
              <a:rPr lang="en-US" b="true" sz="2025">
                <a:solidFill>
                  <a:srgbClr val="EF4444"/>
                </a:solidFill>
                <a:latin typeface="Arimo Bold"/>
                <a:ea typeface="Arimo Bold"/>
                <a:cs typeface="Arimo Bold"/>
                <a:sym typeface="Arimo Bold"/>
              </a:rPr>
              <a:t>-37.11%</a:t>
            </a:r>
          </a:p>
        </p:txBody>
      </p:sp>
      <p:sp>
        <p:nvSpPr>
          <p:cNvPr name="TextBox 14" id="14"/>
          <p:cNvSpPr txBox="true"/>
          <p:nvPr/>
        </p:nvSpPr>
        <p:spPr>
          <a:xfrm rot="0">
            <a:off x="9703918" y="356349"/>
            <a:ext cx="6309568" cy="847725"/>
          </a:xfrm>
          <a:prstGeom prst="rect">
            <a:avLst/>
          </a:prstGeom>
        </p:spPr>
        <p:txBody>
          <a:bodyPr anchor="t" rtlCol="false" tIns="0" lIns="0" bIns="0" rIns="0">
            <a:spAutoFit/>
          </a:bodyPr>
          <a:lstStyle/>
          <a:p>
            <a:pPr algn="l">
              <a:lnSpc>
                <a:spcPts val="6480"/>
              </a:lnSpc>
            </a:pPr>
            <a:r>
              <a:rPr lang="en-US" b="true" sz="5400">
                <a:solidFill>
                  <a:srgbClr val="F5F5F5"/>
                </a:solidFill>
                <a:latin typeface="Arimo Bold"/>
                <a:ea typeface="Arimo Bold"/>
                <a:cs typeface="Arimo Bold"/>
                <a:sym typeface="Arimo Bold"/>
              </a:rPr>
              <a:t>Easter Peak (+42%)</a:t>
            </a:r>
          </a:p>
        </p:txBody>
      </p:sp>
      <p:sp>
        <p:nvSpPr>
          <p:cNvPr name="TextBox 15" id="15"/>
          <p:cNvSpPr txBox="true"/>
          <p:nvPr/>
        </p:nvSpPr>
        <p:spPr>
          <a:xfrm rot="0">
            <a:off x="9797244" y="3638731"/>
            <a:ext cx="3841814" cy="591264"/>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Sales per Customer: </a:t>
            </a:r>
            <a:r>
              <a:rPr lang="en-US" b="true" sz="2025">
                <a:solidFill>
                  <a:srgbClr val="DAFFDE"/>
                </a:solidFill>
                <a:latin typeface="Arimo Bold"/>
                <a:ea typeface="Arimo Bold"/>
                <a:cs typeface="Arimo Bold"/>
                <a:sym typeface="Arimo Bold"/>
              </a:rPr>
              <a:t>5.86€</a:t>
            </a:r>
          </a:p>
        </p:txBody>
      </p:sp>
      <p:sp>
        <p:nvSpPr>
          <p:cNvPr name="TextBox 16" id="16"/>
          <p:cNvSpPr txBox="true"/>
          <p:nvPr/>
        </p:nvSpPr>
        <p:spPr>
          <a:xfrm rot="0">
            <a:off x="9790214" y="3252968"/>
            <a:ext cx="7186612" cy="426720"/>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Avg Customers: </a:t>
            </a:r>
            <a:r>
              <a:rPr lang="en-US" b="true" sz="2025">
                <a:solidFill>
                  <a:srgbClr val="DAFFDE"/>
                </a:solidFill>
                <a:latin typeface="Arimo Bold"/>
                <a:ea typeface="Arimo Bold"/>
                <a:cs typeface="Arimo Bold"/>
                <a:sym typeface="Arimo Bold"/>
              </a:rPr>
              <a:t>1,687</a:t>
            </a:r>
          </a:p>
        </p:txBody>
      </p:sp>
      <p:grpSp>
        <p:nvGrpSpPr>
          <p:cNvPr name="Group 17" id="17"/>
          <p:cNvGrpSpPr/>
          <p:nvPr/>
        </p:nvGrpSpPr>
        <p:grpSpPr>
          <a:xfrm rot="0">
            <a:off x="605285" y="6103858"/>
            <a:ext cx="8130226" cy="3126391"/>
            <a:chOff x="0" y="0"/>
            <a:chExt cx="10840301" cy="4168521"/>
          </a:xfrm>
        </p:grpSpPr>
        <p:sp>
          <p:nvSpPr>
            <p:cNvPr name="Freeform 18" id="18" descr="image.png"/>
            <p:cNvSpPr/>
            <p:nvPr/>
          </p:nvSpPr>
          <p:spPr>
            <a:xfrm flipH="false" flipV="false" rot="0">
              <a:off x="0" y="0"/>
              <a:ext cx="10840301" cy="4168521"/>
            </a:xfrm>
            <a:custGeom>
              <a:avLst/>
              <a:gdLst/>
              <a:ahLst/>
              <a:cxnLst/>
              <a:rect r="r" b="b" t="t" l="l"/>
              <a:pathLst>
                <a:path h="4168521" w="10840301">
                  <a:moveTo>
                    <a:pt x="0" y="0"/>
                  </a:moveTo>
                  <a:lnTo>
                    <a:pt x="10840301" y="0"/>
                  </a:lnTo>
                  <a:lnTo>
                    <a:pt x="10840301" y="4168521"/>
                  </a:lnTo>
                  <a:lnTo>
                    <a:pt x="0" y="4168521"/>
                  </a:lnTo>
                  <a:lnTo>
                    <a:pt x="0" y="0"/>
                  </a:lnTo>
                  <a:close/>
                </a:path>
              </a:pathLst>
            </a:custGeom>
            <a:blipFill>
              <a:blip r:embed="rId4"/>
              <a:stretch>
                <a:fillRect l="0" t="-1497" r="-50555" b="-1497"/>
              </a:stretch>
            </a:blipFill>
          </p:spPr>
        </p:sp>
      </p:grpSp>
      <p:sp>
        <p:nvSpPr>
          <p:cNvPr name="TextBox 19" id="19"/>
          <p:cNvSpPr txBox="true"/>
          <p:nvPr/>
        </p:nvSpPr>
        <p:spPr>
          <a:xfrm rot="0">
            <a:off x="976760" y="6361033"/>
            <a:ext cx="7545943" cy="1333090"/>
          </a:xfrm>
          <a:prstGeom prst="rect">
            <a:avLst/>
          </a:prstGeom>
        </p:spPr>
        <p:txBody>
          <a:bodyPr anchor="t" rtlCol="false" tIns="0" lIns="0" bIns="0" rIns="0">
            <a:spAutoFit/>
          </a:bodyPr>
          <a:lstStyle/>
          <a:p>
            <a:pPr algn="l">
              <a:lnSpc>
                <a:spcPts val="9504"/>
              </a:lnSpc>
            </a:pPr>
            <a:r>
              <a:rPr lang="en-US" b="true" sz="7200">
                <a:solidFill>
                  <a:srgbClr val="8EB4E3"/>
                </a:solidFill>
                <a:latin typeface="Arimo Bold"/>
                <a:ea typeface="Arimo Bold"/>
                <a:cs typeface="Arimo Bold"/>
                <a:sym typeface="Arimo Bold"/>
              </a:rPr>
              <a:t>8.49 K€</a:t>
            </a:r>
          </a:p>
        </p:txBody>
      </p:sp>
      <p:sp>
        <p:nvSpPr>
          <p:cNvPr name="TextBox 20" id="20"/>
          <p:cNvSpPr txBox="true"/>
          <p:nvPr/>
        </p:nvSpPr>
        <p:spPr>
          <a:xfrm rot="0">
            <a:off x="976760" y="7401106"/>
            <a:ext cx="7186612" cy="509587"/>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Avg Sales (156 Stores Open)</a:t>
            </a:r>
          </a:p>
        </p:txBody>
      </p:sp>
      <p:sp>
        <p:nvSpPr>
          <p:cNvPr name="TextBox 21" id="21"/>
          <p:cNvSpPr txBox="true"/>
          <p:nvPr/>
        </p:nvSpPr>
        <p:spPr>
          <a:xfrm rot="0">
            <a:off x="5453844" y="8047996"/>
            <a:ext cx="3063145" cy="591264"/>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Promo 1 Impact : </a:t>
            </a:r>
            <a:r>
              <a:rPr lang="en-US" b="true" sz="2025">
                <a:solidFill>
                  <a:srgbClr val="00B050"/>
                </a:solidFill>
                <a:latin typeface="Arimo Bold"/>
                <a:ea typeface="Arimo Bold"/>
                <a:cs typeface="Arimo Bold"/>
                <a:sym typeface="Arimo Bold"/>
              </a:rPr>
              <a:t>+7.98%</a:t>
            </a:r>
            <a:r>
              <a:rPr lang="en-US" sz="2025">
                <a:solidFill>
                  <a:srgbClr val="00B050"/>
                </a:solidFill>
                <a:latin typeface="Arimo"/>
                <a:ea typeface="Arimo"/>
                <a:cs typeface="Arimo"/>
                <a:sym typeface="Arimo"/>
              </a:rPr>
              <a:t> </a:t>
            </a:r>
          </a:p>
        </p:txBody>
      </p:sp>
      <p:sp>
        <p:nvSpPr>
          <p:cNvPr name="TextBox 22" id="22"/>
          <p:cNvSpPr txBox="true"/>
          <p:nvPr/>
        </p:nvSpPr>
        <p:spPr>
          <a:xfrm rot="0">
            <a:off x="5453844" y="8426615"/>
            <a:ext cx="3281667" cy="591264"/>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Promo 2 Impact: </a:t>
            </a:r>
            <a:r>
              <a:rPr lang="en-US" b="true" sz="2025">
                <a:solidFill>
                  <a:srgbClr val="EF4444"/>
                </a:solidFill>
                <a:latin typeface="Arimo Bold"/>
                <a:ea typeface="Arimo Bold"/>
                <a:cs typeface="Arimo Bold"/>
                <a:sym typeface="Arimo Bold"/>
              </a:rPr>
              <a:t>-26.65%</a:t>
            </a:r>
          </a:p>
        </p:txBody>
      </p:sp>
      <p:sp>
        <p:nvSpPr>
          <p:cNvPr name="TextBox 23" id="23"/>
          <p:cNvSpPr txBox="true"/>
          <p:nvPr/>
        </p:nvSpPr>
        <p:spPr>
          <a:xfrm rot="0">
            <a:off x="508492" y="5141957"/>
            <a:ext cx="7145685" cy="847725"/>
          </a:xfrm>
          <a:prstGeom prst="rect">
            <a:avLst/>
          </a:prstGeom>
        </p:spPr>
        <p:txBody>
          <a:bodyPr anchor="t" rtlCol="false" tIns="0" lIns="0" bIns="0" rIns="0">
            <a:spAutoFit/>
          </a:bodyPr>
          <a:lstStyle/>
          <a:p>
            <a:pPr algn="l">
              <a:lnSpc>
                <a:spcPts val="6480"/>
              </a:lnSpc>
            </a:pPr>
            <a:r>
              <a:rPr lang="en-US" b="true" sz="5400">
                <a:solidFill>
                  <a:srgbClr val="F5F5F5"/>
                </a:solidFill>
                <a:latin typeface="Arimo Bold"/>
                <a:ea typeface="Arimo Bold"/>
                <a:cs typeface="Arimo Bold"/>
                <a:sym typeface="Arimo Bold"/>
              </a:rPr>
              <a:t>Public Holiday (+22%)</a:t>
            </a:r>
          </a:p>
        </p:txBody>
      </p:sp>
      <p:sp>
        <p:nvSpPr>
          <p:cNvPr name="TextBox 24" id="24"/>
          <p:cNvSpPr txBox="true"/>
          <p:nvPr/>
        </p:nvSpPr>
        <p:spPr>
          <a:xfrm rot="0">
            <a:off x="976760" y="8424691"/>
            <a:ext cx="3832993" cy="591264"/>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Sales per Customer: </a:t>
            </a:r>
            <a:r>
              <a:rPr lang="en-US" b="true" sz="2025">
                <a:solidFill>
                  <a:srgbClr val="DAFFDE"/>
                </a:solidFill>
                <a:latin typeface="Arimo Bold"/>
                <a:ea typeface="Arimo Bold"/>
                <a:cs typeface="Arimo Bold"/>
                <a:sym typeface="Arimo Bold"/>
              </a:rPr>
              <a:t>6.64€</a:t>
            </a:r>
          </a:p>
        </p:txBody>
      </p:sp>
      <p:sp>
        <p:nvSpPr>
          <p:cNvPr name="TextBox 25" id="25"/>
          <p:cNvSpPr txBox="true"/>
          <p:nvPr/>
        </p:nvSpPr>
        <p:spPr>
          <a:xfrm rot="0">
            <a:off x="976760" y="8057093"/>
            <a:ext cx="3679479" cy="426720"/>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Avg Customers: </a:t>
            </a:r>
            <a:r>
              <a:rPr lang="en-US" b="true" sz="2025">
                <a:solidFill>
                  <a:srgbClr val="DAFFDE"/>
                </a:solidFill>
                <a:latin typeface="Arimo Bold"/>
                <a:ea typeface="Arimo Bold"/>
                <a:cs typeface="Arimo Bold"/>
                <a:sym typeface="Arimo Bold"/>
              </a:rPr>
              <a:t>1,279</a:t>
            </a:r>
          </a:p>
        </p:txBody>
      </p:sp>
      <p:sp>
        <p:nvSpPr>
          <p:cNvPr name="TextBox 26" id="26"/>
          <p:cNvSpPr txBox="true"/>
          <p:nvPr/>
        </p:nvSpPr>
        <p:spPr>
          <a:xfrm rot="0">
            <a:off x="9746780" y="2547166"/>
            <a:ext cx="7186612" cy="591264"/>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Avg Sales (32 Stores Open)</a:t>
            </a:r>
          </a:p>
        </p:txBody>
      </p:sp>
      <p:sp>
        <p:nvSpPr>
          <p:cNvPr name="TextBox 27" id="27"/>
          <p:cNvSpPr txBox="true"/>
          <p:nvPr/>
        </p:nvSpPr>
        <p:spPr>
          <a:xfrm rot="0">
            <a:off x="958901" y="2548357"/>
            <a:ext cx="7186612" cy="591264"/>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Avg Sales (20 Stores Open)</a:t>
            </a:r>
          </a:p>
        </p:txBody>
      </p:sp>
      <p:grpSp>
        <p:nvGrpSpPr>
          <p:cNvPr name="Group 28" id="28"/>
          <p:cNvGrpSpPr/>
          <p:nvPr/>
        </p:nvGrpSpPr>
        <p:grpSpPr>
          <a:xfrm rot="0">
            <a:off x="9143219" y="6103858"/>
            <a:ext cx="8432044" cy="3126391"/>
            <a:chOff x="0" y="0"/>
            <a:chExt cx="11242726" cy="4168521"/>
          </a:xfrm>
        </p:grpSpPr>
        <p:sp>
          <p:nvSpPr>
            <p:cNvPr name="Freeform 29" id="29" descr="image.png"/>
            <p:cNvSpPr/>
            <p:nvPr/>
          </p:nvSpPr>
          <p:spPr>
            <a:xfrm flipH="false" flipV="false" rot="0">
              <a:off x="0" y="0"/>
              <a:ext cx="11242675" cy="4168521"/>
            </a:xfrm>
            <a:custGeom>
              <a:avLst/>
              <a:gdLst/>
              <a:ahLst/>
              <a:cxnLst/>
              <a:rect r="r" b="b" t="t" l="l"/>
              <a:pathLst>
                <a:path h="4168521" w="11242675">
                  <a:moveTo>
                    <a:pt x="0" y="0"/>
                  </a:moveTo>
                  <a:lnTo>
                    <a:pt x="11242675" y="0"/>
                  </a:lnTo>
                  <a:lnTo>
                    <a:pt x="11242675" y="4168521"/>
                  </a:lnTo>
                  <a:lnTo>
                    <a:pt x="0" y="4168521"/>
                  </a:lnTo>
                  <a:lnTo>
                    <a:pt x="0" y="0"/>
                  </a:lnTo>
                  <a:close/>
                </a:path>
              </a:pathLst>
            </a:custGeom>
            <a:blipFill>
              <a:blip r:embed="rId4"/>
              <a:stretch>
                <a:fillRect l="0" t="0" r="-40946" b="0"/>
              </a:stretch>
            </a:blipFill>
          </p:spPr>
        </p:sp>
      </p:grpSp>
      <p:sp>
        <p:nvSpPr>
          <p:cNvPr name="TextBox 30" id="30"/>
          <p:cNvSpPr txBox="true"/>
          <p:nvPr/>
        </p:nvSpPr>
        <p:spPr>
          <a:xfrm rot="0">
            <a:off x="9703918" y="6361033"/>
            <a:ext cx="3618033" cy="1333090"/>
          </a:xfrm>
          <a:prstGeom prst="rect">
            <a:avLst/>
          </a:prstGeom>
        </p:spPr>
        <p:txBody>
          <a:bodyPr anchor="t" rtlCol="false" tIns="0" lIns="0" bIns="0" rIns="0">
            <a:spAutoFit/>
          </a:bodyPr>
          <a:lstStyle/>
          <a:p>
            <a:pPr algn="l">
              <a:lnSpc>
                <a:spcPts val="9504"/>
              </a:lnSpc>
            </a:pPr>
            <a:r>
              <a:rPr lang="en-US" b="true" sz="7200">
                <a:solidFill>
                  <a:srgbClr val="C6D9F1"/>
                </a:solidFill>
                <a:latin typeface="Arimo Bold"/>
                <a:ea typeface="Arimo Bold"/>
                <a:cs typeface="Arimo Bold"/>
                <a:sym typeface="Arimo Bold"/>
              </a:rPr>
              <a:t>6.95 K€</a:t>
            </a:r>
          </a:p>
        </p:txBody>
      </p:sp>
      <p:sp>
        <p:nvSpPr>
          <p:cNvPr name="TextBox 31" id="31"/>
          <p:cNvSpPr txBox="true"/>
          <p:nvPr/>
        </p:nvSpPr>
        <p:spPr>
          <a:xfrm rot="0">
            <a:off x="9703918" y="7401106"/>
            <a:ext cx="4667364" cy="591264"/>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Avg Sales (1,115 Stores Open)</a:t>
            </a:r>
          </a:p>
        </p:txBody>
      </p:sp>
      <p:sp>
        <p:nvSpPr>
          <p:cNvPr name="TextBox 32" id="32"/>
          <p:cNvSpPr txBox="true"/>
          <p:nvPr/>
        </p:nvSpPr>
        <p:spPr>
          <a:xfrm rot="0">
            <a:off x="14181001" y="8047996"/>
            <a:ext cx="3801961" cy="591264"/>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Promo 1 Impact : </a:t>
            </a:r>
            <a:r>
              <a:rPr lang="en-US" b="true" sz="2025">
                <a:solidFill>
                  <a:srgbClr val="00B050"/>
                </a:solidFill>
                <a:latin typeface="Arimo Bold"/>
                <a:ea typeface="Arimo Bold"/>
                <a:cs typeface="Arimo Bold"/>
                <a:sym typeface="Arimo Bold"/>
              </a:rPr>
              <a:t>+38.81%</a:t>
            </a:r>
            <a:r>
              <a:rPr lang="en-US" sz="2025">
                <a:solidFill>
                  <a:srgbClr val="00B050"/>
                </a:solidFill>
                <a:latin typeface="Arimo"/>
                <a:ea typeface="Arimo"/>
                <a:cs typeface="Arimo"/>
                <a:sym typeface="Arimo"/>
              </a:rPr>
              <a:t> </a:t>
            </a:r>
          </a:p>
        </p:txBody>
      </p:sp>
      <p:sp>
        <p:nvSpPr>
          <p:cNvPr name="TextBox 33" id="33"/>
          <p:cNvSpPr txBox="true"/>
          <p:nvPr/>
        </p:nvSpPr>
        <p:spPr>
          <a:xfrm rot="0">
            <a:off x="14181001" y="8426615"/>
            <a:ext cx="3445745" cy="591264"/>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Promo 2 Impact: </a:t>
            </a:r>
            <a:r>
              <a:rPr lang="en-US" b="true" sz="2025">
                <a:solidFill>
                  <a:srgbClr val="EF4444"/>
                </a:solidFill>
                <a:latin typeface="Arimo Bold"/>
                <a:ea typeface="Arimo Bold"/>
                <a:cs typeface="Arimo Bold"/>
                <a:sym typeface="Arimo Bold"/>
              </a:rPr>
              <a:t>-10.74%</a:t>
            </a:r>
          </a:p>
        </p:txBody>
      </p:sp>
      <p:sp>
        <p:nvSpPr>
          <p:cNvPr name="TextBox 34" id="34"/>
          <p:cNvSpPr txBox="true"/>
          <p:nvPr/>
        </p:nvSpPr>
        <p:spPr>
          <a:xfrm rot="0">
            <a:off x="9703918" y="5141957"/>
            <a:ext cx="8357473" cy="857250"/>
          </a:xfrm>
          <a:prstGeom prst="rect">
            <a:avLst/>
          </a:prstGeom>
        </p:spPr>
        <p:txBody>
          <a:bodyPr anchor="t" rtlCol="false" tIns="0" lIns="0" bIns="0" rIns="0">
            <a:spAutoFit/>
          </a:bodyPr>
          <a:lstStyle/>
          <a:p>
            <a:pPr algn="l">
              <a:lnSpc>
                <a:spcPts val="6480"/>
              </a:lnSpc>
            </a:pPr>
            <a:r>
              <a:rPr lang="en-US" b="true" sz="5400">
                <a:solidFill>
                  <a:srgbClr val="F5F5F5"/>
                </a:solidFill>
                <a:latin typeface="Arimo Bold"/>
                <a:ea typeface="Arimo Bold"/>
                <a:cs typeface="Arimo Bold"/>
                <a:sym typeface="Arimo Bold"/>
              </a:rPr>
              <a:t>Not a Holiday</a:t>
            </a:r>
          </a:p>
        </p:txBody>
      </p:sp>
      <p:sp>
        <p:nvSpPr>
          <p:cNvPr name="TextBox 35" id="35"/>
          <p:cNvSpPr txBox="true"/>
          <p:nvPr/>
        </p:nvSpPr>
        <p:spPr>
          <a:xfrm rot="0">
            <a:off x="9703927" y="8424691"/>
            <a:ext cx="3445745" cy="591264"/>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Sales per Customer: </a:t>
            </a:r>
            <a:r>
              <a:rPr lang="en-US" b="true" sz="2025">
                <a:solidFill>
                  <a:srgbClr val="DAFFDE"/>
                </a:solidFill>
                <a:latin typeface="Arimo Bold"/>
                <a:ea typeface="Arimo Bold"/>
                <a:cs typeface="Arimo Bold"/>
                <a:sym typeface="Arimo Bold"/>
              </a:rPr>
              <a:t>9.12€</a:t>
            </a:r>
          </a:p>
        </p:txBody>
      </p:sp>
      <p:sp>
        <p:nvSpPr>
          <p:cNvPr name="TextBox 36" id="36"/>
          <p:cNvSpPr txBox="true"/>
          <p:nvPr/>
        </p:nvSpPr>
        <p:spPr>
          <a:xfrm rot="0">
            <a:off x="9703918" y="8057093"/>
            <a:ext cx="3445745" cy="591264"/>
          </a:xfrm>
          <a:prstGeom prst="rect">
            <a:avLst/>
          </a:prstGeom>
        </p:spPr>
        <p:txBody>
          <a:bodyPr anchor="t" rtlCol="false" tIns="0" lIns="0" bIns="0" rIns="0">
            <a:spAutoFit/>
          </a:bodyPr>
          <a:lstStyle/>
          <a:p>
            <a:pPr algn="l">
              <a:lnSpc>
                <a:spcPts val="3645"/>
              </a:lnSpc>
            </a:pPr>
            <a:r>
              <a:rPr lang="en-US" sz="2025">
                <a:solidFill>
                  <a:srgbClr val="DAFFDE"/>
                </a:solidFill>
                <a:latin typeface="Arimo"/>
                <a:ea typeface="Arimo"/>
                <a:cs typeface="Arimo"/>
                <a:sym typeface="Arimo"/>
              </a:rPr>
              <a:t>Avg Customers: </a:t>
            </a:r>
            <a:r>
              <a:rPr lang="en-US" b="true" sz="2025">
                <a:solidFill>
                  <a:srgbClr val="DAFFDE"/>
                </a:solidFill>
                <a:latin typeface="Arimo Bold"/>
                <a:ea typeface="Arimo Bold"/>
                <a:cs typeface="Arimo Bold"/>
                <a:sym typeface="Arimo Bold"/>
              </a:rPr>
              <a:t>762</a:t>
            </a:r>
          </a:p>
        </p:txBody>
      </p:sp>
      <p:sp>
        <p:nvSpPr>
          <p:cNvPr name="Freeform 37" id="37"/>
          <p:cNvSpPr/>
          <p:nvPr/>
        </p:nvSpPr>
        <p:spPr>
          <a:xfrm flipH="false" flipV="false" rot="0">
            <a:off x="16933393" y="8784160"/>
            <a:ext cx="3308580" cy="3479391"/>
          </a:xfrm>
          <a:custGeom>
            <a:avLst/>
            <a:gdLst/>
            <a:ahLst/>
            <a:cxnLst/>
            <a:rect r="r" b="b" t="t" l="l"/>
            <a:pathLst>
              <a:path h="3479391" w="3308580">
                <a:moveTo>
                  <a:pt x="0" y="0"/>
                </a:moveTo>
                <a:lnTo>
                  <a:pt x="3308580" y="0"/>
                </a:lnTo>
                <a:lnTo>
                  <a:pt x="3308580" y="3479390"/>
                </a:lnTo>
                <a:lnTo>
                  <a:pt x="0" y="3479390"/>
                </a:lnTo>
                <a:lnTo>
                  <a:pt x="0" y="0"/>
                </a:lnTo>
                <a:close/>
              </a:path>
            </a:pathLst>
          </a:custGeom>
          <a:blipFill>
            <a:blip r:embed="rId5"/>
            <a:stretch>
              <a:fillRect l="-2647" t="0" r="-2647" b="0"/>
            </a:stretch>
          </a:blipFill>
        </p:spPr>
      </p:sp>
      <p:sp>
        <p:nvSpPr>
          <p:cNvPr name="Freeform 38" id="38"/>
          <p:cNvSpPr/>
          <p:nvPr/>
        </p:nvSpPr>
        <p:spPr>
          <a:xfrm flipH="false" flipV="false" rot="0">
            <a:off x="-2279880" y="-1976822"/>
            <a:ext cx="3308580" cy="3479391"/>
          </a:xfrm>
          <a:custGeom>
            <a:avLst/>
            <a:gdLst/>
            <a:ahLst/>
            <a:cxnLst/>
            <a:rect r="r" b="b" t="t" l="l"/>
            <a:pathLst>
              <a:path h="3479391" w="3308580">
                <a:moveTo>
                  <a:pt x="0" y="0"/>
                </a:moveTo>
                <a:lnTo>
                  <a:pt x="3308580" y="0"/>
                </a:lnTo>
                <a:lnTo>
                  <a:pt x="3308580" y="3479391"/>
                </a:lnTo>
                <a:lnTo>
                  <a:pt x="0" y="3479391"/>
                </a:lnTo>
                <a:lnTo>
                  <a:pt x="0" y="0"/>
                </a:lnTo>
                <a:close/>
              </a:path>
            </a:pathLst>
          </a:custGeom>
          <a:blipFill>
            <a:blip r:embed="rId5"/>
            <a:stretch>
              <a:fillRect l="-2647" t="0" r="-2647" b="0"/>
            </a:stretch>
          </a:blipFill>
        </p:spPr>
      </p:sp>
      <p:sp>
        <p:nvSpPr>
          <p:cNvPr name="TextBox 39" id="39"/>
          <p:cNvSpPr txBox="true"/>
          <p:nvPr/>
        </p:nvSpPr>
        <p:spPr>
          <a:xfrm rot="0">
            <a:off x="515988" y="235744"/>
            <a:ext cx="7908578" cy="847725"/>
          </a:xfrm>
          <a:prstGeom prst="rect">
            <a:avLst/>
          </a:prstGeom>
        </p:spPr>
        <p:txBody>
          <a:bodyPr anchor="t" rtlCol="false" tIns="0" lIns="0" bIns="0" rIns="0">
            <a:spAutoFit/>
          </a:bodyPr>
          <a:lstStyle/>
          <a:p>
            <a:pPr algn="l">
              <a:lnSpc>
                <a:spcPts val="6480"/>
              </a:lnSpc>
            </a:pPr>
            <a:r>
              <a:rPr lang="en-US" b="true" sz="5400">
                <a:solidFill>
                  <a:srgbClr val="F5F5F5"/>
                </a:solidFill>
                <a:latin typeface="Arimo Bold"/>
                <a:ea typeface="Arimo Bold"/>
                <a:cs typeface="Arimo Bold"/>
                <a:sym typeface="Arimo Bold"/>
              </a:rPr>
              <a:t>Christmas Surge (+40%)</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2267E"/>
        </a:solidFill>
      </p:bgPr>
    </p:bg>
    <p:spTree>
      <p:nvGrpSpPr>
        <p:cNvPr id="1" name=""/>
        <p:cNvGrpSpPr/>
        <p:nvPr/>
      </p:nvGrpSpPr>
      <p:grpSpPr>
        <a:xfrm>
          <a:off x="0" y="0"/>
          <a:ext cx="0" cy="0"/>
          <a:chOff x="0" y="0"/>
          <a:chExt cx="0" cy="0"/>
        </a:xfrm>
      </p:grpSpPr>
      <p:grpSp>
        <p:nvGrpSpPr>
          <p:cNvPr name="Group 2" id="2"/>
          <p:cNvGrpSpPr/>
          <p:nvPr/>
        </p:nvGrpSpPr>
        <p:grpSpPr>
          <a:xfrm rot="0">
            <a:off x="3862693" y="7765996"/>
            <a:ext cx="1279432" cy="127943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5" id="5"/>
          <p:cNvGrpSpPr/>
          <p:nvPr/>
        </p:nvGrpSpPr>
        <p:grpSpPr>
          <a:xfrm rot="0">
            <a:off x="5290647" y="7765996"/>
            <a:ext cx="1279432" cy="12794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8" id="8"/>
          <p:cNvGrpSpPr/>
          <p:nvPr/>
        </p:nvGrpSpPr>
        <p:grpSpPr>
          <a:xfrm rot="0">
            <a:off x="13364483" y="9369508"/>
            <a:ext cx="5765006" cy="1028700"/>
            <a:chOff x="0" y="0"/>
            <a:chExt cx="1049690" cy="187305"/>
          </a:xfrm>
        </p:grpSpPr>
        <p:sp>
          <p:nvSpPr>
            <p:cNvPr name="Freeform 9" id="9"/>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10" id="10"/>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1" id="11"/>
          <p:cNvSpPr/>
          <p:nvPr/>
        </p:nvSpPr>
        <p:spPr>
          <a:xfrm flipH="false" flipV="false" rot="0">
            <a:off x="12268258" y="3651196"/>
            <a:ext cx="4517246" cy="4114800"/>
          </a:xfrm>
          <a:custGeom>
            <a:avLst/>
            <a:gdLst/>
            <a:ahLst/>
            <a:cxnLst/>
            <a:rect r="r" b="b" t="t" l="l"/>
            <a:pathLst>
              <a:path h="4114800" w="4517246">
                <a:moveTo>
                  <a:pt x="0" y="0"/>
                </a:moveTo>
                <a:lnTo>
                  <a:pt x="4517245" y="0"/>
                </a:lnTo>
                <a:lnTo>
                  <a:pt x="451724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799818" y="4409057"/>
            <a:ext cx="10628901" cy="2038350"/>
          </a:xfrm>
          <a:prstGeom prst="rect">
            <a:avLst/>
          </a:prstGeom>
        </p:spPr>
        <p:txBody>
          <a:bodyPr anchor="t" rtlCol="false" tIns="0" lIns="0" bIns="0" rIns="0">
            <a:spAutoFit/>
          </a:bodyPr>
          <a:lstStyle/>
          <a:p>
            <a:pPr algn="ctr">
              <a:lnSpc>
                <a:spcPts val="8078"/>
              </a:lnSpc>
            </a:pPr>
            <a:r>
              <a:rPr lang="en-US" sz="6731">
                <a:solidFill>
                  <a:srgbClr val="FFFFFF"/>
                </a:solidFill>
                <a:latin typeface="Secular One"/>
                <a:ea typeface="Secular One"/>
                <a:cs typeface="Secular One"/>
                <a:sym typeface="Secular One"/>
              </a:rPr>
              <a:t>Feature Engineering </a:t>
            </a:r>
          </a:p>
          <a:p>
            <a:pPr algn="ctr">
              <a:lnSpc>
                <a:spcPts val="8078"/>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13364483" y="9369508"/>
            <a:ext cx="5765006" cy="1028700"/>
            <a:chOff x="0" y="0"/>
            <a:chExt cx="1049690" cy="187305"/>
          </a:xfrm>
        </p:grpSpPr>
        <p:sp>
          <p:nvSpPr>
            <p:cNvPr name="Freeform 3" id="3"/>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4" id="4"/>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1559740">
            <a:off x="-3188391" y="-2724226"/>
            <a:ext cx="5257108" cy="5250537"/>
          </a:xfrm>
          <a:custGeom>
            <a:avLst/>
            <a:gdLst/>
            <a:ahLst/>
            <a:cxnLst/>
            <a:rect r="r" b="b" t="t" l="l"/>
            <a:pathLst>
              <a:path h="5250537" w="5257108">
                <a:moveTo>
                  <a:pt x="0" y="0"/>
                </a:moveTo>
                <a:lnTo>
                  <a:pt x="5257108" y="0"/>
                </a:lnTo>
                <a:lnTo>
                  <a:pt x="5257108" y="5250536"/>
                </a:lnTo>
                <a:lnTo>
                  <a:pt x="0" y="5250536"/>
                </a:lnTo>
                <a:lnTo>
                  <a:pt x="0" y="0"/>
                </a:lnTo>
                <a:close/>
              </a:path>
            </a:pathLst>
          </a:custGeom>
          <a:blipFill>
            <a:blip r:embed="rId2"/>
            <a:stretch>
              <a:fillRect l="0" t="0" r="0" b="0"/>
            </a:stretch>
          </a:blipFill>
        </p:spPr>
      </p:sp>
      <p:sp>
        <p:nvSpPr>
          <p:cNvPr name="Freeform 6" id="6"/>
          <p:cNvSpPr/>
          <p:nvPr/>
        </p:nvSpPr>
        <p:spPr>
          <a:xfrm flipH="false" flipV="false" rot="0">
            <a:off x="13845823" y="3751204"/>
            <a:ext cx="3246275" cy="3258123"/>
          </a:xfrm>
          <a:custGeom>
            <a:avLst/>
            <a:gdLst/>
            <a:ahLst/>
            <a:cxnLst/>
            <a:rect r="r" b="b" t="t" l="l"/>
            <a:pathLst>
              <a:path h="3258123" w="3246275">
                <a:moveTo>
                  <a:pt x="0" y="0"/>
                </a:moveTo>
                <a:lnTo>
                  <a:pt x="3246275" y="0"/>
                </a:lnTo>
                <a:lnTo>
                  <a:pt x="3246275" y="3258122"/>
                </a:lnTo>
                <a:lnTo>
                  <a:pt x="0" y="3258122"/>
                </a:lnTo>
                <a:lnTo>
                  <a:pt x="0" y="0"/>
                </a:lnTo>
                <a:close/>
              </a:path>
            </a:pathLst>
          </a:custGeom>
          <a:blipFill>
            <a:blip r:embed="rId3"/>
            <a:stretch>
              <a:fillRect l="0" t="0" r="0" b="0"/>
            </a:stretch>
          </a:blipFill>
        </p:spPr>
      </p:sp>
      <p:sp>
        <p:nvSpPr>
          <p:cNvPr name="TextBox 7" id="7"/>
          <p:cNvSpPr txBox="true"/>
          <p:nvPr/>
        </p:nvSpPr>
        <p:spPr>
          <a:xfrm rot="0">
            <a:off x="2051482" y="566737"/>
            <a:ext cx="14393143" cy="933450"/>
          </a:xfrm>
          <a:prstGeom prst="rect">
            <a:avLst/>
          </a:prstGeom>
        </p:spPr>
        <p:txBody>
          <a:bodyPr anchor="t" rtlCol="false" tIns="0" lIns="0" bIns="0" rIns="0">
            <a:spAutoFit/>
          </a:bodyPr>
          <a:lstStyle/>
          <a:p>
            <a:pPr algn="l">
              <a:lnSpc>
                <a:spcPts val="7440"/>
              </a:lnSpc>
            </a:pPr>
            <a:r>
              <a:rPr lang="en-US" b="true" sz="6200">
                <a:solidFill>
                  <a:srgbClr val="FFFFFF"/>
                </a:solidFill>
                <a:latin typeface="TT Hoves Bold"/>
                <a:ea typeface="TT Hoves Bold"/>
                <a:cs typeface="TT Hoves Bold"/>
                <a:sym typeface="TT Hoves Bold"/>
              </a:rPr>
              <a:t>Feature Engineering: Time&amp; Duration</a:t>
            </a:r>
          </a:p>
        </p:txBody>
      </p:sp>
      <p:sp>
        <p:nvSpPr>
          <p:cNvPr name="TextBox 8" id="8"/>
          <p:cNvSpPr txBox="true"/>
          <p:nvPr/>
        </p:nvSpPr>
        <p:spPr>
          <a:xfrm rot="0">
            <a:off x="2051482" y="2346155"/>
            <a:ext cx="11060916" cy="2407798"/>
          </a:xfrm>
          <a:prstGeom prst="rect">
            <a:avLst/>
          </a:prstGeom>
        </p:spPr>
        <p:txBody>
          <a:bodyPr anchor="t" rtlCol="false" tIns="0" lIns="0" bIns="0" rIns="0">
            <a:spAutoFit/>
          </a:bodyPr>
          <a:lstStyle/>
          <a:p>
            <a:pPr algn="l">
              <a:lnSpc>
                <a:spcPts val="4032"/>
              </a:lnSpc>
            </a:pPr>
            <a:r>
              <a:rPr lang="en-US" sz="2880" b="true">
                <a:solidFill>
                  <a:srgbClr val="B100E8"/>
                </a:solidFill>
                <a:latin typeface="Helios Bold"/>
                <a:ea typeface="Helios Bold"/>
                <a:cs typeface="Helios Bold"/>
                <a:sym typeface="Helios Bold"/>
              </a:rPr>
              <a:t>Temporal Features</a:t>
            </a:r>
          </a:p>
          <a:p>
            <a:pPr algn="l" marL="581242" indent="-290621" lvl="1">
              <a:lnSpc>
                <a:spcPts val="3769"/>
              </a:lnSpc>
              <a:buFont typeface="Arial"/>
              <a:buChar char="•"/>
            </a:pPr>
            <a:r>
              <a:rPr lang="en-US" sz="2692">
                <a:solidFill>
                  <a:srgbClr val="FFFFFF"/>
                </a:solidFill>
                <a:latin typeface="Helios"/>
                <a:ea typeface="Helios"/>
                <a:cs typeface="Helios"/>
                <a:sym typeface="Helios"/>
              </a:rPr>
              <a:t>Calendar Elements: Extracted Year, Month, Day, and Week of Year from raw Date.</a:t>
            </a:r>
          </a:p>
          <a:p>
            <a:pPr algn="l" marL="581242" indent="-290621" lvl="1">
              <a:lnSpc>
                <a:spcPts val="3769"/>
              </a:lnSpc>
              <a:buFont typeface="Arial"/>
              <a:buChar char="•"/>
            </a:pPr>
            <a:r>
              <a:rPr lang="en-US" sz="2692">
                <a:solidFill>
                  <a:srgbClr val="FFFFFF"/>
                </a:solidFill>
                <a:latin typeface="Helios"/>
                <a:ea typeface="Helios"/>
                <a:cs typeface="Helios"/>
                <a:sym typeface="Helios"/>
              </a:rPr>
              <a:t>Seasonal Mapping: Mapped fiscal months to capture annual shifts in consumer buying habits.</a:t>
            </a:r>
          </a:p>
        </p:txBody>
      </p:sp>
      <p:sp>
        <p:nvSpPr>
          <p:cNvPr name="TextBox 9" id="9"/>
          <p:cNvSpPr txBox="true"/>
          <p:nvPr/>
        </p:nvSpPr>
        <p:spPr>
          <a:xfrm rot="0">
            <a:off x="2051482" y="5936387"/>
            <a:ext cx="11733370" cy="3600585"/>
          </a:xfrm>
          <a:prstGeom prst="rect">
            <a:avLst/>
          </a:prstGeom>
        </p:spPr>
        <p:txBody>
          <a:bodyPr anchor="t" rtlCol="false" tIns="0" lIns="0" bIns="0" rIns="0">
            <a:spAutoFit/>
          </a:bodyPr>
          <a:lstStyle/>
          <a:p>
            <a:pPr algn="l">
              <a:lnSpc>
                <a:spcPts val="3791"/>
              </a:lnSpc>
            </a:pPr>
            <a:r>
              <a:rPr lang="en-US" sz="2708">
                <a:solidFill>
                  <a:srgbClr val="B100E8"/>
                </a:solidFill>
                <a:latin typeface="Helios"/>
                <a:ea typeface="Helios"/>
                <a:cs typeface="Helios"/>
                <a:sym typeface="Helios"/>
              </a:rPr>
              <a:t> </a:t>
            </a:r>
            <a:r>
              <a:rPr lang="en-US" sz="2708" b="true">
                <a:solidFill>
                  <a:srgbClr val="B100E8"/>
                </a:solidFill>
                <a:latin typeface="Helios Bold"/>
                <a:ea typeface="Helios Bold"/>
                <a:cs typeface="Helios Bold"/>
                <a:sym typeface="Helios Bold"/>
              </a:rPr>
              <a:t>Operational Duration Metrics</a:t>
            </a:r>
          </a:p>
          <a:p>
            <a:pPr algn="l" marL="546484" indent="-273242" lvl="1">
              <a:lnSpc>
                <a:spcPts val="3543"/>
              </a:lnSpc>
              <a:buFont typeface="Arial"/>
              <a:buChar char="•"/>
            </a:pPr>
            <a:r>
              <a:rPr lang="en-US" sz="2531">
                <a:solidFill>
                  <a:srgbClr val="FFFFFF"/>
                </a:solidFill>
                <a:latin typeface="Helios"/>
                <a:ea typeface="Helios"/>
                <a:cs typeface="Helios"/>
                <a:sym typeface="Helios"/>
              </a:rPr>
              <a:t>C</a:t>
            </a:r>
            <a:r>
              <a:rPr lang="en-US" sz="2531">
                <a:solidFill>
                  <a:srgbClr val="FFFFFF"/>
                </a:solidFill>
                <a:latin typeface="Helios"/>
                <a:ea typeface="Helios"/>
                <a:cs typeface="Helios"/>
                <a:sym typeface="Helios"/>
              </a:rPr>
              <a:t>ompetition Active Duration (CompetitionOpen_month): Tracks months since the nearest competitor opened. Helps model learn if competitor impact weakens over time.</a:t>
            </a:r>
          </a:p>
          <a:p>
            <a:pPr algn="l" marL="546484" indent="-273242" lvl="1">
              <a:lnSpc>
                <a:spcPts val="3543"/>
              </a:lnSpc>
              <a:buFont typeface="Arial"/>
              <a:buChar char="•"/>
            </a:pPr>
            <a:r>
              <a:rPr lang="en-US" sz="2531">
                <a:solidFill>
                  <a:srgbClr val="FFFFFF"/>
                </a:solidFill>
                <a:latin typeface="Helios"/>
                <a:ea typeface="Helios"/>
                <a:cs typeface="Helios"/>
                <a:sym typeface="Helios"/>
              </a:rPr>
              <a:t>Promotion Activ</a:t>
            </a:r>
            <a:r>
              <a:rPr lang="en-US" sz="2531">
                <a:solidFill>
                  <a:srgbClr val="FFFFFF"/>
                </a:solidFill>
                <a:latin typeface="Helios"/>
                <a:ea typeface="Helios"/>
                <a:cs typeface="Helios"/>
                <a:sym typeface="Helios"/>
              </a:rPr>
              <a:t>e Duration (Promo2Open): Measures months a store has been in Promo2. Captures customer fatigue or compounding campaign success.</a:t>
            </a:r>
          </a:p>
          <a:p>
            <a:pPr algn="l">
              <a:lnSpc>
                <a:spcPts val="3543"/>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13555870" y="9772650"/>
            <a:ext cx="5765006" cy="1028700"/>
            <a:chOff x="0" y="0"/>
            <a:chExt cx="1049690" cy="187305"/>
          </a:xfrm>
        </p:grpSpPr>
        <p:sp>
          <p:nvSpPr>
            <p:cNvPr name="Freeform 3" id="3"/>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4" id="4"/>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1559740">
            <a:off x="-3188391" y="-2724226"/>
            <a:ext cx="5257108" cy="5250537"/>
          </a:xfrm>
          <a:custGeom>
            <a:avLst/>
            <a:gdLst/>
            <a:ahLst/>
            <a:cxnLst/>
            <a:rect r="r" b="b" t="t" l="l"/>
            <a:pathLst>
              <a:path h="5250537" w="5257108">
                <a:moveTo>
                  <a:pt x="0" y="0"/>
                </a:moveTo>
                <a:lnTo>
                  <a:pt x="5257108" y="0"/>
                </a:lnTo>
                <a:lnTo>
                  <a:pt x="5257108" y="5250536"/>
                </a:lnTo>
                <a:lnTo>
                  <a:pt x="0" y="5250536"/>
                </a:lnTo>
                <a:lnTo>
                  <a:pt x="0" y="0"/>
                </a:lnTo>
                <a:close/>
              </a:path>
            </a:pathLst>
          </a:custGeom>
          <a:blipFill>
            <a:blip r:embed="rId2"/>
            <a:stretch>
              <a:fillRect l="0" t="0" r="0" b="0"/>
            </a:stretch>
          </a:blipFill>
        </p:spPr>
      </p:sp>
      <p:sp>
        <p:nvSpPr>
          <p:cNvPr name="TextBox 6" id="6"/>
          <p:cNvSpPr txBox="true"/>
          <p:nvPr/>
        </p:nvSpPr>
        <p:spPr>
          <a:xfrm rot="0">
            <a:off x="2434258" y="337268"/>
            <a:ext cx="15278311" cy="857250"/>
          </a:xfrm>
          <a:prstGeom prst="rect">
            <a:avLst/>
          </a:prstGeom>
        </p:spPr>
        <p:txBody>
          <a:bodyPr anchor="t" rtlCol="false" tIns="0" lIns="0" bIns="0" rIns="0">
            <a:spAutoFit/>
          </a:bodyPr>
          <a:lstStyle/>
          <a:p>
            <a:pPr algn="l">
              <a:lnSpc>
                <a:spcPts val="6720"/>
              </a:lnSpc>
            </a:pPr>
            <a:r>
              <a:rPr lang="en-US" b="true" sz="5600">
                <a:solidFill>
                  <a:srgbClr val="FFFFFF"/>
                </a:solidFill>
                <a:latin typeface="TT Hoves Bold"/>
                <a:ea typeface="TT Hoves Bold"/>
                <a:cs typeface="TT Hoves Bold"/>
                <a:sym typeface="TT Hoves Bold"/>
              </a:rPr>
              <a:t>Feature Selection &amp; Leakage Prevention</a:t>
            </a:r>
          </a:p>
        </p:txBody>
      </p:sp>
      <p:sp>
        <p:nvSpPr>
          <p:cNvPr name="TextBox 7" id="7"/>
          <p:cNvSpPr txBox="true"/>
          <p:nvPr/>
        </p:nvSpPr>
        <p:spPr>
          <a:xfrm rot="0">
            <a:off x="2242870" y="1483539"/>
            <a:ext cx="11060916" cy="4344487"/>
          </a:xfrm>
          <a:prstGeom prst="rect">
            <a:avLst/>
          </a:prstGeom>
        </p:spPr>
        <p:txBody>
          <a:bodyPr anchor="t" rtlCol="false" tIns="0" lIns="0" bIns="0" rIns="0">
            <a:spAutoFit/>
          </a:bodyPr>
          <a:lstStyle/>
          <a:p>
            <a:pPr algn="l">
              <a:lnSpc>
                <a:spcPts val="4032"/>
              </a:lnSpc>
            </a:pPr>
            <a:r>
              <a:rPr lang="en-US" sz="2880" b="true">
                <a:solidFill>
                  <a:srgbClr val="B100E8"/>
                </a:solidFill>
                <a:latin typeface="Helios Bold"/>
                <a:ea typeface="Helios Bold"/>
                <a:cs typeface="Helios Bold"/>
                <a:sym typeface="Helios Bold"/>
              </a:rPr>
              <a:t>Optimizing the Final Matrix</a:t>
            </a:r>
          </a:p>
          <a:p>
            <a:pPr algn="l">
              <a:lnSpc>
                <a:spcPts val="4032"/>
              </a:lnSpc>
            </a:pPr>
          </a:p>
          <a:p>
            <a:pPr algn="l" marL="581242" indent="-290621" lvl="1">
              <a:lnSpc>
                <a:spcPts val="3769"/>
              </a:lnSpc>
              <a:buFont typeface="Arial"/>
              <a:buChar char="•"/>
            </a:pPr>
            <a:r>
              <a:rPr lang="en-US" sz="2692">
                <a:solidFill>
                  <a:srgbClr val="FFFFFF"/>
                </a:solidFill>
                <a:latin typeface="Helios"/>
                <a:ea typeface="Helios"/>
                <a:cs typeface="Helios"/>
                <a:sym typeface="Helios"/>
              </a:rPr>
              <a:t>Dropped P</a:t>
            </a:r>
            <a:r>
              <a:rPr lang="en-US" sz="2692">
                <a:solidFill>
                  <a:srgbClr val="FFFFFF"/>
                </a:solidFill>
                <a:latin typeface="Helios"/>
                <a:ea typeface="Helios"/>
                <a:cs typeface="Helios"/>
                <a:sym typeface="Helios"/>
              </a:rPr>
              <a:t>romoInterval: Removed because its seasonal data was already captured by duration metrics.</a:t>
            </a:r>
          </a:p>
          <a:p>
            <a:pPr algn="l">
              <a:lnSpc>
                <a:spcPts val="3769"/>
              </a:lnSpc>
            </a:pPr>
          </a:p>
          <a:p>
            <a:pPr algn="l" marL="581242" indent="-290621" lvl="1">
              <a:lnSpc>
                <a:spcPts val="3769"/>
              </a:lnSpc>
              <a:buFont typeface="Arial"/>
              <a:buChar char="•"/>
            </a:pPr>
            <a:r>
              <a:rPr lang="en-US" sz="2692">
                <a:solidFill>
                  <a:srgbClr val="FFFFFF"/>
                </a:solidFill>
                <a:latin typeface="Helios"/>
                <a:ea typeface="Helios"/>
                <a:cs typeface="Helios"/>
                <a:sym typeface="Helios"/>
              </a:rPr>
              <a:t>Efficiency: Prevented memory overhead and ensured faster convergence for XGBoost.</a:t>
            </a:r>
          </a:p>
          <a:p>
            <a:pPr algn="l">
              <a:lnSpc>
                <a:spcPts val="3769"/>
              </a:lnSpc>
            </a:pPr>
          </a:p>
          <a:p>
            <a:pPr algn="l">
              <a:lnSpc>
                <a:spcPts val="3769"/>
              </a:lnSpc>
            </a:pPr>
          </a:p>
        </p:txBody>
      </p:sp>
      <p:sp>
        <p:nvSpPr>
          <p:cNvPr name="TextBox 8" id="8"/>
          <p:cNvSpPr txBox="true"/>
          <p:nvPr/>
        </p:nvSpPr>
        <p:spPr>
          <a:xfrm rot="0">
            <a:off x="2242870" y="5233988"/>
            <a:ext cx="11733370" cy="4524510"/>
          </a:xfrm>
          <a:prstGeom prst="rect">
            <a:avLst/>
          </a:prstGeom>
        </p:spPr>
        <p:txBody>
          <a:bodyPr anchor="t" rtlCol="false" tIns="0" lIns="0" bIns="0" rIns="0">
            <a:spAutoFit/>
          </a:bodyPr>
          <a:lstStyle/>
          <a:p>
            <a:pPr algn="l">
              <a:lnSpc>
                <a:spcPts val="3791"/>
              </a:lnSpc>
            </a:pPr>
            <a:r>
              <a:rPr lang="en-US" sz="2708" b="true">
                <a:solidFill>
                  <a:srgbClr val="B100E8"/>
                </a:solidFill>
                <a:latin typeface="Helios Bold"/>
                <a:ea typeface="Helios Bold"/>
                <a:cs typeface="Helios Bold"/>
                <a:sym typeface="Helios Bold"/>
              </a:rPr>
              <a:t> CRITICAL: Removing Leaky Columns</a:t>
            </a:r>
          </a:p>
          <a:p>
            <a:pPr algn="l">
              <a:lnSpc>
                <a:spcPts val="3791"/>
              </a:lnSpc>
            </a:pPr>
          </a:p>
          <a:p>
            <a:pPr algn="l" marL="546484" indent="-273242" lvl="1">
              <a:lnSpc>
                <a:spcPts val="3543"/>
              </a:lnSpc>
              <a:buFont typeface="Arial"/>
              <a:buChar char="•"/>
            </a:pPr>
            <a:r>
              <a:rPr lang="en-US" sz="2531">
                <a:solidFill>
                  <a:srgbClr val="FFFFFF"/>
                </a:solidFill>
                <a:latin typeface="Helios"/>
                <a:ea typeface="Helios"/>
                <a:cs typeface="Helios"/>
                <a:sym typeface="Helios"/>
              </a:rPr>
              <a:t>Dropp</a:t>
            </a:r>
            <a:r>
              <a:rPr lang="en-US" sz="2531">
                <a:solidFill>
                  <a:srgbClr val="FFFFFF"/>
                </a:solidFill>
                <a:latin typeface="Helios"/>
                <a:ea typeface="Helios"/>
                <a:cs typeface="Helios"/>
                <a:sym typeface="Helios"/>
              </a:rPr>
              <a:t>ed Customers Feature: Highly correlated with Sales, but strictly un</a:t>
            </a:r>
            <a:r>
              <a:rPr lang="en-US" sz="2531">
                <a:solidFill>
                  <a:srgbClr val="FFFFFF"/>
                </a:solidFill>
                <a:latin typeface="Helios"/>
                <a:ea typeface="Helios"/>
                <a:cs typeface="Helios"/>
                <a:sym typeface="Helios"/>
              </a:rPr>
              <a:t>k</a:t>
            </a:r>
            <a:r>
              <a:rPr lang="en-US" sz="2531">
                <a:solidFill>
                  <a:srgbClr val="FFFFFF"/>
                </a:solidFill>
                <a:latin typeface="Helios"/>
                <a:ea typeface="Helios"/>
                <a:cs typeface="Helios"/>
                <a:sym typeface="Helios"/>
              </a:rPr>
              <a:t>nown during infere</a:t>
            </a:r>
            <a:r>
              <a:rPr lang="en-US" sz="2531">
                <a:solidFill>
                  <a:srgbClr val="FFFFFF"/>
                </a:solidFill>
                <a:latin typeface="Helios"/>
                <a:ea typeface="Helios"/>
                <a:cs typeface="Helios"/>
                <a:sym typeface="Helios"/>
              </a:rPr>
              <a:t>nce and missing from test.csv.</a:t>
            </a:r>
          </a:p>
          <a:p>
            <a:pPr algn="l">
              <a:lnSpc>
                <a:spcPts val="3543"/>
              </a:lnSpc>
            </a:pPr>
          </a:p>
          <a:p>
            <a:pPr algn="l" marL="546484" indent="-273242" lvl="1">
              <a:lnSpc>
                <a:spcPts val="3543"/>
              </a:lnSpc>
              <a:buFont typeface="Arial"/>
              <a:buChar char="•"/>
            </a:pPr>
            <a:r>
              <a:rPr lang="en-US" sz="2531">
                <a:solidFill>
                  <a:srgbClr val="FFFFFF"/>
                </a:solidFill>
                <a:latin typeface="Helios"/>
                <a:ea typeface="Helios"/>
                <a:cs typeface="Helios"/>
                <a:sym typeface="Helios"/>
              </a:rPr>
              <a:t>The Goal: Mandatory step to prevent Data Leakage and guarantee realistic model evaluation in production.</a:t>
            </a:r>
          </a:p>
          <a:p>
            <a:pPr algn="l">
              <a:lnSpc>
                <a:spcPts val="3543"/>
              </a:lnSpc>
            </a:pPr>
          </a:p>
          <a:p>
            <a:pPr algn="l">
              <a:lnSpc>
                <a:spcPts val="3543"/>
              </a:lnSpc>
            </a:pPr>
          </a:p>
          <a:p>
            <a:pPr algn="l">
              <a:lnSpc>
                <a:spcPts val="3543"/>
              </a:lnSpc>
            </a:pPr>
          </a:p>
        </p:txBody>
      </p:sp>
      <p:sp>
        <p:nvSpPr>
          <p:cNvPr name="Freeform 9" id="9"/>
          <p:cNvSpPr/>
          <p:nvPr/>
        </p:nvSpPr>
        <p:spPr>
          <a:xfrm flipH="false" flipV="false" rot="0">
            <a:off x="773540" y="8547678"/>
            <a:ext cx="1469330" cy="1421243"/>
          </a:xfrm>
          <a:custGeom>
            <a:avLst/>
            <a:gdLst/>
            <a:ahLst/>
            <a:cxnLst/>
            <a:rect r="r" b="b" t="t" l="l"/>
            <a:pathLst>
              <a:path h="1421243" w="1469330">
                <a:moveTo>
                  <a:pt x="0" y="0"/>
                </a:moveTo>
                <a:lnTo>
                  <a:pt x="1469330" y="0"/>
                </a:lnTo>
                <a:lnTo>
                  <a:pt x="1469330" y="1421244"/>
                </a:lnTo>
                <a:lnTo>
                  <a:pt x="0" y="1421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2267E"/>
        </a:solidFill>
      </p:bgPr>
    </p:bg>
    <p:spTree>
      <p:nvGrpSpPr>
        <p:cNvPr id="1" name=""/>
        <p:cNvGrpSpPr/>
        <p:nvPr/>
      </p:nvGrpSpPr>
      <p:grpSpPr>
        <a:xfrm>
          <a:off x="0" y="0"/>
          <a:ext cx="0" cy="0"/>
          <a:chOff x="0" y="0"/>
          <a:chExt cx="0" cy="0"/>
        </a:xfrm>
      </p:grpSpPr>
      <p:grpSp>
        <p:nvGrpSpPr>
          <p:cNvPr name="Group 2" id="2"/>
          <p:cNvGrpSpPr/>
          <p:nvPr/>
        </p:nvGrpSpPr>
        <p:grpSpPr>
          <a:xfrm rot="0">
            <a:off x="3862693" y="7765996"/>
            <a:ext cx="1279432" cy="127943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5" id="5"/>
          <p:cNvGrpSpPr/>
          <p:nvPr/>
        </p:nvGrpSpPr>
        <p:grpSpPr>
          <a:xfrm rot="0">
            <a:off x="5290647" y="7765996"/>
            <a:ext cx="1279432" cy="12794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8" id="8"/>
          <p:cNvGrpSpPr/>
          <p:nvPr/>
        </p:nvGrpSpPr>
        <p:grpSpPr>
          <a:xfrm rot="0">
            <a:off x="13364483" y="9369508"/>
            <a:ext cx="5765006" cy="1028700"/>
            <a:chOff x="0" y="0"/>
            <a:chExt cx="1049690" cy="187305"/>
          </a:xfrm>
        </p:grpSpPr>
        <p:sp>
          <p:nvSpPr>
            <p:cNvPr name="Freeform 9" id="9"/>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10" id="10"/>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1" id="11"/>
          <p:cNvSpPr/>
          <p:nvPr/>
        </p:nvSpPr>
        <p:spPr>
          <a:xfrm flipH="false" flipV="false" rot="0">
            <a:off x="11910600" y="3394756"/>
            <a:ext cx="4047467" cy="4114800"/>
          </a:xfrm>
          <a:custGeom>
            <a:avLst/>
            <a:gdLst/>
            <a:ahLst/>
            <a:cxnLst/>
            <a:rect r="r" b="b" t="t" l="l"/>
            <a:pathLst>
              <a:path h="4114800" w="4047467">
                <a:moveTo>
                  <a:pt x="0" y="0"/>
                </a:moveTo>
                <a:lnTo>
                  <a:pt x="4047467" y="0"/>
                </a:lnTo>
                <a:lnTo>
                  <a:pt x="404746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775894" y="4432981"/>
            <a:ext cx="10628901" cy="1019175"/>
          </a:xfrm>
          <a:prstGeom prst="rect">
            <a:avLst/>
          </a:prstGeom>
        </p:spPr>
        <p:txBody>
          <a:bodyPr anchor="t" rtlCol="false" tIns="0" lIns="0" bIns="0" rIns="0">
            <a:spAutoFit/>
          </a:bodyPr>
          <a:lstStyle/>
          <a:p>
            <a:pPr algn="ctr">
              <a:lnSpc>
                <a:spcPts val="8078"/>
              </a:lnSpc>
            </a:pPr>
            <a:r>
              <a:rPr lang="en-US" sz="6731">
                <a:solidFill>
                  <a:srgbClr val="FFFFFF"/>
                </a:solidFill>
                <a:latin typeface="Secular One"/>
                <a:ea typeface="Secular One"/>
                <a:cs typeface="Secular One"/>
                <a:sym typeface="Secular One"/>
              </a:rPr>
              <a:t>Data Preparation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14009584" y="9858375"/>
            <a:ext cx="5765006" cy="1028700"/>
            <a:chOff x="0" y="0"/>
            <a:chExt cx="1049690" cy="187305"/>
          </a:xfrm>
        </p:grpSpPr>
        <p:sp>
          <p:nvSpPr>
            <p:cNvPr name="Freeform 3" id="3"/>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4" id="4"/>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TextBox 5" id="5"/>
          <p:cNvSpPr txBox="true"/>
          <p:nvPr/>
        </p:nvSpPr>
        <p:spPr>
          <a:xfrm rot="0">
            <a:off x="5501100" y="550705"/>
            <a:ext cx="15545322" cy="771525"/>
          </a:xfrm>
          <a:prstGeom prst="rect">
            <a:avLst/>
          </a:prstGeom>
        </p:spPr>
        <p:txBody>
          <a:bodyPr anchor="t" rtlCol="false" tIns="0" lIns="0" bIns="0" rIns="0">
            <a:spAutoFit/>
          </a:bodyPr>
          <a:lstStyle/>
          <a:p>
            <a:pPr algn="l">
              <a:lnSpc>
                <a:spcPts val="6000"/>
              </a:lnSpc>
            </a:pPr>
            <a:r>
              <a:rPr lang="en-US" b="true" sz="5000">
                <a:solidFill>
                  <a:srgbClr val="FFFFFF"/>
                </a:solidFill>
                <a:latin typeface="TT Hoves Bold"/>
                <a:ea typeface="TT Hoves Bold"/>
                <a:cs typeface="TT Hoves Bold"/>
                <a:sym typeface="TT Hoves Bold"/>
              </a:rPr>
              <a:t>Data Splitting Strategy</a:t>
            </a:r>
          </a:p>
        </p:txBody>
      </p:sp>
      <p:grpSp>
        <p:nvGrpSpPr>
          <p:cNvPr name="Group 6" id="6"/>
          <p:cNvGrpSpPr/>
          <p:nvPr/>
        </p:nvGrpSpPr>
        <p:grpSpPr>
          <a:xfrm rot="0">
            <a:off x="1028700" y="1531780"/>
            <a:ext cx="7384831" cy="8240870"/>
            <a:chOff x="0" y="0"/>
            <a:chExt cx="9846442" cy="10987826"/>
          </a:xfrm>
        </p:grpSpPr>
        <p:grpSp>
          <p:nvGrpSpPr>
            <p:cNvPr name="Group 7" id="7"/>
            <p:cNvGrpSpPr/>
            <p:nvPr/>
          </p:nvGrpSpPr>
          <p:grpSpPr>
            <a:xfrm rot="0">
              <a:off x="0" y="0"/>
              <a:ext cx="9542561" cy="10631276"/>
              <a:chOff x="0" y="0"/>
              <a:chExt cx="1074244" cy="1196804"/>
            </a:xfrm>
          </p:grpSpPr>
          <p:sp>
            <p:nvSpPr>
              <p:cNvPr name="Freeform 8" id="8"/>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9" id="9"/>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nvGrpSpPr>
            <p:cNvPr name="Group 10" id="10"/>
            <p:cNvGrpSpPr/>
            <p:nvPr/>
          </p:nvGrpSpPr>
          <p:grpSpPr>
            <a:xfrm rot="0">
              <a:off x="303881" y="356550"/>
              <a:ext cx="9542561" cy="10631276"/>
              <a:chOff x="0" y="0"/>
              <a:chExt cx="1074244" cy="1196804"/>
            </a:xfrm>
          </p:grpSpPr>
          <p:sp>
            <p:nvSpPr>
              <p:cNvPr name="Freeform 11" id="11"/>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12" id="12"/>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grpSp>
        <p:nvGrpSpPr>
          <p:cNvPr name="Group 13" id="13"/>
          <p:cNvGrpSpPr/>
          <p:nvPr/>
        </p:nvGrpSpPr>
        <p:grpSpPr>
          <a:xfrm rot="0">
            <a:off x="11655416" y="1738129"/>
            <a:ext cx="5990330" cy="6673769"/>
            <a:chOff x="0" y="0"/>
            <a:chExt cx="1074244" cy="1196804"/>
          </a:xfrm>
        </p:grpSpPr>
        <p:sp>
          <p:nvSpPr>
            <p:cNvPr name="Freeform 14" id="14"/>
            <p:cNvSpPr/>
            <p:nvPr/>
          </p:nvSpPr>
          <p:spPr>
            <a:xfrm flipH="false" flipV="false" rot="0">
              <a:off x="0" y="0"/>
              <a:ext cx="1074244" cy="1196804"/>
            </a:xfrm>
            <a:custGeom>
              <a:avLst/>
              <a:gdLst/>
              <a:ahLst/>
              <a:cxnLst/>
              <a:rect r="r" b="b" t="t" l="l"/>
              <a:pathLst>
                <a:path h="1196804" w="1074244">
                  <a:moveTo>
                    <a:pt x="65913" y="0"/>
                  </a:moveTo>
                  <a:lnTo>
                    <a:pt x="1008331" y="0"/>
                  </a:lnTo>
                  <a:cubicBezTo>
                    <a:pt x="1025812" y="0"/>
                    <a:pt x="1042577" y="6944"/>
                    <a:pt x="1054938" y="19305"/>
                  </a:cubicBezTo>
                  <a:cubicBezTo>
                    <a:pt x="1067299" y="31666"/>
                    <a:pt x="1074244" y="48431"/>
                    <a:pt x="1074244" y="65913"/>
                  </a:cubicBezTo>
                  <a:lnTo>
                    <a:pt x="1074244" y="1130892"/>
                  </a:lnTo>
                  <a:cubicBezTo>
                    <a:pt x="1074244" y="1148373"/>
                    <a:pt x="1067299" y="1165138"/>
                    <a:pt x="1054938" y="1177499"/>
                  </a:cubicBezTo>
                  <a:cubicBezTo>
                    <a:pt x="1042577" y="1189860"/>
                    <a:pt x="1025812" y="1196804"/>
                    <a:pt x="1008331" y="1196804"/>
                  </a:cubicBezTo>
                  <a:lnTo>
                    <a:pt x="65913" y="1196804"/>
                  </a:lnTo>
                  <a:cubicBezTo>
                    <a:pt x="48431" y="1196804"/>
                    <a:pt x="31666" y="1189860"/>
                    <a:pt x="19305" y="1177499"/>
                  </a:cubicBezTo>
                  <a:cubicBezTo>
                    <a:pt x="6944" y="1165138"/>
                    <a:pt x="0" y="1148373"/>
                    <a:pt x="0" y="1130892"/>
                  </a:cubicBezTo>
                  <a:lnTo>
                    <a:pt x="0" y="65913"/>
                  </a:lnTo>
                  <a:cubicBezTo>
                    <a:pt x="0" y="48431"/>
                    <a:pt x="6944" y="31666"/>
                    <a:pt x="19305" y="19305"/>
                  </a:cubicBezTo>
                  <a:cubicBezTo>
                    <a:pt x="31666" y="6944"/>
                    <a:pt x="48431" y="0"/>
                    <a:pt x="65913" y="0"/>
                  </a:cubicBezTo>
                  <a:close/>
                </a:path>
              </a:pathLst>
            </a:custGeom>
            <a:solidFill>
              <a:srgbClr val="01237D"/>
            </a:solidFill>
          </p:spPr>
        </p:sp>
        <p:sp>
          <p:nvSpPr>
            <p:cNvPr name="TextBox 15" id="15"/>
            <p:cNvSpPr txBox="true"/>
            <p:nvPr/>
          </p:nvSpPr>
          <p:spPr>
            <a:xfrm>
              <a:off x="0" y="-38100"/>
              <a:ext cx="1074244" cy="1234904"/>
            </a:xfrm>
            <a:prstGeom prst="rect">
              <a:avLst/>
            </a:prstGeom>
          </p:spPr>
          <p:txBody>
            <a:bodyPr anchor="ctr" rtlCol="false" tIns="74608" lIns="74608" bIns="74608" rIns="74608"/>
            <a:lstStyle/>
            <a:p>
              <a:pPr algn="ctr">
                <a:lnSpc>
                  <a:spcPts val="2800"/>
                </a:lnSpc>
              </a:pPr>
            </a:p>
          </p:txBody>
        </p:sp>
      </p:grpSp>
      <p:grpSp>
        <p:nvGrpSpPr>
          <p:cNvPr name="Group 16" id="16"/>
          <p:cNvGrpSpPr/>
          <p:nvPr/>
        </p:nvGrpSpPr>
        <p:grpSpPr>
          <a:xfrm rot="0">
            <a:off x="10106767" y="1531780"/>
            <a:ext cx="7384831" cy="8240870"/>
            <a:chOff x="0" y="0"/>
            <a:chExt cx="9846442" cy="10987826"/>
          </a:xfrm>
        </p:grpSpPr>
        <p:grpSp>
          <p:nvGrpSpPr>
            <p:cNvPr name="Group 17" id="17"/>
            <p:cNvGrpSpPr/>
            <p:nvPr/>
          </p:nvGrpSpPr>
          <p:grpSpPr>
            <a:xfrm rot="0">
              <a:off x="0" y="0"/>
              <a:ext cx="9542561" cy="10631276"/>
              <a:chOff x="0" y="0"/>
              <a:chExt cx="1074244" cy="1196804"/>
            </a:xfrm>
          </p:grpSpPr>
          <p:sp>
            <p:nvSpPr>
              <p:cNvPr name="Freeform 18" id="18"/>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19" id="19"/>
              <p:cNvSpPr txBox="true"/>
              <p:nvPr/>
            </p:nvSpPr>
            <p:spPr>
              <a:xfrm>
                <a:off x="0" y="-28575"/>
                <a:ext cx="1074244" cy="1225379"/>
              </a:xfrm>
              <a:prstGeom prst="rect">
                <a:avLst/>
              </a:prstGeom>
            </p:spPr>
            <p:txBody>
              <a:bodyPr anchor="ctr" rtlCol="false" tIns="50800" lIns="50800" bIns="50800" rIns="50800"/>
              <a:lstStyle/>
              <a:p>
                <a:pPr algn="ctr">
                  <a:lnSpc>
                    <a:spcPts val="2799"/>
                  </a:lnSpc>
                </a:pPr>
              </a:p>
            </p:txBody>
          </p:sp>
        </p:grpSp>
        <p:grpSp>
          <p:nvGrpSpPr>
            <p:cNvPr name="Group 20" id="20"/>
            <p:cNvGrpSpPr/>
            <p:nvPr/>
          </p:nvGrpSpPr>
          <p:grpSpPr>
            <a:xfrm rot="0">
              <a:off x="303881" y="356550"/>
              <a:ext cx="9542561" cy="10631276"/>
              <a:chOff x="0" y="0"/>
              <a:chExt cx="1074244" cy="1196804"/>
            </a:xfrm>
          </p:grpSpPr>
          <p:sp>
            <p:nvSpPr>
              <p:cNvPr name="Freeform 21" id="21"/>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22" id="22"/>
              <p:cNvSpPr txBox="true"/>
              <p:nvPr/>
            </p:nvSpPr>
            <p:spPr>
              <a:xfrm>
                <a:off x="0" y="-28575"/>
                <a:ext cx="1074244" cy="1225379"/>
              </a:xfrm>
              <a:prstGeom prst="rect">
                <a:avLst/>
              </a:prstGeom>
            </p:spPr>
            <p:txBody>
              <a:bodyPr anchor="ctr" rtlCol="false" tIns="50800" lIns="50800" bIns="50800" rIns="50800"/>
              <a:lstStyle/>
              <a:p>
                <a:pPr algn="ctr">
                  <a:lnSpc>
                    <a:spcPts val="2799"/>
                  </a:lnSpc>
                </a:pPr>
              </a:p>
            </p:txBody>
          </p:sp>
        </p:grpSp>
      </p:grpSp>
      <p:sp>
        <p:nvSpPr>
          <p:cNvPr name="TextBox 23" id="23"/>
          <p:cNvSpPr txBox="true"/>
          <p:nvPr/>
        </p:nvSpPr>
        <p:spPr>
          <a:xfrm rot="0">
            <a:off x="8602760" y="5143500"/>
            <a:ext cx="4671000" cy="838200"/>
          </a:xfrm>
          <a:prstGeom prst="rect">
            <a:avLst/>
          </a:prstGeom>
        </p:spPr>
        <p:txBody>
          <a:bodyPr anchor="t" rtlCol="false" tIns="0" lIns="0" bIns="0" rIns="0">
            <a:spAutoFit/>
          </a:bodyPr>
          <a:lstStyle/>
          <a:p>
            <a:pPr algn="l">
              <a:lnSpc>
                <a:spcPts val="6600"/>
              </a:lnSpc>
            </a:pPr>
            <a:r>
              <a:rPr lang="en-US" b="true" sz="5500">
                <a:solidFill>
                  <a:srgbClr val="FFFFFF"/>
                </a:solidFill>
                <a:latin typeface="TT Hoves Bold"/>
                <a:ea typeface="TT Hoves Bold"/>
                <a:cs typeface="TT Hoves Bold"/>
                <a:sym typeface="TT Hoves Bold"/>
              </a:rPr>
              <a:t>----&gt;</a:t>
            </a:r>
          </a:p>
        </p:txBody>
      </p:sp>
      <p:sp>
        <p:nvSpPr>
          <p:cNvPr name="TextBox 24" id="24"/>
          <p:cNvSpPr txBox="true"/>
          <p:nvPr/>
        </p:nvSpPr>
        <p:spPr>
          <a:xfrm rot="0">
            <a:off x="1732259" y="3524498"/>
            <a:ext cx="5977713" cy="5904865"/>
          </a:xfrm>
          <a:prstGeom prst="rect">
            <a:avLst/>
          </a:prstGeom>
        </p:spPr>
        <p:txBody>
          <a:bodyPr anchor="t" rtlCol="false" tIns="0" lIns="0" bIns="0" rIns="0">
            <a:spAutoFit/>
          </a:bodyPr>
          <a:lstStyle/>
          <a:p>
            <a:pPr algn="l" marL="604516" indent="-302258" lvl="1">
              <a:lnSpc>
                <a:spcPts val="3919"/>
              </a:lnSpc>
              <a:buFont typeface="Arial"/>
              <a:buChar char="•"/>
            </a:pPr>
            <a:r>
              <a:rPr lang="en-US" sz="2799">
                <a:solidFill>
                  <a:srgbClr val="FFFFFF"/>
                </a:solidFill>
                <a:latin typeface="Poppins"/>
                <a:ea typeface="Poppins"/>
                <a:cs typeface="Poppins"/>
                <a:sym typeface="Poppins"/>
              </a:rPr>
              <a:t>Traditional Random Splitting breaks the temporal order of retail sales data.</a:t>
            </a:r>
          </a:p>
          <a:p>
            <a:pPr algn="l" marL="604516" indent="-302258" lvl="1">
              <a:lnSpc>
                <a:spcPts val="3919"/>
              </a:lnSpc>
              <a:buFont typeface="Arial"/>
              <a:buChar char="•"/>
            </a:pPr>
            <a:r>
              <a:rPr lang="en-US" sz="2799">
                <a:solidFill>
                  <a:srgbClr val="FFFFFF"/>
                </a:solidFill>
                <a:latin typeface="Poppins"/>
                <a:ea typeface="Poppins"/>
                <a:cs typeface="Poppins"/>
                <a:sym typeface="Poppins"/>
              </a:rPr>
              <a:t>Allowing the model to train on random past and future days simultaneously creates artificial lookahead bias.</a:t>
            </a:r>
          </a:p>
          <a:p>
            <a:pPr algn="l" marL="604516" indent="-302258" lvl="1">
              <a:lnSpc>
                <a:spcPts val="3919"/>
              </a:lnSpc>
              <a:buFont typeface="Arial"/>
              <a:buChar char="•"/>
            </a:pPr>
            <a:r>
              <a:rPr lang="en-US" sz="2799">
                <a:solidFill>
                  <a:srgbClr val="FFFFFF"/>
                </a:solidFill>
                <a:latin typeface="Poppins"/>
                <a:ea typeface="Poppins"/>
                <a:cs typeface="Poppins"/>
                <a:sym typeface="Poppins"/>
              </a:rPr>
              <a:t>This results in deceptively high training accuracy but severe failure in real-world deployment.</a:t>
            </a:r>
          </a:p>
          <a:p>
            <a:pPr algn="ctr">
              <a:lnSpc>
                <a:spcPts val="3499"/>
              </a:lnSpc>
            </a:pPr>
          </a:p>
        </p:txBody>
      </p:sp>
      <p:sp>
        <p:nvSpPr>
          <p:cNvPr name="TextBox 25" id="25"/>
          <p:cNvSpPr txBox="true"/>
          <p:nvPr/>
        </p:nvSpPr>
        <p:spPr>
          <a:xfrm rot="0">
            <a:off x="1448079" y="1924221"/>
            <a:ext cx="5942071" cy="1028778"/>
          </a:xfrm>
          <a:prstGeom prst="rect">
            <a:avLst/>
          </a:prstGeom>
        </p:spPr>
        <p:txBody>
          <a:bodyPr anchor="t" rtlCol="false" tIns="0" lIns="0" bIns="0" rIns="0">
            <a:spAutoFit/>
          </a:bodyPr>
          <a:lstStyle/>
          <a:p>
            <a:pPr algn="ctr">
              <a:lnSpc>
                <a:spcPts val="4195"/>
              </a:lnSpc>
              <a:spcBef>
                <a:spcPct val="0"/>
              </a:spcBef>
            </a:pPr>
            <a:r>
              <a:rPr lang="en-US" b="true" sz="2996">
                <a:solidFill>
                  <a:srgbClr val="048AFF"/>
                </a:solidFill>
                <a:latin typeface="Helios Bold"/>
                <a:ea typeface="Helios Bold"/>
                <a:cs typeface="Helios Bold"/>
                <a:sym typeface="Helios Bold"/>
              </a:rPr>
              <a:t>Problem</a:t>
            </a:r>
            <a:r>
              <a:rPr lang="en-US" b="true" sz="2996">
                <a:solidFill>
                  <a:srgbClr val="FFFFFF"/>
                </a:solidFill>
                <a:latin typeface="Helios Bold"/>
                <a:ea typeface="Helios Bold"/>
                <a:cs typeface="Helios Bold"/>
                <a:sym typeface="Helios Bold"/>
              </a:rPr>
              <a:t> :Risk of Data Leakage &amp; Unrealistic Evaluation</a:t>
            </a:r>
          </a:p>
        </p:txBody>
      </p:sp>
      <p:sp>
        <p:nvSpPr>
          <p:cNvPr name="TextBox 26" id="26"/>
          <p:cNvSpPr txBox="true"/>
          <p:nvPr/>
        </p:nvSpPr>
        <p:spPr>
          <a:xfrm rot="0">
            <a:off x="10484554" y="1924221"/>
            <a:ext cx="6248429" cy="1028778"/>
          </a:xfrm>
          <a:prstGeom prst="rect">
            <a:avLst/>
          </a:prstGeom>
        </p:spPr>
        <p:txBody>
          <a:bodyPr anchor="t" rtlCol="false" tIns="0" lIns="0" bIns="0" rIns="0">
            <a:spAutoFit/>
          </a:bodyPr>
          <a:lstStyle/>
          <a:p>
            <a:pPr algn="ctr">
              <a:lnSpc>
                <a:spcPts val="4195"/>
              </a:lnSpc>
              <a:spcBef>
                <a:spcPct val="0"/>
              </a:spcBef>
            </a:pPr>
            <a:r>
              <a:rPr lang="en-US" b="true" sz="2996">
                <a:solidFill>
                  <a:srgbClr val="048AFF"/>
                </a:solidFill>
                <a:latin typeface="Helios Bold"/>
                <a:ea typeface="Helios Bold"/>
                <a:cs typeface="Helios Bold"/>
                <a:sym typeface="Helios Bold"/>
              </a:rPr>
              <a:t>Solution:</a:t>
            </a:r>
            <a:r>
              <a:rPr lang="en-US" b="true" sz="2996">
                <a:solidFill>
                  <a:srgbClr val="FFFFFF"/>
                </a:solidFill>
                <a:latin typeface="Helios Bold"/>
                <a:ea typeface="Helios Bold"/>
                <a:cs typeface="Helios Bold"/>
                <a:sym typeface="Helios Bold"/>
              </a:rPr>
              <a:t> Chronological Time-Based Split</a:t>
            </a:r>
          </a:p>
        </p:txBody>
      </p:sp>
      <p:sp>
        <p:nvSpPr>
          <p:cNvPr name="TextBox 27" id="27"/>
          <p:cNvSpPr txBox="true"/>
          <p:nvPr/>
        </p:nvSpPr>
        <p:spPr>
          <a:xfrm rot="0">
            <a:off x="10938260" y="2971515"/>
            <a:ext cx="6142646" cy="6801135"/>
          </a:xfrm>
          <a:prstGeom prst="rect">
            <a:avLst/>
          </a:prstGeom>
        </p:spPr>
        <p:txBody>
          <a:bodyPr anchor="t" rtlCol="false" tIns="0" lIns="0" bIns="0" rIns="0">
            <a:spAutoFit/>
          </a:bodyPr>
          <a:lstStyle/>
          <a:p>
            <a:pPr algn="l" marL="520892" indent="-260446" lvl="1">
              <a:lnSpc>
                <a:spcPts val="3377"/>
              </a:lnSpc>
              <a:buFont typeface="Arial"/>
              <a:buChar char="•"/>
            </a:pPr>
            <a:r>
              <a:rPr lang="en-US" sz="2412">
                <a:solidFill>
                  <a:srgbClr val="FFFFFF"/>
                </a:solidFill>
                <a:latin typeface="Poppins"/>
                <a:ea typeface="Poppins"/>
                <a:cs typeface="Poppins"/>
                <a:sym typeface="Poppins"/>
              </a:rPr>
              <a:t>Time-Dependent Design: Strictly maintained the sequential timeline since sales are inherently chronological.</a:t>
            </a:r>
          </a:p>
          <a:p>
            <a:pPr algn="l" marL="520892" indent="-260446" lvl="1">
              <a:lnSpc>
                <a:spcPts val="3377"/>
              </a:lnSpc>
              <a:buFont typeface="Arial"/>
              <a:buChar char="•"/>
            </a:pPr>
            <a:r>
              <a:rPr lang="en-US" sz="2412">
                <a:solidFill>
                  <a:srgbClr val="FFFFFF"/>
                </a:solidFill>
                <a:latin typeface="Poppins"/>
                <a:ea typeface="Poppins"/>
                <a:cs typeface="Poppins"/>
                <a:sym typeface="Poppins"/>
              </a:rPr>
              <a:t>The Threshold: Established June 15, 2015 as the absolute cutoff date:</a:t>
            </a:r>
          </a:p>
          <a:p>
            <a:pPr algn="l" marL="520892" indent="-260446" lvl="1">
              <a:lnSpc>
                <a:spcPts val="3377"/>
              </a:lnSpc>
              <a:buFont typeface="Arial"/>
              <a:buChar char="•"/>
            </a:pPr>
            <a:r>
              <a:rPr lang="en-US" sz="2412">
                <a:solidFill>
                  <a:srgbClr val="FFFFFF"/>
                </a:solidFill>
                <a:latin typeface="Poppins"/>
                <a:ea typeface="Poppins"/>
                <a:cs typeface="Poppins"/>
                <a:sym typeface="Poppins"/>
              </a:rPr>
              <a:t>Training Partition: All historical data prior to this date.</a:t>
            </a:r>
          </a:p>
          <a:p>
            <a:pPr algn="l" marL="520892" indent="-260446" lvl="1">
              <a:lnSpc>
                <a:spcPts val="3377"/>
              </a:lnSpc>
              <a:buFont typeface="Arial"/>
              <a:buChar char="•"/>
            </a:pPr>
            <a:r>
              <a:rPr lang="en-US" sz="2412">
                <a:solidFill>
                  <a:srgbClr val="FFFFFF"/>
                </a:solidFill>
                <a:latin typeface="Poppins"/>
                <a:ea typeface="Poppins"/>
                <a:cs typeface="Poppins"/>
                <a:sym typeface="Poppins"/>
              </a:rPr>
              <a:t>Testing Partition: All subsequent future data reserved exclusively for evaluation.</a:t>
            </a:r>
          </a:p>
          <a:p>
            <a:pPr algn="l" marL="520892" indent="-260446" lvl="1">
              <a:lnSpc>
                <a:spcPts val="3377"/>
              </a:lnSpc>
              <a:buFont typeface="Arial"/>
              <a:buChar char="•"/>
            </a:pPr>
            <a:r>
              <a:rPr lang="en-US" sz="2412">
                <a:solidFill>
                  <a:srgbClr val="FFFFFF"/>
                </a:solidFill>
                <a:latin typeface="Poppins"/>
                <a:ea typeface="Poppins"/>
                <a:cs typeface="Poppins"/>
                <a:sym typeface="Poppins"/>
              </a:rPr>
              <a:t>The Operational Goal: Mimics an authentic production environment, forcing the machine learning model to forecast true, unseen future sales.</a:t>
            </a:r>
          </a:p>
          <a:p>
            <a:pPr algn="ctr">
              <a:lnSpc>
                <a:spcPts val="2890"/>
              </a:lnSpc>
            </a:pPr>
          </a:p>
        </p:txBody>
      </p:sp>
      <p:sp>
        <p:nvSpPr>
          <p:cNvPr name="Freeform 28" id="28"/>
          <p:cNvSpPr/>
          <p:nvPr/>
        </p:nvSpPr>
        <p:spPr>
          <a:xfrm flipH="false" flipV="false" rot="1559740">
            <a:off x="-3046656" y="-3677676"/>
            <a:ext cx="5292818" cy="5250537"/>
          </a:xfrm>
          <a:custGeom>
            <a:avLst/>
            <a:gdLst/>
            <a:ahLst/>
            <a:cxnLst/>
            <a:rect r="r" b="b" t="t" l="l"/>
            <a:pathLst>
              <a:path h="5250537" w="5292818">
                <a:moveTo>
                  <a:pt x="0" y="0"/>
                </a:moveTo>
                <a:lnTo>
                  <a:pt x="5292818" y="0"/>
                </a:lnTo>
                <a:lnTo>
                  <a:pt x="5292818" y="5250536"/>
                </a:lnTo>
                <a:lnTo>
                  <a:pt x="0" y="5250536"/>
                </a:lnTo>
                <a:lnTo>
                  <a:pt x="0" y="0"/>
                </a:lnTo>
                <a:close/>
              </a:path>
            </a:pathLst>
          </a:custGeom>
          <a:blipFill>
            <a:blip r:embed="rId2"/>
            <a:stretch>
              <a:fillRect l="0" t="-339" r="0" b="-339"/>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13555870" y="9772650"/>
            <a:ext cx="5765006" cy="1028700"/>
            <a:chOff x="0" y="0"/>
            <a:chExt cx="1049690" cy="187305"/>
          </a:xfrm>
        </p:grpSpPr>
        <p:sp>
          <p:nvSpPr>
            <p:cNvPr name="Freeform 3" id="3"/>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4" id="4"/>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1559740">
            <a:off x="-3188391" y="-2724226"/>
            <a:ext cx="5257108" cy="5250537"/>
          </a:xfrm>
          <a:custGeom>
            <a:avLst/>
            <a:gdLst/>
            <a:ahLst/>
            <a:cxnLst/>
            <a:rect r="r" b="b" t="t" l="l"/>
            <a:pathLst>
              <a:path h="5250537" w="5257108">
                <a:moveTo>
                  <a:pt x="0" y="0"/>
                </a:moveTo>
                <a:lnTo>
                  <a:pt x="5257108" y="0"/>
                </a:lnTo>
                <a:lnTo>
                  <a:pt x="5257108" y="5250536"/>
                </a:lnTo>
                <a:lnTo>
                  <a:pt x="0" y="5250536"/>
                </a:lnTo>
                <a:lnTo>
                  <a:pt x="0" y="0"/>
                </a:lnTo>
                <a:close/>
              </a:path>
            </a:pathLst>
          </a:custGeom>
          <a:blipFill>
            <a:blip r:embed="rId2"/>
            <a:stretch>
              <a:fillRect l="0" t="0" r="0" b="0"/>
            </a:stretch>
          </a:blipFill>
        </p:spPr>
      </p:sp>
      <p:sp>
        <p:nvSpPr>
          <p:cNvPr name="Freeform 6" id="6"/>
          <p:cNvSpPr/>
          <p:nvPr/>
        </p:nvSpPr>
        <p:spPr>
          <a:xfrm flipH="false" flipV="false" rot="0">
            <a:off x="14261315" y="3868806"/>
            <a:ext cx="3523024" cy="2549389"/>
          </a:xfrm>
          <a:custGeom>
            <a:avLst/>
            <a:gdLst/>
            <a:ahLst/>
            <a:cxnLst/>
            <a:rect r="r" b="b" t="t" l="l"/>
            <a:pathLst>
              <a:path h="2549389" w="3523024">
                <a:moveTo>
                  <a:pt x="0" y="0"/>
                </a:moveTo>
                <a:lnTo>
                  <a:pt x="3523025" y="0"/>
                </a:lnTo>
                <a:lnTo>
                  <a:pt x="3523025" y="2549388"/>
                </a:lnTo>
                <a:lnTo>
                  <a:pt x="0" y="25493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242870" y="385115"/>
            <a:ext cx="15278311" cy="857250"/>
          </a:xfrm>
          <a:prstGeom prst="rect">
            <a:avLst/>
          </a:prstGeom>
        </p:spPr>
        <p:txBody>
          <a:bodyPr anchor="t" rtlCol="false" tIns="0" lIns="0" bIns="0" rIns="0">
            <a:spAutoFit/>
          </a:bodyPr>
          <a:lstStyle/>
          <a:p>
            <a:pPr algn="l">
              <a:lnSpc>
                <a:spcPts val="6720"/>
              </a:lnSpc>
            </a:pPr>
            <a:r>
              <a:rPr lang="en-US" b="true" sz="5600">
                <a:solidFill>
                  <a:srgbClr val="FFFFFF"/>
                </a:solidFill>
                <a:latin typeface="TT Hoves Bold"/>
                <a:ea typeface="TT Hoves Bold"/>
                <a:cs typeface="TT Hoves Bold"/>
                <a:sym typeface="TT Hoves Bold"/>
              </a:rPr>
              <a:t>Feature Engineering: Categorical Encoding</a:t>
            </a:r>
          </a:p>
        </p:txBody>
      </p:sp>
      <p:sp>
        <p:nvSpPr>
          <p:cNvPr name="TextBox 8" id="8"/>
          <p:cNvSpPr txBox="true"/>
          <p:nvPr/>
        </p:nvSpPr>
        <p:spPr>
          <a:xfrm rot="0">
            <a:off x="2242870" y="1976677"/>
            <a:ext cx="11060916" cy="3358210"/>
          </a:xfrm>
          <a:prstGeom prst="rect">
            <a:avLst/>
          </a:prstGeom>
        </p:spPr>
        <p:txBody>
          <a:bodyPr anchor="t" rtlCol="false" tIns="0" lIns="0" bIns="0" rIns="0">
            <a:spAutoFit/>
          </a:bodyPr>
          <a:lstStyle/>
          <a:p>
            <a:pPr algn="l">
              <a:lnSpc>
                <a:spcPts val="4032"/>
              </a:lnSpc>
            </a:pPr>
            <a:r>
              <a:rPr lang="en-US" sz="2880" b="true">
                <a:solidFill>
                  <a:srgbClr val="B100E8"/>
                </a:solidFill>
                <a:latin typeface="Helios Bold"/>
                <a:ea typeface="Helios Bold"/>
                <a:cs typeface="Helios Bold"/>
                <a:sym typeface="Helios Bold"/>
              </a:rPr>
              <a:t>Ordinal Encoding (Hierarchical Data)</a:t>
            </a:r>
          </a:p>
          <a:p>
            <a:pPr algn="l">
              <a:lnSpc>
                <a:spcPts val="3769"/>
              </a:lnSpc>
            </a:pPr>
            <a:r>
              <a:rPr lang="en-US" sz="2692">
                <a:solidFill>
                  <a:srgbClr val="FFFFFF"/>
                </a:solidFill>
                <a:latin typeface="Helios"/>
                <a:ea typeface="Helios"/>
                <a:cs typeface="Helios"/>
                <a:sym typeface="Helios"/>
              </a:rPr>
              <a:t>Asso</a:t>
            </a:r>
            <a:r>
              <a:rPr lang="en-US" sz="2692">
                <a:solidFill>
                  <a:srgbClr val="FFFFFF"/>
                </a:solidFill>
                <a:latin typeface="Helios"/>
                <a:ea typeface="Helios"/>
                <a:cs typeface="Helios"/>
                <a:sym typeface="Helios"/>
              </a:rPr>
              <a:t>rtment Mapping: Converted levels into ordered weights based on product variety depth:</a:t>
            </a:r>
          </a:p>
          <a:p>
            <a:pPr algn="l" marL="581242" indent="-290621" lvl="1">
              <a:lnSpc>
                <a:spcPts val="3769"/>
              </a:lnSpc>
              <a:buFont typeface="Arial"/>
              <a:buChar char="•"/>
            </a:pPr>
            <a:r>
              <a:rPr lang="en-US" sz="2692">
                <a:solidFill>
                  <a:srgbClr val="FFFFFF"/>
                </a:solidFill>
                <a:latin typeface="Helios"/>
                <a:ea typeface="Helios"/>
                <a:cs typeface="Helios"/>
                <a:sym typeface="Helios"/>
              </a:rPr>
              <a:t>'a' (Basic) ---&gt; 0</a:t>
            </a:r>
          </a:p>
          <a:p>
            <a:pPr algn="l" marL="581242" indent="-290621" lvl="1">
              <a:lnSpc>
                <a:spcPts val="3769"/>
              </a:lnSpc>
              <a:buFont typeface="Arial"/>
              <a:buChar char="•"/>
            </a:pPr>
            <a:r>
              <a:rPr lang="en-US" sz="2692">
                <a:solidFill>
                  <a:srgbClr val="FFFFFF"/>
                </a:solidFill>
                <a:latin typeface="Helios"/>
                <a:ea typeface="Helios"/>
                <a:cs typeface="Helios"/>
                <a:sym typeface="Helios"/>
              </a:rPr>
              <a:t>'c' (Extended) -----&gt;1</a:t>
            </a:r>
          </a:p>
          <a:p>
            <a:pPr algn="l" marL="581242" indent="-290621" lvl="1">
              <a:lnSpc>
                <a:spcPts val="3769"/>
              </a:lnSpc>
              <a:buFont typeface="Arial"/>
              <a:buChar char="•"/>
            </a:pPr>
            <a:r>
              <a:rPr lang="en-US" sz="2692">
                <a:solidFill>
                  <a:srgbClr val="FFFFFF"/>
                </a:solidFill>
                <a:latin typeface="Helios"/>
                <a:ea typeface="Helios"/>
                <a:cs typeface="Helios"/>
                <a:sym typeface="Helios"/>
              </a:rPr>
              <a:t>'b' (Extra) ------&gt; 2</a:t>
            </a:r>
          </a:p>
          <a:p>
            <a:pPr algn="l">
              <a:lnSpc>
                <a:spcPts val="3769"/>
              </a:lnSpc>
            </a:pPr>
          </a:p>
        </p:txBody>
      </p:sp>
      <p:sp>
        <p:nvSpPr>
          <p:cNvPr name="TextBox 9" id="9"/>
          <p:cNvSpPr txBox="true"/>
          <p:nvPr/>
        </p:nvSpPr>
        <p:spPr>
          <a:xfrm rot="0">
            <a:off x="2242870" y="5695950"/>
            <a:ext cx="11733370" cy="3600585"/>
          </a:xfrm>
          <a:prstGeom prst="rect">
            <a:avLst/>
          </a:prstGeom>
        </p:spPr>
        <p:txBody>
          <a:bodyPr anchor="t" rtlCol="false" tIns="0" lIns="0" bIns="0" rIns="0">
            <a:spAutoFit/>
          </a:bodyPr>
          <a:lstStyle/>
          <a:p>
            <a:pPr algn="l">
              <a:lnSpc>
                <a:spcPts val="3791"/>
              </a:lnSpc>
            </a:pPr>
            <a:r>
              <a:rPr lang="en-US" sz="2708">
                <a:solidFill>
                  <a:srgbClr val="B100E8"/>
                </a:solidFill>
                <a:latin typeface="Helios"/>
                <a:ea typeface="Helios"/>
                <a:cs typeface="Helios"/>
                <a:sym typeface="Helios"/>
              </a:rPr>
              <a:t> </a:t>
            </a:r>
            <a:r>
              <a:rPr lang="en-US" sz="2708" b="true">
                <a:solidFill>
                  <a:srgbClr val="B100E8"/>
                </a:solidFill>
                <a:latin typeface="Helios Bold"/>
                <a:ea typeface="Helios Bold"/>
                <a:cs typeface="Helios Bold"/>
                <a:sym typeface="Helios Bold"/>
              </a:rPr>
              <a:t>Nominal One-Hot Encoding (Non-Ordered Data)</a:t>
            </a:r>
          </a:p>
          <a:p>
            <a:pPr algn="l" marL="546484" indent="-273242" lvl="1">
              <a:lnSpc>
                <a:spcPts val="3543"/>
              </a:lnSpc>
              <a:buFont typeface="Arial"/>
              <a:buChar char="•"/>
            </a:pPr>
            <a:r>
              <a:rPr lang="en-US" sz="2531">
                <a:solidFill>
                  <a:srgbClr val="FFFFFF"/>
                </a:solidFill>
                <a:latin typeface="Helios"/>
                <a:ea typeface="Helios"/>
                <a:cs typeface="Helios"/>
                <a:sym typeface="Helios"/>
              </a:rPr>
              <a:t>Targ</a:t>
            </a:r>
            <a:r>
              <a:rPr lang="en-US" sz="2531">
                <a:solidFill>
                  <a:srgbClr val="FFFFFF"/>
                </a:solidFill>
                <a:latin typeface="Helios"/>
                <a:ea typeface="Helios"/>
                <a:cs typeface="Helios"/>
                <a:sym typeface="Helios"/>
              </a:rPr>
              <a:t>eted Columns: StoreType (layouts) and StateHoliday (holiday types) expanded into binary (0 or 1) columns.</a:t>
            </a:r>
          </a:p>
          <a:p>
            <a:pPr algn="l">
              <a:lnSpc>
                <a:spcPts val="3543"/>
              </a:lnSpc>
            </a:pPr>
          </a:p>
          <a:p>
            <a:pPr algn="l" marL="546484" indent="-273242" lvl="1">
              <a:lnSpc>
                <a:spcPts val="3543"/>
              </a:lnSpc>
              <a:buFont typeface="Arial"/>
              <a:buChar char="•"/>
            </a:pPr>
            <a:r>
              <a:rPr lang="en-US" sz="2531">
                <a:solidFill>
                  <a:srgbClr val="FFFFFF"/>
                </a:solidFill>
                <a:latin typeface="Helios"/>
                <a:ea typeface="Helios"/>
                <a:cs typeface="Helios"/>
                <a:sym typeface="Helios"/>
              </a:rPr>
              <a:t>Leakage </a:t>
            </a:r>
            <a:r>
              <a:rPr lang="en-US" sz="2531">
                <a:solidFill>
                  <a:srgbClr val="FFFFFF"/>
                </a:solidFill>
                <a:latin typeface="Helios"/>
                <a:ea typeface="Helios"/>
                <a:cs typeface="Helios"/>
                <a:sym typeface="Helios"/>
              </a:rPr>
              <a:t>Prevention: Strictly .fi</a:t>
            </a:r>
            <a:r>
              <a:rPr lang="en-US" sz="2531">
                <a:solidFill>
                  <a:srgbClr val="FFFFFF"/>
                </a:solidFill>
                <a:latin typeface="Helios"/>
                <a:ea typeface="Helios"/>
                <a:cs typeface="Helios"/>
                <a:sym typeface="Helios"/>
              </a:rPr>
              <a:t>t() on training partition only; configured handle_unknown='ignore' for live evaluation</a:t>
            </a:r>
          </a:p>
          <a:p>
            <a:pPr algn="l">
              <a:lnSpc>
                <a:spcPts val="3543"/>
              </a:lnSpc>
            </a:pPr>
          </a:p>
          <a:p>
            <a:pPr algn="l">
              <a:lnSpc>
                <a:spcPts val="3543"/>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14009584" y="9858375"/>
            <a:ext cx="5765006" cy="1028700"/>
            <a:chOff x="0" y="0"/>
            <a:chExt cx="1049690" cy="187305"/>
          </a:xfrm>
        </p:grpSpPr>
        <p:sp>
          <p:nvSpPr>
            <p:cNvPr name="Freeform 3" id="3"/>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4" id="4"/>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TextBox 5" id="5"/>
          <p:cNvSpPr txBox="true"/>
          <p:nvPr/>
        </p:nvSpPr>
        <p:spPr>
          <a:xfrm rot="0">
            <a:off x="4959312" y="638175"/>
            <a:ext cx="15545322" cy="771525"/>
          </a:xfrm>
          <a:prstGeom prst="rect">
            <a:avLst/>
          </a:prstGeom>
        </p:spPr>
        <p:txBody>
          <a:bodyPr anchor="t" rtlCol="false" tIns="0" lIns="0" bIns="0" rIns="0">
            <a:spAutoFit/>
          </a:bodyPr>
          <a:lstStyle/>
          <a:p>
            <a:pPr algn="l">
              <a:lnSpc>
                <a:spcPts val="6000"/>
              </a:lnSpc>
            </a:pPr>
            <a:r>
              <a:rPr lang="en-US" b="true" sz="5000">
                <a:solidFill>
                  <a:srgbClr val="FFFFFF"/>
                </a:solidFill>
                <a:latin typeface="TT Hoves Bold"/>
                <a:ea typeface="TT Hoves Bold"/>
                <a:cs typeface="TT Hoves Bold"/>
                <a:sym typeface="TT Hoves Bold"/>
              </a:rPr>
              <a:t>Feature Scaling Strategy</a:t>
            </a:r>
          </a:p>
        </p:txBody>
      </p:sp>
      <p:grpSp>
        <p:nvGrpSpPr>
          <p:cNvPr name="Group 6" id="6"/>
          <p:cNvGrpSpPr/>
          <p:nvPr/>
        </p:nvGrpSpPr>
        <p:grpSpPr>
          <a:xfrm rot="0">
            <a:off x="1028700" y="1531780"/>
            <a:ext cx="7384831" cy="8240870"/>
            <a:chOff x="0" y="0"/>
            <a:chExt cx="9846442" cy="10987826"/>
          </a:xfrm>
        </p:grpSpPr>
        <p:grpSp>
          <p:nvGrpSpPr>
            <p:cNvPr name="Group 7" id="7"/>
            <p:cNvGrpSpPr/>
            <p:nvPr/>
          </p:nvGrpSpPr>
          <p:grpSpPr>
            <a:xfrm rot="0">
              <a:off x="0" y="0"/>
              <a:ext cx="9542561" cy="10631276"/>
              <a:chOff x="0" y="0"/>
              <a:chExt cx="1074244" cy="1196804"/>
            </a:xfrm>
          </p:grpSpPr>
          <p:sp>
            <p:nvSpPr>
              <p:cNvPr name="Freeform 8" id="8"/>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9" id="9"/>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nvGrpSpPr>
            <p:cNvPr name="Group 10" id="10"/>
            <p:cNvGrpSpPr/>
            <p:nvPr/>
          </p:nvGrpSpPr>
          <p:grpSpPr>
            <a:xfrm rot="0">
              <a:off x="303881" y="356550"/>
              <a:ext cx="9542561" cy="10631276"/>
              <a:chOff x="0" y="0"/>
              <a:chExt cx="1074244" cy="1196804"/>
            </a:xfrm>
          </p:grpSpPr>
          <p:sp>
            <p:nvSpPr>
              <p:cNvPr name="Freeform 11" id="11"/>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12" id="12"/>
              <p:cNvSpPr txBox="true"/>
              <p:nvPr/>
            </p:nvSpPr>
            <p:spPr>
              <a:xfrm>
                <a:off x="0" y="-38100"/>
                <a:ext cx="1074244" cy="1234904"/>
              </a:xfrm>
              <a:prstGeom prst="rect">
                <a:avLst/>
              </a:prstGeom>
            </p:spPr>
            <p:txBody>
              <a:bodyPr anchor="ctr" rtlCol="false" tIns="50800" lIns="50800" bIns="50800" rIns="50800"/>
              <a:lstStyle/>
              <a:p>
                <a:pPr algn="ctr">
                  <a:lnSpc>
                    <a:spcPts val="2800"/>
                  </a:lnSpc>
                </a:pPr>
              </a:p>
            </p:txBody>
          </p:sp>
        </p:grpSp>
      </p:grpSp>
      <p:grpSp>
        <p:nvGrpSpPr>
          <p:cNvPr name="Group 13" id="13"/>
          <p:cNvGrpSpPr/>
          <p:nvPr/>
        </p:nvGrpSpPr>
        <p:grpSpPr>
          <a:xfrm rot="0">
            <a:off x="11655416" y="1738129"/>
            <a:ext cx="5990330" cy="6673769"/>
            <a:chOff x="0" y="0"/>
            <a:chExt cx="1074244" cy="1196804"/>
          </a:xfrm>
        </p:grpSpPr>
        <p:sp>
          <p:nvSpPr>
            <p:cNvPr name="Freeform 14" id="14"/>
            <p:cNvSpPr/>
            <p:nvPr/>
          </p:nvSpPr>
          <p:spPr>
            <a:xfrm flipH="false" flipV="false" rot="0">
              <a:off x="0" y="0"/>
              <a:ext cx="1074244" cy="1196804"/>
            </a:xfrm>
            <a:custGeom>
              <a:avLst/>
              <a:gdLst/>
              <a:ahLst/>
              <a:cxnLst/>
              <a:rect r="r" b="b" t="t" l="l"/>
              <a:pathLst>
                <a:path h="1196804" w="1074244">
                  <a:moveTo>
                    <a:pt x="65913" y="0"/>
                  </a:moveTo>
                  <a:lnTo>
                    <a:pt x="1008331" y="0"/>
                  </a:lnTo>
                  <a:cubicBezTo>
                    <a:pt x="1025812" y="0"/>
                    <a:pt x="1042577" y="6944"/>
                    <a:pt x="1054938" y="19305"/>
                  </a:cubicBezTo>
                  <a:cubicBezTo>
                    <a:pt x="1067299" y="31666"/>
                    <a:pt x="1074244" y="48431"/>
                    <a:pt x="1074244" y="65913"/>
                  </a:cubicBezTo>
                  <a:lnTo>
                    <a:pt x="1074244" y="1130892"/>
                  </a:lnTo>
                  <a:cubicBezTo>
                    <a:pt x="1074244" y="1148373"/>
                    <a:pt x="1067299" y="1165138"/>
                    <a:pt x="1054938" y="1177499"/>
                  </a:cubicBezTo>
                  <a:cubicBezTo>
                    <a:pt x="1042577" y="1189860"/>
                    <a:pt x="1025812" y="1196804"/>
                    <a:pt x="1008331" y="1196804"/>
                  </a:cubicBezTo>
                  <a:lnTo>
                    <a:pt x="65913" y="1196804"/>
                  </a:lnTo>
                  <a:cubicBezTo>
                    <a:pt x="48431" y="1196804"/>
                    <a:pt x="31666" y="1189860"/>
                    <a:pt x="19305" y="1177499"/>
                  </a:cubicBezTo>
                  <a:cubicBezTo>
                    <a:pt x="6944" y="1165138"/>
                    <a:pt x="0" y="1148373"/>
                    <a:pt x="0" y="1130892"/>
                  </a:cubicBezTo>
                  <a:lnTo>
                    <a:pt x="0" y="65913"/>
                  </a:lnTo>
                  <a:cubicBezTo>
                    <a:pt x="0" y="48431"/>
                    <a:pt x="6944" y="31666"/>
                    <a:pt x="19305" y="19305"/>
                  </a:cubicBezTo>
                  <a:cubicBezTo>
                    <a:pt x="31666" y="6944"/>
                    <a:pt x="48431" y="0"/>
                    <a:pt x="65913" y="0"/>
                  </a:cubicBezTo>
                  <a:close/>
                </a:path>
              </a:pathLst>
            </a:custGeom>
            <a:solidFill>
              <a:srgbClr val="01237D"/>
            </a:solidFill>
          </p:spPr>
        </p:sp>
        <p:sp>
          <p:nvSpPr>
            <p:cNvPr name="TextBox 15" id="15"/>
            <p:cNvSpPr txBox="true"/>
            <p:nvPr/>
          </p:nvSpPr>
          <p:spPr>
            <a:xfrm>
              <a:off x="0" y="-38100"/>
              <a:ext cx="1074244" cy="1234904"/>
            </a:xfrm>
            <a:prstGeom prst="rect">
              <a:avLst/>
            </a:prstGeom>
          </p:spPr>
          <p:txBody>
            <a:bodyPr anchor="ctr" rtlCol="false" tIns="74608" lIns="74608" bIns="74608" rIns="74608"/>
            <a:lstStyle/>
            <a:p>
              <a:pPr algn="ctr">
                <a:lnSpc>
                  <a:spcPts val="2800"/>
                </a:lnSpc>
              </a:pPr>
            </a:p>
          </p:txBody>
        </p:sp>
      </p:grpSp>
      <p:grpSp>
        <p:nvGrpSpPr>
          <p:cNvPr name="Group 16" id="16"/>
          <p:cNvGrpSpPr/>
          <p:nvPr/>
        </p:nvGrpSpPr>
        <p:grpSpPr>
          <a:xfrm rot="0">
            <a:off x="10106767" y="1531780"/>
            <a:ext cx="7384831" cy="8240870"/>
            <a:chOff x="0" y="0"/>
            <a:chExt cx="9846442" cy="10987826"/>
          </a:xfrm>
        </p:grpSpPr>
        <p:grpSp>
          <p:nvGrpSpPr>
            <p:cNvPr name="Group 17" id="17"/>
            <p:cNvGrpSpPr/>
            <p:nvPr/>
          </p:nvGrpSpPr>
          <p:grpSpPr>
            <a:xfrm rot="0">
              <a:off x="0" y="0"/>
              <a:ext cx="9542561" cy="10631276"/>
              <a:chOff x="0" y="0"/>
              <a:chExt cx="1074244" cy="1196804"/>
            </a:xfrm>
          </p:grpSpPr>
          <p:sp>
            <p:nvSpPr>
              <p:cNvPr name="Freeform 18" id="18"/>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p:spPr>
          </p:sp>
          <p:sp>
            <p:nvSpPr>
              <p:cNvPr name="TextBox 19" id="19"/>
              <p:cNvSpPr txBox="true"/>
              <p:nvPr/>
            </p:nvSpPr>
            <p:spPr>
              <a:xfrm>
                <a:off x="0" y="-28575"/>
                <a:ext cx="1074244" cy="1225379"/>
              </a:xfrm>
              <a:prstGeom prst="rect">
                <a:avLst/>
              </a:prstGeom>
            </p:spPr>
            <p:txBody>
              <a:bodyPr anchor="ctr" rtlCol="false" tIns="50800" lIns="50800" bIns="50800" rIns="50800"/>
              <a:lstStyle/>
              <a:p>
                <a:pPr algn="ctr">
                  <a:lnSpc>
                    <a:spcPts val="2799"/>
                  </a:lnSpc>
                </a:pPr>
              </a:p>
            </p:txBody>
          </p:sp>
        </p:grpSp>
        <p:grpSp>
          <p:nvGrpSpPr>
            <p:cNvPr name="Group 20" id="20"/>
            <p:cNvGrpSpPr/>
            <p:nvPr/>
          </p:nvGrpSpPr>
          <p:grpSpPr>
            <a:xfrm rot="0">
              <a:off x="303881" y="356550"/>
              <a:ext cx="9542561" cy="10631276"/>
              <a:chOff x="0" y="0"/>
              <a:chExt cx="1074244" cy="1196804"/>
            </a:xfrm>
          </p:grpSpPr>
          <p:sp>
            <p:nvSpPr>
              <p:cNvPr name="Freeform 21" id="21"/>
              <p:cNvSpPr/>
              <p:nvPr/>
            </p:nvSpPr>
            <p:spPr>
              <a:xfrm flipH="false" flipV="false" rot="0">
                <a:off x="0" y="0"/>
                <a:ext cx="1074244" cy="1196804"/>
              </a:xfrm>
              <a:custGeom>
                <a:avLst/>
                <a:gdLst/>
                <a:ahLst/>
                <a:cxnLst/>
                <a:rect r="r" b="b" t="t" l="l"/>
                <a:pathLst>
                  <a:path h="1196804" w="1074244">
                    <a:moveTo>
                      <a:pt x="96803" y="0"/>
                    </a:moveTo>
                    <a:lnTo>
                      <a:pt x="977440" y="0"/>
                    </a:lnTo>
                    <a:cubicBezTo>
                      <a:pt x="1003114" y="0"/>
                      <a:pt x="1027736" y="10199"/>
                      <a:pt x="1045891" y="28353"/>
                    </a:cubicBezTo>
                    <a:cubicBezTo>
                      <a:pt x="1064045" y="46507"/>
                      <a:pt x="1074244" y="71129"/>
                      <a:pt x="1074244" y="96803"/>
                    </a:cubicBezTo>
                    <a:lnTo>
                      <a:pt x="1074244" y="1100001"/>
                    </a:lnTo>
                    <a:cubicBezTo>
                      <a:pt x="1074244" y="1125675"/>
                      <a:pt x="1064045" y="1150297"/>
                      <a:pt x="1045891" y="1168451"/>
                    </a:cubicBezTo>
                    <a:cubicBezTo>
                      <a:pt x="1027736" y="1186606"/>
                      <a:pt x="1003114" y="1196804"/>
                      <a:pt x="977440" y="1196804"/>
                    </a:cubicBezTo>
                    <a:lnTo>
                      <a:pt x="96803" y="1196804"/>
                    </a:lnTo>
                    <a:cubicBezTo>
                      <a:pt x="71129" y="1196804"/>
                      <a:pt x="46507" y="1186606"/>
                      <a:pt x="28353" y="1168451"/>
                    </a:cubicBezTo>
                    <a:cubicBezTo>
                      <a:pt x="10199" y="1150297"/>
                      <a:pt x="0" y="1125675"/>
                      <a:pt x="0" y="1100001"/>
                    </a:cubicBezTo>
                    <a:lnTo>
                      <a:pt x="0" y="96803"/>
                    </a:lnTo>
                    <a:cubicBezTo>
                      <a:pt x="0" y="71129"/>
                      <a:pt x="10199" y="46507"/>
                      <a:pt x="28353" y="28353"/>
                    </a:cubicBezTo>
                    <a:cubicBezTo>
                      <a:pt x="46507" y="10199"/>
                      <a:pt x="71129" y="0"/>
                      <a:pt x="96803" y="0"/>
                    </a:cubicBezTo>
                    <a:close/>
                  </a:path>
                </a:pathLst>
              </a:custGeom>
              <a:solidFill>
                <a:srgbClr val="01237D"/>
              </a:solidFill>
              <a:ln w="38100" cap="rnd">
                <a:gradFill>
                  <a:gsLst>
                    <a:gs pos="0">
                      <a:srgbClr val="048AFF">
                        <a:alpha val="100000"/>
                      </a:srgbClr>
                    </a:gs>
                    <a:gs pos="100000">
                      <a:srgbClr val="B100E8">
                        <a:alpha val="100000"/>
                      </a:srgbClr>
                    </a:gs>
                  </a:gsLst>
                  <a:path path="circle">
                    <a:fillToRect l="0" r="100000" t="0" b="100000"/>
                  </a:path>
                  <a:tileRect r="0" l="-100000" b="0" t="-100000"/>
                </a:gradFill>
                <a:prstDash val="solid"/>
                <a:round/>
              </a:ln>
            </p:spPr>
          </p:sp>
          <p:sp>
            <p:nvSpPr>
              <p:cNvPr name="TextBox 22" id="22"/>
              <p:cNvSpPr txBox="true"/>
              <p:nvPr/>
            </p:nvSpPr>
            <p:spPr>
              <a:xfrm>
                <a:off x="0" y="-28575"/>
                <a:ext cx="1074244" cy="1225379"/>
              </a:xfrm>
              <a:prstGeom prst="rect">
                <a:avLst/>
              </a:prstGeom>
            </p:spPr>
            <p:txBody>
              <a:bodyPr anchor="ctr" rtlCol="false" tIns="50800" lIns="50800" bIns="50800" rIns="50800"/>
              <a:lstStyle/>
              <a:p>
                <a:pPr algn="ctr">
                  <a:lnSpc>
                    <a:spcPts val="2799"/>
                  </a:lnSpc>
                </a:pPr>
              </a:p>
            </p:txBody>
          </p:sp>
        </p:grpSp>
      </p:grpSp>
      <p:sp>
        <p:nvSpPr>
          <p:cNvPr name="TextBox 23" id="23"/>
          <p:cNvSpPr txBox="true"/>
          <p:nvPr/>
        </p:nvSpPr>
        <p:spPr>
          <a:xfrm rot="0">
            <a:off x="8602760" y="5143500"/>
            <a:ext cx="4671000" cy="838200"/>
          </a:xfrm>
          <a:prstGeom prst="rect">
            <a:avLst/>
          </a:prstGeom>
        </p:spPr>
        <p:txBody>
          <a:bodyPr anchor="t" rtlCol="false" tIns="0" lIns="0" bIns="0" rIns="0">
            <a:spAutoFit/>
          </a:bodyPr>
          <a:lstStyle/>
          <a:p>
            <a:pPr algn="l">
              <a:lnSpc>
                <a:spcPts val="6600"/>
              </a:lnSpc>
            </a:pPr>
            <a:r>
              <a:rPr lang="en-US" b="true" sz="5500">
                <a:solidFill>
                  <a:srgbClr val="FFFFFF"/>
                </a:solidFill>
                <a:latin typeface="TT Hoves Bold"/>
                <a:ea typeface="TT Hoves Bold"/>
                <a:cs typeface="TT Hoves Bold"/>
                <a:sym typeface="TT Hoves Bold"/>
              </a:rPr>
              <a:t>----&gt;</a:t>
            </a:r>
          </a:p>
        </p:txBody>
      </p:sp>
      <p:sp>
        <p:nvSpPr>
          <p:cNvPr name="TextBox 24" id="24"/>
          <p:cNvSpPr txBox="true"/>
          <p:nvPr/>
        </p:nvSpPr>
        <p:spPr>
          <a:xfrm rot="0">
            <a:off x="1732259" y="3524498"/>
            <a:ext cx="5977713" cy="5409565"/>
          </a:xfrm>
          <a:prstGeom prst="rect">
            <a:avLst/>
          </a:prstGeom>
        </p:spPr>
        <p:txBody>
          <a:bodyPr anchor="t" rtlCol="false" tIns="0" lIns="0" bIns="0" rIns="0">
            <a:spAutoFit/>
          </a:bodyPr>
          <a:lstStyle/>
          <a:p>
            <a:pPr algn="l" marL="604516" indent="-302258" lvl="1">
              <a:lnSpc>
                <a:spcPts val="3919"/>
              </a:lnSpc>
              <a:buFont typeface="Arial"/>
              <a:buChar char="•"/>
            </a:pPr>
            <a:r>
              <a:rPr lang="en-US" sz="2799">
                <a:solidFill>
                  <a:srgbClr val="FFFFFF"/>
                </a:solidFill>
                <a:latin typeface="Poppins"/>
                <a:ea typeface="Poppins"/>
                <a:cs typeface="Poppins"/>
                <a:sym typeface="Poppins"/>
              </a:rPr>
              <a:t>Raw features and the target variable (Sales) had vastly different numeric ranges.</a:t>
            </a:r>
          </a:p>
          <a:p>
            <a:pPr algn="ctr">
              <a:lnSpc>
                <a:spcPts val="3919"/>
              </a:lnSpc>
            </a:pPr>
          </a:p>
          <a:p>
            <a:pPr algn="l" marL="604516" indent="-302258" lvl="1">
              <a:lnSpc>
                <a:spcPts val="3919"/>
              </a:lnSpc>
              <a:buFont typeface="Arial"/>
              <a:buChar char="•"/>
            </a:pPr>
            <a:r>
              <a:rPr lang="en-US" sz="2799">
                <a:solidFill>
                  <a:srgbClr val="FFFFFF"/>
                </a:solidFill>
                <a:latin typeface="Poppins"/>
                <a:ea typeface="Poppins"/>
                <a:cs typeface="Poppins"/>
                <a:sym typeface="Poppins"/>
              </a:rPr>
              <a:t>This imbalance slows down gradient descent, causing unstable or extremely slow model convergence for neural networks and boosting algorithms.</a:t>
            </a:r>
          </a:p>
          <a:p>
            <a:pPr algn="ctr">
              <a:lnSpc>
                <a:spcPts val="3499"/>
              </a:lnSpc>
            </a:pPr>
          </a:p>
        </p:txBody>
      </p:sp>
      <p:sp>
        <p:nvSpPr>
          <p:cNvPr name="TextBox 25" id="25"/>
          <p:cNvSpPr txBox="true"/>
          <p:nvPr/>
        </p:nvSpPr>
        <p:spPr>
          <a:xfrm rot="0">
            <a:off x="1448079" y="1924221"/>
            <a:ext cx="5942071" cy="1028778"/>
          </a:xfrm>
          <a:prstGeom prst="rect">
            <a:avLst/>
          </a:prstGeom>
        </p:spPr>
        <p:txBody>
          <a:bodyPr anchor="t" rtlCol="false" tIns="0" lIns="0" bIns="0" rIns="0">
            <a:spAutoFit/>
          </a:bodyPr>
          <a:lstStyle/>
          <a:p>
            <a:pPr algn="ctr">
              <a:lnSpc>
                <a:spcPts val="4195"/>
              </a:lnSpc>
              <a:spcBef>
                <a:spcPct val="0"/>
              </a:spcBef>
            </a:pPr>
            <a:r>
              <a:rPr lang="en-US" b="true" sz="2996">
                <a:solidFill>
                  <a:srgbClr val="048AFF"/>
                </a:solidFill>
                <a:latin typeface="Helios Bold"/>
                <a:ea typeface="Helios Bold"/>
                <a:cs typeface="Helios Bold"/>
                <a:sym typeface="Helios Bold"/>
              </a:rPr>
              <a:t>Problem</a:t>
            </a:r>
            <a:r>
              <a:rPr lang="en-US" b="true" sz="2996">
                <a:solidFill>
                  <a:srgbClr val="FFFFFF"/>
                </a:solidFill>
                <a:latin typeface="Helios Bold"/>
                <a:ea typeface="Helios Bold"/>
                <a:cs typeface="Helios Bold"/>
                <a:sym typeface="Helios Bold"/>
              </a:rPr>
              <a:t> :Skewed Feature Scales &amp; Slow Training</a:t>
            </a:r>
          </a:p>
        </p:txBody>
      </p:sp>
      <p:sp>
        <p:nvSpPr>
          <p:cNvPr name="TextBox 26" id="26"/>
          <p:cNvSpPr txBox="true"/>
          <p:nvPr/>
        </p:nvSpPr>
        <p:spPr>
          <a:xfrm rot="0">
            <a:off x="10484554" y="1924221"/>
            <a:ext cx="6248429" cy="1028778"/>
          </a:xfrm>
          <a:prstGeom prst="rect">
            <a:avLst/>
          </a:prstGeom>
        </p:spPr>
        <p:txBody>
          <a:bodyPr anchor="t" rtlCol="false" tIns="0" lIns="0" bIns="0" rIns="0">
            <a:spAutoFit/>
          </a:bodyPr>
          <a:lstStyle/>
          <a:p>
            <a:pPr algn="ctr">
              <a:lnSpc>
                <a:spcPts val="4195"/>
              </a:lnSpc>
              <a:spcBef>
                <a:spcPct val="0"/>
              </a:spcBef>
            </a:pPr>
            <a:r>
              <a:rPr lang="en-US" b="true" sz="2996">
                <a:solidFill>
                  <a:srgbClr val="048AFF"/>
                </a:solidFill>
                <a:latin typeface="Helios Bold"/>
                <a:ea typeface="Helios Bold"/>
                <a:cs typeface="Helios Bold"/>
                <a:sym typeface="Helios Bold"/>
              </a:rPr>
              <a:t>Solution:</a:t>
            </a:r>
            <a:r>
              <a:rPr lang="en-US" b="true" sz="2996">
                <a:solidFill>
                  <a:srgbClr val="FFFFFF"/>
                </a:solidFill>
                <a:latin typeface="Helios Bold"/>
                <a:ea typeface="Helios Bold"/>
                <a:cs typeface="Helios Bold"/>
                <a:sym typeface="Helios Bold"/>
              </a:rPr>
              <a:t> Min-Max Scaling &amp; Inversion</a:t>
            </a:r>
          </a:p>
        </p:txBody>
      </p:sp>
      <p:sp>
        <p:nvSpPr>
          <p:cNvPr name="TextBox 27" id="27"/>
          <p:cNvSpPr txBox="true"/>
          <p:nvPr/>
        </p:nvSpPr>
        <p:spPr>
          <a:xfrm rot="0">
            <a:off x="11116654" y="3543548"/>
            <a:ext cx="6142646" cy="5086635"/>
          </a:xfrm>
          <a:prstGeom prst="rect">
            <a:avLst/>
          </a:prstGeom>
        </p:spPr>
        <p:txBody>
          <a:bodyPr anchor="t" rtlCol="false" tIns="0" lIns="0" bIns="0" rIns="0">
            <a:spAutoFit/>
          </a:bodyPr>
          <a:lstStyle/>
          <a:p>
            <a:pPr algn="l" marL="520892" indent="-260446" lvl="1">
              <a:lnSpc>
                <a:spcPts val="3377"/>
              </a:lnSpc>
              <a:buFont typeface="Arial"/>
              <a:buChar char="•"/>
            </a:pPr>
            <a:r>
              <a:rPr lang="en-US" sz="2412">
                <a:solidFill>
                  <a:srgbClr val="FFFFFF"/>
                </a:solidFill>
                <a:latin typeface="Poppins"/>
                <a:ea typeface="Poppins"/>
                <a:cs typeface="Poppins"/>
                <a:sym typeface="Poppins"/>
              </a:rPr>
              <a:t>Normalizations: Applied MinMaxScaler to compress all variables and Sales into a strict [0, 1]range for faster, optimal model training.</a:t>
            </a:r>
          </a:p>
          <a:p>
            <a:pPr algn="ctr">
              <a:lnSpc>
                <a:spcPts val="3377"/>
              </a:lnSpc>
            </a:pPr>
          </a:p>
          <a:p>
            <a:pPr algn="l" marL="520892" indent="-260446" lvl="1">
              <a:lnSpc>
                <a:spcPts val="3377"/>
              </a:lnSpc>
              <a:buFont typeface="Arial"/>
              <a:buChar char="•"/>
            </a:pPr>
            <a:r>
              <a:rPr lang="en-US" sz="2412">
                <a:solidFill>
                  <a:srgbClr val="FFFFFF"/>
                </a:solidFill>
                <a:latin typeface="Poppins"/>
                <a:ea typeface="Poppins"/>
                <a:cs typeface="Poppins"/>
                <a:sym typeface="Poppins"/>
              </a:rPr>
              <a:t>Inverse Transformation: Converted the final predictions back to the original Euro (€) scale to ensure realistic error calculations (MAE &amp; RMSE).</a:t>
            </a:r>
          </a:p>
          <a:p>
            <a:pPr algn="ctr">
              <a:lnSpc>
                <a:spcPts val="2890"/>
              </a:lnSpc>
            </a:pPr>
          </a:p>
        </p:txBody>
      </p:sp>
      <p:sp>
        <p:nvSpPr>
          <p:cNvPr name="Freeform 28" id="28"/>
          <p:cNvSpPr/>
          <p:nvPr/>
        </p:nvSpPr>
        <p:spPr>
          <a:xfrm flipH="false" flipV="false" rot="1559740">
            <a:off x="-2997003" y="-3669850"/>
            <a:ext cx="5257108" cy="5250537"/>
          </a:xfrm>
          <a:custGeom>
            <a:avLst/>
            <a:gdLst/>
            <a:ahLst/>
            <a:cxnLst/>
            <a:rect r="r" b="b" t="t" l="l"/>
            <a:pathLst>
              <a:path h="5250537" w="5257108">
                <a:moveTo>
                  <a:pt x="0" y="0"/>
                </a:moveTo>
                <a:lnTo>
                  <a:pt x="5257108" y="0"/>
                </a:lnTo>
                <a:lnTo>
                  <a:pt x="5257108" y="5250536"/>
                </a:lnTo>
                <a:lnTo>
                  <a:pt x="0" y="5250536"/>
                </a:lnTo>
                <a:lnTo>
                  <a:pt x="0" y="0"/>
                </a:lnTo>
                <a:close/>
              </a:path>
            </a:pathLst>
          </a:custGeom>
          <a:blipFill>
            <a:blip r:embed="rId2"/>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2267E"/>
        </a:solidFill>
      </p:bgPr>
    </p:bg>
    <p:spTree>
      <p:nvGrpSpPr>
        <p:cNvPr id="1" name=""/>
        <p:cNvGrpSpPr/>
        <p:nvPr/>
      </p:nvGrpSpPr>
      <p:grpSpPr>
        <a:xfrm>
          <a:off x="0" y="0"/>
          <a:ext cx="0" cy="0"/>
          <a:chOff x="0" y="0"/>
          <a:chExt cx="0" cy="0"/>
        </a:xfrm>
      </p:grpSpPr>
      <p:grpSp>
        <p:nvGrpSpPr>
          <p:cNvPr name="Group 2" id="2"/>
          <p:cNvGrpSpPr/>
          <p:nvPr/>
        </p:nvGrpSpPr>
        <p:grpSpPr>
          <a:xfrm rot="0">
            <a:off x="3862693" y="7765996"/>
            <a:ext cx="1279432" cy="127943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5" id="5"/>
          <p:cNvGrpSpPr/>
          <p:nvPr/>
        </p:nvGrpSpPr>
        <p:grpSpPr>
          <a:xfrm rot="0">
            <a:off x="5290647" y="7765996"/>
            <a:ext cx="1279432" cy="12794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8" id="8"/>
          <p:cNvGrpSpPr/>
          <p:nvPr/>
        </p:nvGrpSpPr>
        <p:grpSpPr>
          <a:xfrm rot="0">
            <a:off x="13364483" y="9369508"/>
            <a:ext cx="5765006" cy="1028700"/>
            <a:chOff x="0" y="0"/>
            <a:chExt cx="1049690" cy="187305"/>
          </a:xfrm>
        </p:grpSpPr>
        <p:sp>
          <p:nvSpPr>
            <p:cNvPr name="Freeform 9" id="9"/>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10" id="10"/>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1" id="11"/>
          <p:cNvSpPr/>
          <p:nvPr/>
        </p:nvSpPr>
        <p:spPr>
          <a:xfrm flipH="false" flipV="false" rot="0">
            <a:off x="12149835" y="3651196"/>
            <a:ext cx="4529276" cy="4288237"/>
          </a:xfrm>
          <a:custGeom>
            <a:avLst/>
            <a:gdLst/>
            <a:ahLst/>
            <a:cxnLst/>
            <a:rect r="r" b="b" t="t" l="l"/>
            <a:pathLst>
              <a:path h="4288237" w="4529276">
                <a:moveTo>
                  <a:pt x="0" y="0"/>
                </a:moveTo>
                <a:lnTo>
                  <a:pt x="4529276" y="0"/>
                </a:lnTo>
                <a:lnTo>
                  <a:pt x="4529276" y="4288237"/>
                </a:lnTo>
                <a:lnTo>
                  <a:pt x="0" y="42882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775894" y="4193746"/>
            <a:ext cx="10628901" cy="2038350"/>
          </a:xfrm>
          <a:prstGeom prst="rect">
            <a:avLst/>
          </a:prstGeom>
        </p:spPr>
        <p:txBody>
          <a:bodyPr anchor="t" rtlCol="false" tIns="0" lIns="0" bIns="0" rIns="0">
            <a:spAutoFit/>
          </a:bodyPr>
          <a:lstStyle/>
          <a:p>
            <a:pPr algn="ctr">
              <a:lnSpc>
                <a:spcPts val="8078"/>
              </a:lnSpc>
            </a:pPr>
            <a:r>
              <a:rPr lang="en-US" sz="6731">
                <a:solidFill>
                  <a:srgbClr val="FFFFFF"/>
                </a:solidFill>
                <a:latin typeface="Secular One"/>
                <a:ea typeface="Secular One"/>
                <a:cs typeface="Secular One"/>
                <a:sym typeface="Secular One"/>
              </a:rPr>
              <a:t>Model Training &amp; Evaluation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0" y="0"/>
            <a:ext cx="5739024" cy="10287000"/>
            <a:chOff x="0" y="0"/>
            <a:chExt cx="1511513" cy="2709333"/>
          </a:xfrm>
        </p:grpSpPr>
        <p:sp>
          <p:nvSpPr>
            <p:cNvPr name="Freeform 3" id="3"/>
            <p:cNvSpPr/>
            <p:nvPr/>
          </p:nvSpPr>
          <p:spPr>
            <a:xfrm flipH="false" flipV="false" rot="0">
              <a:off x="0" y="0"/>
              <a:ext cx="1511513" cy="2709333"/>
            </a:xfrm>
            <a:custGeom>
              <a:avLst/>
              <a:gdLst/>
              <a:ahLst/>
              <a:cxnLst/>
              <a:rect r="r" b="b" t="t" l="l"/>
              <a:pathLst>
                <a:path h="2709333" w="1511513">
                  <a:moveTo>
                    <a:pt x="0" y="0"/>
                  </a:moveTo>
                  <a:lnTo>
                    <a:pt x="1511513" y="0"/>
                  </a:lnTo>
                  <a:lnTo>
                    <a:pt x="1511513" y="2709333"/>
                  </a:lnTo>
                  <a:lnTo>
                    <a:pt x="0" y="2709333"/>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4" id="4"/>
            <p:cNvSpPr txBox="true"/>
            <p:nvPr/>
          </p:nvSpPr>
          <p:spPr>
            <a:xfrm>
              <a:off x="0" y="-28575"/>
              <a:ext cx="1511513" cy="2737908"/>
            </a:xfrm>
            <a:prstGeom prst="rect">
              <a:avLst/>
            </a:prstGeom>
          </p:spPr>
          <p:txBody>
            <a:bodyPr anchor="ctr" rtlCol="false" tIns="50800" lIns="50800" bIns="50800" rIns="50800"/>
            <a:lstStyle/>
            <a:p>
              <a:pPr algn="ctr">
                <a:lnSpc>
                  <a:spcPts val="2100"/>
                </a:lnSpc>
              </a:pPr>
            </a:p>
          </p:txBody>
        </p:sp>
      </p:grpSp>
      <p:grpSp>
        <p:nvGrpSpPr>
          <p:cNvPr name="Group 5" id="5"/>
          <p:cNvGrpSpPr/>
          <p:nvPr/>
        </p:nvGrpSpPr>
        <p:grpSpPr>
          <a:xfrm rot="-5400000">
            <a:off x="6758749" y="858683"/>
            <a:ext cx="528783" cy="297825"/>
            <a:chOff x="0" y="0"/>
            <a:chExt cx="812800" cy="457791"/>
          </a:xfrm>
        </p:grpSpPr>
        <p:sp>
          <p:nvSpPr>
            <p:cNvPr name="Freeform 6" id="6"/>
            <p:cNvSpPr/>
            <p:nvPr/>
          </p:nvSpPr>
          <p:spPr>
            <a:xfrm flipH="false" flipV="false" rot="0">
              <a:off x="0" y="0"/>
              <a:ext cx="812800" cy="457791"/>
            </a:xfrm>
            <a:custGeom>
              <a:avLst/>
              <a:gdLst/>
              <a:ahLst/>
              <a:cxnLst/>
              <a:rect r="r" b="b" t="t" l="l"/>
              <a:pathLst>
                <a:path h="457791" w="812800">
                  <a:moveTo>
                    <a:pt x="406400" y="457791"/>
                  </a:moveTo>
                  <a:lnTo>
                    <a:pt x="812800" y="0"/>
                  </a:lnTo>
                  <a:lnTo>
                    <a:pt x="0" y="0"/>
                  </a:lnTo>
                  <a:lnTo>
                    <a:pt x="406400" y="457791"/>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7" id="7"/>
            <p:cNvSpPr txBox="true"/>
            <p:nvPr/>
          </p:nvSpPr>
          <p:spPr>
            <a:xfrm>
              <a:off x="127000" y="23174"/>
              <a:ext cx="558800" cy="222071"/>
            </a:xfrm>
            <a:prstGeom prst="rect">
              <a:avLst/>
            </a:prstGeom>
          </p:spPr>
          <p:txBody>
            <a:bodyPr anchor="ctr" rtlCol="false" tIns="45702" lIns="45702" bIns="45702" rIns="45702"/>
            <a:lstStyle/>
            <a:p>
              <a:pPr algn="ctr">
                <a:lnSpc>
                  <a:spcPts val="140"/>
                </a:lnSpc>
              </a:pPr>
            </a:p>
          </p:txBody>
        </p:sp>
      </p:grpSp>
      <p:grpSp>
        <p:nvGrpSpPr>
          <p:cNvPr name="Group 8" id="8"/>
          <p:cNvGrpSpPr/>
          <p:nvPr/>
        </p:nvGrpSpPr>
        <p:grpSpPr>
          <a:xfrm rot="0">
            <a:off x="14070439" y="9561545"/>
            <a:ext cx="5765006" cy="1028700"/>
            <a:chOff x="0" y="0"/>
            <a:chExt cx="1049690" cy="187305"/>
          </a:xfrm>
        </p:grpSpPr>
        <p:sp>
          <p:nvSpPr>
            <p:cNvPr name="Freeform 9" id="9"/>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10" id="10"/>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1" id="11"/>
          <p:cNvSpPr/>
          <p:nvPr/>
        </p:nvSpPr>
        <p:spPr>
          <a:xfrm flipH="false" flipV="false" rot="0">
            <a:off x="1072072" y="7030924"/>
            <a:ext cx="3290843" cy="3236993"/>
          </a:xfrm>
          <a:custGeom>
            <a:avLst/>
            <a:gdLst/>
            <a:ahLst/>
            <a:cxnLst/>
            <a:rect r="r" b="b" t="t" l="l"/>
            <a:pathLst>
              <a:path h="3236993" w="3290843">
                <a:moveTo>
                  <a:pt x="0" y="0"/>
                </a:moveTo>
                <a:lnTo>
                  <a:pt x="3290844" y="0"/>
                </a:lnTo>
                <a:lnTo>
                  <a:pt x="3290844" y="3236994"/>
                </a:lnTo>
                <a:lnTo>
                  <a:pt x="0" y="32369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234969" y="337672"/>
            <a:ext cx="5269087" cy="1943100"/>
          </a:xfrm>
          <a:prstGeom prst="rect">
            <a:avLst/>
          </a:prstGeom>
        </p:spPr>
        <p:txBody>
          <a:bodyPr anchor="t" rtlCol="false" tIns="0" lIns="0" bIns="0" rIns="0">
            <a:spAutoFit/>
          </a:bodyPr>
          <a:lstStyle/>
          <a:p>
            <a:pPr algn="l">
              <a:lnSpc>
                <a:spcPts val="5160"/>
              </a:lnSpc>
            </a:pPr>
            <a:r>
              <a:rPr lang="en-US" b="true" sz="4300">
                <a:solidFill>
                  <a:srgbClr val="FFFFFF"/>
                </a:solidFill>
                <a:latin typeface="TT Hoves Bold"/>
                <a:ea typeface="TT Hoves Bold"/>
                <a:cs typeface="TT Hoves Bold"/>
                <a:sym typeface="TT Hoves Bold"/>
              </a:rPr>
              <a:t>Model Selection — The Deep Learning Challenge</a:t>
            </a:r>
          </a:p>
        </p:txBody>
      </p:sp>
      <p:sp>
        <p:nvSpPr>
          <p:cNvPr name="TextBox 13" id="13"/>
          <p:cNvSpPr txBox="true"/>
          <p:nvPr/>
        </p:nvSpPr>
        <p:spPr>
          <a:xfrm rot="0">
            <a:off x="7172053" y="2061200"/>
            <a:ext cx="9453671" cy="3922490"/>
          </a:xfrm>
          <a:prstGeom prst="rect">
            <a:avLst/>
          </a:prstGeom>
        </p:spPr>
        <p:txBody>
          <a:bodyPr anchor="t" rtlCol="false" tIns="0" lIns="0" bIns="0" rIns="0">
            <a:spAutoFit/>
          </a:bodyPr>
          <a:lstStyle/>
          <a:p>
            <a:pPr algn="l" marL="531111" indent="-265556" lvl="1">
              <a:lnSpc>
                <a:spcPts val="3443"/>
              </a:lnSpc>
              <a:buFont typeface="Arial"/>
              <a:buChar char="•"/>
            </a:pPr>
            <a:r>
              <a:rPr lang="en-US" sz="2459">
                <a:solidFill>
                  <a:srgbClr val="FFFFFF"/>
                </a:solidFill>
                <a:latin typeface="Helios"/>
                <a:ea typeface="Helios"/>
                <a:cs typeface="Helios"/>
                <a:sym typeface="Helios"/>
              </a:rPr>
              <a:t>Sequential data often suggests using LSTMs, but Rossmann’s data is highly tabular (Store Metadata, Competition distance, etc.).</a:t>
            </a:r>
          </a:p>
          <a:p>
            <a:pPr algn="l" marL="531111" indent="-265556" lvl="1">
              <a:lnSpc>
                <a:spcPts val="3443"/>
              </a:lnSpc>
              <a:buFont typeface="Arial"/>
              <a:buChar char="•"/>
            </a:pPr>
            <a:r>
              <a:rPr lang="en-US" sz="2459">
                <a:solidFill>
                  <a:srgbClr val="FFFFFF"/>
                </a:solidFill>
                <a:latin typeface="Helios"/>
                <a:ea typeface="Helios"/>
                <a:cs typeface="Helios"/>
                <a:sym typeface="Helios"/>
              </a:rPr>
              <a:t>The Result: Traditional LSTM failed significantly with only 20.00% Accuracy (R^2).</a:t>
            </a:r>
          </a:p>
          <a:p>
            <a:pPr algn="l" marL="531111" indent="-265556" lvl="1">
              <a:lnSpc>
                <a:spcPts val="3443"/>
              </a:lnSpc>
              <a:buFont typeface="Arial"/>
              <a:buChar char="•"/>
            </a:pPr>
            <a:r>
              <a:rPr lang="en-US" sz="2459">
                <a:solidFill>
                  <a:srgbClr val="FFFFFF"/>
                </a:solidFill>
                <a:latin typeface="Helios"/>
                <a:ea typeface="Helios"/>
                <a:cs typeface="Helios"/>
                <a:sym typeface="Helios"/>
              </a:rPr>
              <a:t>The Bottleneck: LSTMs require complex 3D sequential formatting and struggle to prioritize static tabular features compared to pure time-series data.</a:t>
            </a:r>
          </a:p>
          <a:p>
            <a:pPr algn="l">
              <a:lnSpc>
                <a:spcPts val="3443"/>
              </a:lnSpc>
            </a:pPr>
          </a:p>
        </p:txBody>
      </p:sp>
      <p:sp>
        <p:nvSpPr>
          <p:cNvPr name="TextBox 14" id="14"/>
          <p:cNvSpPr txBox="true"/>
          <p:nvPr/>
        </p:nvSpPr>
        <p:spPr>
          <a:xfrm rot="0">
            <a:off x="7023141" y="740808"/>
            <a:ext cx="10765970" cy="1144906"/>
          </a:xfrm>
          <a:prstGeom prst="rect">
            <a:avLst/>
          </a:prstGeom>
        </p:spPr>
        <p:txBody>
          <a:bodyPr anchor="t" rtlCol="false" tIns="0" lIns="0" bIns="0" rIns="0">
            <a:spAutoFit/>
          </a:bodyPr>
          <a:lstStyle/>
          <a:p>
            <a:pPr algn="ctr">
              <a:lnSpc>
                <a:spcPts val="4619"/>
              </a:lnSpc>
              <a:spcBef>
                <a:spcPct val="0"/>
              </a:spcBef>
            </a:pPr>
            <a:r>
              <a:rPr lang="en-US" sz="3299">
                <a:solidFill>
                  <a:srgbClr val="B100E8"/>
                </a:solidFill>
                <a:latin typeface="Montserrat Classic"/>
                <a:ea typeface="Montserrat Classic"/>
                <a:cs typeface="Montserrat Classic"/>
                <a:sym typeface="Montserrat Classic"/>
              </a:rPr>
              <a:t>The Problem: Is Deep Learning (LSTM) better for Time-Series?</a:t>
            </a:r>
          </a:p>
        </p:txBody>
      </p:sp>
      <p:sp>
        <p:nvSpPr>
          <p:cNvPr name="TextBox 15" id="15"/>
          <p:cNvSpPr txBox="true"/>
          <p:nvPr/>
        </p:nvSpPr>
        <p:spPr>
          <a:xfrm rot="0">
            <a:off x="7172053" y="6463866"/>
            <a:ext cx="9780888" cy="5531718"/>
          </a:xfrm>
          <a:prstGeom prst="rect">
            <a:avLst/>
          </a:prstGeom>
        </p:spPr>
        <p:txBody>
          <a:bodyPr anchor="t" rtlCol="false" tIns="0" lIns="0" bIns="0" rIns="0">
            <a:spAutoFit/>
          </a:bodyPr>
          <a:lstStyle/>
          <a:p>
            <a:pPr algn="l">
              <a:lnSpc>
                <a:spcPts val="3635"/>
              </a:lnSpc>
            </a:pPr>
            <a:r>
              <a:rPr lang="en-US" sz="2596" b="true">
                <a:solidFill>
                  <a:srgbClr val="048AFF"/>
                </a:solidFill>
                <a:latin typeface="Helios Bold"/>
                <a:ea typeface="Helios Bold"/>
                <a:cs typeface="Helios Bold"/>
                <a:sym typeface="Helios Bold"/>
              </a:rPr>
              <a:t>The Solution: Transition to Tree-Based Ensembles</a:t>
            </a:r>
          </a:p>
          <a:p>
            <a:pPr algn="l" marL="560679" indent="-280340" lvl="1">
              <a:lnSpc>
                <a:spcPts val="3635"/>
              </a:lnSpc>
              <a:buFont typeface="Arial"/>
              <a:buChar char="•"/>
            </a:pPr>
            <a:r>
              <a:rPr lang="en-US" b="true" sz="2596">
                <a:solidFill>
                  <a:srgbClr val="FFFFFF"/>
                </a:solidFill>
                <a:latin typeface="Helios Bold"/>
                <a:ea typeface="Helios Bold"/>
                <a:cs typeface="Helios Bold"/>
                <a:sym typeface="Helios Bold"/>
              </a:rPr>
              <a:t>Shift</a:t>
            </a:r>
            <a:r>
              <a:rPr lang="en-US" b="true" sz="2596">
                <a:solidFill>
                  <a:srgbClr val="FFFFFF"/>
                </a:solidFill>
                <a:latin typeface="Helios Bold"/>
                <a:ea typeface="Helios Bold"/>
                <a:cs typeface="Helios Bold"/>
                <a:sym typeface="Helios Bold"/>
              </a:rPr>
              <a:t>ed focus from sequential deep learning to Tree-based algorithms which are inherently superior for structured, feature-rich tabular datasets.</a:t>
            </a:r>
          </a:p>
          <a:p>
            <a:pPr algn="l">
              <a:lnSpc>
                <a:spcPts val="3635"/>
              </a:lnSpc>
            </a:pPr>
          </a:p>
          <a:p>
            <a:pPr algn="l">
              <a:lnSpc>
                <a:spcPts val="3635"/>
              </a:lnSpc>
            </a:pPr>
            <a:r>
              <a:rPr lang="en-US" sz="2596" b="true">
                <a:solidFill>
                  <a:srgbClr val="FFFFFF"/>
                </a:solidFill>
                <a:latin typeface="Helios Bold"/>
                <a:ea typeface="Helios Bold"/>
                <a:cs typeface="Helios Bold"/>
                <a:sym typeface="Helios Bold"/>
              </a:rPr>
              <a:t> </a:t>
            </a:r>
          </a:p>
          <a:p>
            <a:pPr algn="l">
              <a:lnSpc>
                <a:spcPts val="3635"/>
              </a:lnSpc>
            </a:pPr>
            <a:r>
              <a:rPr lang="en-US" sz="2596" b="true">
                <a:solidFill>
                  <a:srgbClr val="FFFFFF"/>
                </a:solidFill>
                <a:latin typeface="Helios Bold"/>
                <a:ea typeface="Helios Bold"/>
                <a:cs typeface="Helios Bold"/>
                <a:sym typeface="Helios Bold"/>
              </a:rPr>
              <a:t> </a:t>
            </a:r>
          </a:p>
          <a:p>
            <a:pPr algn="l">
              <a:lnSpc>
                <a:spcPts val="3635"/>
              </a:lnSpc>
            </a:pPr>
          </a:p>
          <a:p>
            <a:pPr algn="l">
              <a:lnSpc>
                <a:spcPts val="3635"/>
              </a:lnSpc>
            </a:pPr>
          </a:p>
          <a:p>
            <a:pPr algn="l">
              <a:lnSpc>
                <a:spcPts val="3635"/>
              </a:lnSpc>
            </a:pPr>
          </a:p>
          <a:p>
            <a:pPr algn="l">
              <a:lnSpc>
                <a:spcPts val="3635"/>
              </a:lnSpc>
            </a:pPr>
          </a:p>
          <a:p>
            <a:pPr algn="l">
              <a:lnSpc>
                <a:spcPts val="3635"/>
              </a:lnSpc>
            </a:pP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02267E"/>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598077" y="2169321"/>
          <a:ext cx="12081627" cy="7574012"/>
        </p:xfrm>
        <a:graphic>
          <a:graphicData uri="http://schemas.openxmlformats.org/drawingml/2006/table">
            <a:tbl>
              <a:tblPr/>
              <a:tblGrid>
                <a:gridCol w="5851003"/>
                <a:gridCol w="6230623"/>
              </a:tblGrid>
              <a:tr h="938169">
                <a:tc>
                  <a:txBody>
                    <a:bodyPr anchor="t" rtlCol="false"/>
                    <a:lstStyle/>
                    <a:p>
                      <a:pPr algn="ctr">
                        <a:lnSpc>
                          <a:spcPts val="204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864"/>
                        </a:lnSpc>
                        <a:defRPr/>
                      </a:pPr>
                      <a:r>
                        <a:rPr lang="en-US" sz="2760" b="true">
                          <a:solidFill>
                            <a:srgbClr val="B100E8"/>
                          </a:solidFill>
                          <a:latin typeface="Open Sauce Bold"/>
                          <a:ea typeface="Open Sauce Bold"/>
                          <a:cs typeface="Open Sauce Bold"/>
                          <a:sym typeface="Open Sauce Bold"/>
                        </a:rPr>
                        <a:t>XG Boost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2608491">
                <a:tc>
                  <a:txBody>
                    <a:bodyPr anchor="t" rtlCol="false"/>
                    <a:lstStyle/>
                    <a:p>
                      <a:pPr algn="ctr">
                        <a:lnSpc>
                          <a:spcPts val="204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04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4027352">
                <a:tc>
                  <a:txBody>
                    <a:bodyPr anchor="t" rtlCol="false"/>
                    <a:lstStyle/>
                    <a:p>
                      <a:pPr algn="ctr">
                        <a:lnSpc>
                          <a:spcPts val="204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04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3" id="3"/>
          <p:cNvSpPr txBox="true"/>
          <p:nvPr/>
        </p:nvSpPr>
        <p:spPr>
          <a:xfrm rot="0">
            <a:off x="2429209" y="2435228"/>
            <a:ext cx="2662952" cy="428625"/>
          </a:xfrm>
          <a:prstGeom prst="rect">
            <a:avLst/>
          </a:prstGeom>
        </p:spPr>
        <p:txBody>
          <a:bodyPr anchor="t" rtlCol="false" tIns="0" lIns="0" bIns="0" rIns="0">
            <a:spAutoFit/>
          </a:bodyPr>
          <a:lstStyle/>
          <a:p>
            <a:pPr algn="l">
              <a:lnSpc>
                <a:spcPts val="3312"/>
              </a:lnSpc>
              <a:spcBef>
                <a:spcPct val="0"/>
              </a:spcBef>
            </a:pPr>
            <a:r>
              <a:rPr lang="en-US" b="true" sz="2760">
                <a:solidFill>
                  <a:srgbClr val="B100E8"/>
                </a:solidFill>
                <a:latin typeface="Open Sauce Bold"/>
                <a:ea typeface="Open Sauce Bold"/>
                <a:cs typeface="Open Sauce Bold"/>
                <a:sym typeface="Open Sauce Bold"/>
              </a:rPr>
              <a:t>Random Forest</a:t>
            </a:r>
          </a:p>
        </p:txBody>
      </p:sp>
      <p:sp>
        <p:nvSpPr>
          <p:cNvPr name="TextBox 4" id="4"/>
          <p:cNvSpPr txBox="true"/>
          <p:nvPr/>
        </p:nvSpPr>
        <p:spPr>
          <a:xfrm rot="0">
            <a:off x="1635900" y="3365506"/>
            <a:ext cx="4687985" cy="2105025"/>
          </a:xfrm>
          <a:prstGeom prst="rect">
            <a:avLst/>
          </a:prstGeom>
        </p:spPr>
        <p:txBody>
          <a:bodyPr anchor="t" rtlCol="false" tIns="0" lIns="0" bIns="0" rIns="0">
            <a:spAutoFit/>
          </a:bodyPr>
          <a:lstStyle/>
          <a:p>
            <a:pPr algn="l" marL="595902" indent="-297951" lvl="1">
              <a:lnSpc>
                <a:spcPts val="3312"/>
              </a:lnSpc>
              <a:spcBef>
                <a:spcPct val="0"/>
              </a:spcBef>
              <a:buFont typeface="Arial"/>
              <a:buChar char="•"/>
            </a:pPr>
            <a:r>
              <a:rPr lang="en-US" sz="2760">
                <a:solidFill>
                  <a:srgbClr val="FFFFFF"/>
                </a:solidFill>
                <a:latin typeface="Open Sauce"/>
                <a:ea typeface="Open Sauce"/>
                <a:cs typeface="Open Sauce"/>
                <a:sym typeface="Open Sauce"/>
              </a:rPr>
              <a:t>T</a:t>
            </a:r>
            <a:r>
              <a:rPr lang="en-US" sz="2760">
                <a:solidFill>
                  <a:srgbClr val="FFFFFF"/>
                </a:solidFill>
                <a:latin typeface="Open Sauce"/>
                <a:ea typeface="Open Sauce"/>
                <a:cs typeface="Open Sauce"/>
                <a:sym typeface="Open Sauce"/>
              </a:rPr>
              <a:t>es</a:t>
            </a:r>
            <a:r>
              <a:rPr lang="en-US" sz="2760">
                <a:solidFill>
                  <a:srgbClr val="FFFFFF"/>
                </a:solidFill>
                <a:latin typeface="Open Sauce"/>
                <a:ea typeface="Open Sauce"/>
                <a:cs typeface="Open Sauce"/>
                <a:sym typeface="Open Sauce"/>
              </a:rPr>
              <a:t>t Accur</a:t>
            </a:r>
            <a:r>
              <a:rPr lang="en-US" sz="2760">
                <a:solidFill>
                  <a:srgbClr val="FFFFFF"/>
                </a:solidFill>
                <a:latin typeface="Open Sauce"/>
                <a:ea typeface="Open Sauce"/>
                <a:cs typeface="Open Sauce"/>
                <a:sym typeface="Open Sauce"/>
              </a:rPr>
              <a:t>acy</a:t>
            </a:r>
            <a:r>
              <a:rPr lang="en-US" sz="2760">
                <a:solidFill>
                  <a:srgbClr val="FFFFFF"/>
                </a:solidFill>
                <a:latin typeface="Open Sauce"/>
                <a:ea typeface="Open Sauce"/>
                <a:cs typeface="Open Sauce"/>
                <a:sym typeface="Open Sauce"/>
              </a:rPr>
              <a:t> (R²): 86.56%</a:t>
            </a:r>
          </a:p>
          <a:p>
            <a:pPr algn="l" marL="595902" indent="-297951" lvl="1">
              <a:lnSpc>
                <a:spcPts val="3312"/>
              </a:lnSpc>
              <a:spcBef>
                <a:spcPct val="0"/>
              </a:spcBef>
              <a:buFont typeface="Arial"/>
              <a:buChar char="•"/>
            </a:pPr>
            <a:r>
              <a:rPr lang="en-US" sz="2760">
                <a:solidFill>
                  <a:srgbClr val="FFFFFF"/>
                </a:solidFill>
                <a:latin typeface="Open Sauce"/>
                <a:ea typeface="Open Sauce"/>
                <a:cs typeface="Open Sauce"/>
                <a:sym typeface="Open Sauce"/>
              </a:rPr>
              <a:t>MAE: 773€</a:t>
            </a:r>
          </a:p>
          <a:p>
            <a:pPr algn="l" marL="595902" indent="-297951" lvl="1">
              <a:lnSpc>
                <a:spcPts val="3312"/>
              </a:lnSpc>
              <a:spcBef>
                <a:spcPct val="0"/>
              </a:spcBef>
              <a:buFont typeface="Arial"/>
              <a:buChar char="•"/>
            </a:pPr>
            <a:r>
              <a:rPr lang="en-US" sz="2760">
                <a:solidFill>
                  <a:srgbClr val="FFFFFF"/>
                </a:solidFill>
                <a:latin typeface="Open Sauce"/>
                <a:ea typeface="Open Sauce"/>
                <a:cs typeface="Open Sauce"/>
                <a:sym typeface="Open Sauce"/>
              </a:rPr>
              <a:t>RMSE: : 1111.98€</a:t>
            </a:r>
          </a:p>
          <a:p>
            <a:pPr algn="l">
              <a:lnSpc>
                <a:spcPts val="3312"/>
              </a:lnSpc>
              <a:spcBef>
                <a:spcPct val="0"/>
              </a:spcBef>
            </a:pPr>
          </a:p>
        </p:txBody>
      </p:sp>
      <p:sp>
        <p:nvSpPr>
          <p:cNvPr name="TextBox 5" id="5"/>
          <p:cNvSpPr txBox="true"/>
          <p:nvPr/>
        </p:nvSpPr>
        <p:spPr>
          <a:xfrm rot="0">
            <a:off x="6940455" y="3365506"/>
            <a:ext cx="4407089" cy="2105025"/>
          </a:xfrm>
          <a:prstGeom prst="rect">
            <a:avLst/>
          </a:prstGeom>
        </p:spPr>
        <p:txBody>
          <a:bodyPr anchor="t" rtlCol="false" tIns="0" lIns="0" bIns="0" rIns="0">
            <a:spAutoFit/>
          </a:bodyPr>
          <a:lstStyle/>
          <a:p>
            <a:pPr algn="l" marL="595902" indent="-297951" lvl="1">
              <a:lnSpc>
                <a:spcPts val="3312"/>
              </a:lnSpc>
              <a:buFont typeface="Arial"/>
              <a:buChar char="•"/>
            </a:pPr>
            <a:r>
              <a:rPr lang="en-US" sz="2760">
                <a:solidFill>
                  <a:srgbClr val="FFFFFF"/>
                </a:solidFill>
                <a:latin typeface="Open Sauce"/>
                <a:ea typeface="Open Sauce"/>
                <a:cs typeface="Open Sauce"/>
                <a:sym typeface="Open Sauce"/>
              </a:rPr>
              <a:t>T</a:t>
            </a:r>
            <a:r>
              <a:rPr lang="en-US" sz="2760">
                <a:solidFill>
                  <a:srgbClr val="FFFFFF"/>
                </a:solidFill>
                <a:latin typeface="Open Sauce"/>
                <a:ea typeface="Open Sauce"/>
                <a:cs typeface="Open Sauce"/>
                <a:sym typeface="Open Sauce"/>
              </a:rPr>
              <a:t>est</a:t>
            </a:r>
            <a:r>
              <a:rPr lang="en-US" sz="2760">
                <a:solidFill>
                  <a:srgbClr val="FFFFFF"/>
                </a:solidFill>
                <a:latin typeface="Open Sauce"/>
                <a:ea typeface="Open Sauce"/>
                <a:cs typeface="Open Sauce"/>
                <a:sym typeface="Open Sauce"/>
              </a:rPr>
              <a:t> Accuracy (R²): 90.46%</a:t>
            </a:r>
          </a:p>
          <a:p>
            <a:pPr algn="l" marL="595902" indent="-297951" lvl="1">
              <a:lnSpc>
                <a:spcPts val="3312"/>
              </a:lnSpc>
              <a:spcBef>
                <a:spcPct val="0"/>
              </a:spcBef>
              <a:buFont typeface="Arial"/>
              <a:buChar char="•"/>
            </a:pPr>
            <a:r>
              <a:rPr lang="en-US" sz="2760">
                <a:solidFill>
                  <a:srgbClr val="FFFFFF"/>
                </a:solidFill>
                <a:latin typeface="Open Sauce"/>
                <a:ea typeface="Open Sauce"/>
                <a:cs typeface="Open Sauce"/>
                <a:sym typeface="Open Sauce"/>
              </a:rPr>
              <a:t>MAE:</a:t>
            </a:r>
            <a:r>
              <a:rPr lang="en-US" sz="2760">
                <a:solidFill>
                  <a:srgbClr val="FFFFFF"/>
                </a:solidFill>
                <a:latin typeface="Open Sauce"/>
                <a:ea typeface="Open Sauce"/>
                <a:cs typeface="Open Sauce"/>
                <a:sym typeface="Open Sauce"/>
              </a:rPr>
              <a:t> 661€</a:t>
            </a:r>
          </a:p>
          <a:p>
            <a:pPr algn="l" marL="595902" indent="-297951" lvl="1">
              <a:lnSpc>
                <a:spcPts val="3312"/>
              </a:lnSpc>
              <a:spcBef>
                <a:spcPct val="0"/>
              </a:spcBef>
              <a:buFont typeface="Arial"/>
              <a:buChar char="•"/>
            </a:pPr>
            <a:r>
              <a:rPr lang="en-US" sz="2760">
                <a:solidFill>
                  <a:srgbClr val="FFFFFF"/>
                </a:solidFill>
                <a:latin typeface="Open Sauce"/>
                <a:ea typeface="Open Sauce"/>
                <a:cs typeface="Open Sauce"/>
                <a:sym typeface="Open Sauce"/>
              </a:rPr>
              <a:t>RMSE: 936€</a:t>
            </a:r>
          </a:p>
          <a:p>
            <a:pPr algn="l">
              <a:lnSpc>
                <a:spcPts val="3312"/>
              </a:lnSpc>
              <a:spcBef>
                <a:spcPct val="0"/>
              </a:spcBef>
            </a:pPr>
          </a:p>
        </p:txBody>
      </p:sp>
      <p:grpSp>
        <p:nvGrpSpPr>
          <p:cNvPr name="Group 6" id="6"/>
          <p:cNvGrpSpPr/>
          <p:nvPr/>
        </p:nvGrpSpPr>
        <p:grpSpPr>
          <a:xfrm rot="0">
            <a:off x="13070229" y="0"/>
            <a:ext cx="7058583" cy="10287000"/>
            <a:chOff x="0" y="0"/>
            <a:chExt cx="1859051" cy="2709333"/>
          </a:xfrm>
        </p:grpSpPr>
        <p:sp>
          <p:nvSpPr>
            <p:cNvPr name="Freeform 7" id="7"/>
            <p:cNvSpPr/>
            <p:nvPr/>
          </p:nvSpPr>
          <p:spPr>
            <a:xfrm flipH="false" flipV="false" rot="0">
              <a:off x="0" y="0"/>
              <a:ext cx="1859051" cy="2709333"/>
            </a:xfrm>
            <a:custGeom>
              <a:avLst/>
              <a:gdLst/>
              <a:ahLst/>
              <a:cxnLst/>
              <a:rect r="r" b="b" t="t" l="l"/>
              <a:pathLst>
                <a:path h="2709333" w="1859051">
                  <a:moveTo>
                    <a:pt x="0" y="0"/>
                  </a:moveTo>
                  <a:lnTo>
                    <a:pt x="1859051" y="0"/>
                  </a:lnTo>
                  <a:lnTo>
                    <a:pt x="1859051" y="2709333"/>
                  </a:lnTo>
                  <a:lnTo>
                    <a:pt x="0" y="2709333"/>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8" id="8"/>
            <p:cNvSpPr txBox="true"/>
            <p:nvPr/>
          </p:nvSpPr>
          <p:spPr>
            <a:xfrm>
              <a:off x="0" y="-28575"/>
              <a:ext cx="1859051" cy="2737908"/>
            </a:xfrm>
            <a:prstGeom prst="rect">
              <a:avLst/>
            </a:prstGeom>
          </p:spPr>
          <p:txBody>
            <a:bodyPr anchor="ctr" rtlCol="false" tIns="50800" lIns="50800" bIns="50800" rIns="50800"/>
            <a:lstStyle/>
            <a:p>
              <a:pPr algn="ctr">
                <a:lnSpc>
                  <a:spcPts val="2100"/>
                </a:lnSpc>
              </a:pPr>
            </a:p>
          </p:txBody>
        </p:sp>
      </p:grpSp>
      <p:sp>
        <p:nvSpPr>
          <p:cNvPr name="TextBox 9" id="9"/>
          <p:cNvSpPr txBox="true"/>
          <p:nvPr/>
        </p:nvSpPr>
        <p:spPr>
          <a:xfrm rot="0">
            <a:off x="598077" y="435771"/>
            <a:ext cx="11722536" cy="1247775"/>
          </a:xfrm>
          <a:prstGeom prst="rect">
            <a:avLst/>
          </a:prstGeom>
        </p:spPr>
        <p:txBody>
          <a:bodyPr anchor="t" rtlCol="false" tIns="0" lIns="0" bIns="0" rIns="0">
            <a:spAutoFit/>
          </a:bodyPr>
          <a:lstStyle/>
          <a:p>
            <a:pPr algn="l">
              <a:lnSpc>
                <a:spcPts val="3360"/>
              </a:lnSpc>
            </a:pPr>
            <a:r>
              <a:rPr lang="en-US" sz="2800">
                <a:solidFill>
                  <a:srgbClr val="FFFFFF"/>
                </a:solidFill>
                <a:latin typeface="TT Hoves"/>
                <a:ea typeface="TT Hoves"/>
                <a:cs typeface="TT Hoves"/>
                <a:sym typeface="TT Hoves"/>
              </a:rPr>
              <a:t>How to handle sudden sales spikes (Promos/Holidays) and complex non-linear relationships across 1,115 stores?</a:t>
            </a:r>
          </a:p>
          <a:p>
            <a:pPr algn="l">
              <a:lnSpc>
                <a:spcPts val="3360"/>
              </a:lnSpc>
            </a:pPr>
            <a:r>
              <a:rPr lang="en-US" b="true" sz="2800">
                <a:solidFill>
                  <a:srgbClr val="048AFF"/>
                </a:solidFill>
                <a:latin typeface="TT Hoves Bold"/>
                <a:ea typeface="TT Hoves Bold"/>
                <a:cs typeface="TT Hoves Bold"/>
                <a:sym typeface="TT Hoves Bold"/>
              </a:rPr>
              <a:t>The Solution:</a:t>
            </a:r>
            <a:r>
              <a:rPr lang="en-US" b="true" sz="2800">
                <a:solidFill>
                  <a:srgbClr val="FFFFFF"/>
                </a:solidFill>
                <a:latin typeface="TT Hoves Bold"/>
                <a:ea typeface="TT Hoves Bold"/>
                <a:cs typeface="TT Hoves Bold"/>
                <a:sym typeface="TT Hoves Bold"/>
              </a:rPr>
              <a:t> </a:t>
            </a:r>
            <a:r>
              <a:rPr lang="en-US" sz="2800">
                <a:solidFill>
                  <a:srgbClr val="FFFFFF"/>
                </a:solidFill>
                <a:latin typeface="TT Hoves"/>
                <a:ea typeface="TT Hoves"/>
                <a:cs typeface="TT Hoves"/>
                <a:sym typeface="TT Hoves"/>
              </a:rPr>
              <a:t>Random Forest vs. XGBoost</a:t>
            </a:r>
          </a:p>
        </p:txBody>
      </p:sp>
      <p:sp>
        <p:nvSpPr>
          <p:cNvPr name="TextBox 10" id="10"/>
          <p:cNvSpPr txBox="true"/>
          <p:nvPr/>
        </p:nvSpPr>
        <p:spPr>
          <a:xfrm rot="0">
            <a:off x="998384" y="5927731"/>
            <a:ext cx="5942071" cy="3124278"/>
          </a:xfrm>
          <a:prstGeom prst="rect">
            <a:avLst/>
          </a:prstGeom>
        </p:spPr>
        <p:txBody>
          <a:bodyPr anchor="t" rtlCol="false" tIns="0" lIns="0" bIns="0" rIns="0">
            <a:spAutoFit/>
          </a:bodyPr>
          <a:lstStyle/>
          <a:p>
            <a:pPr algn="ctr">
              <a:lnSpc>
                <a:spcPts val="4195"/>
              </a:lnSpc>
            </a:pPr>
            <a:r>
              <a:rPr lang="en-US" sz="2996" b="true">
                <a:solidFill>
                  <a:srgbClr val="048AFF"/>
                </a:solidFill>
                <a:latin typeface="Helios Bold"/>
                <a:ea typeface="Helios Bold"/>
                <a:cs typeface="Helios Bold"/>
                <a:sym typeface="Helios Bold"/>
              </a:rPr>
              <a:t>Strengths : </a:t>
            </a:r>
            <a:r>
              <a:rPr lang="en-US" sz="2996" b="true">
                <a:solidFill>
                  <a:srgbClr val="FFFFFF"/>
                </a:solidFill>
                <a:latin typeface="Helios Bold"/>
                <a:ea typeface="Helios Bold"/>
                <a:cs typeface="Helios Bold"/>
                <a:sym typeface="Helios Bold"/>
              </a:rPr>
              <a:t>                               </a:t>
            </a:r>
          </a:p>
          <a:p>
            <a:pPr algn="l" marL="647038" indent="-323519" lvl="1">
              <a:lnSpc>
                <a:spcPts val="4195"/>
              </a:lnSpc>
              <a:buFont typeface="Arial"/>
              <a:buChar char="•"/>
            </a:pPr>
            <a:r>
              <a:rPr lang="en-US" b="true" sz="2996">
                <a:solidFill>
                  <a:srgbClr val="FFFFFF"/>
                </a:solidFill>
                <a:latin typeface="Helios Bold"/>
                <a:ea typeface="Helios Bold"/>
                <a:cs typeface="Helios Bold"/>
                <a:sym typeface="Helios Bold"/>
              </a:rPr>
              <a:t>C</a:t>
            </a:r>
            <a:r>
              <a:rPr lang="en-US" b="true" sz="2996">
                <a:solidFill>
                  <a:srgbClr val="FFFFFF"/>
                </a:solidFill>
                <a:latin typeface="Helios Bold"/>
                <a:ea typeface="Helios Bold"/>
                <a:cs typeface="Helios Bold"/>
                <a:sym typeface="Helios Bold"/>
              </a:rPr>
              <a:t>aptured nonlinear relationships well</a:t>
            </a:r>
          </a:p>
          <a:p>
            <a:pPr algn="l" marL="647038" indent="-323519" lvl="1">
              <a:lnSpc>
                <a:spcPts val="4195"/>
              </a:lnSpc>
              <a:buFont typeface="Arial"/>
              <a:buChar char="•"/>
            </a:pPr>
            <a:r>
              <a:rPr lang="en-US" b="true" sz="2996">
                <a:solidFill>
                  <a:srgbClr val="FFFFFF"/>
                </a:solidFill>
                <a:latin typeface="Helios Bold"/>
                <a:ea typeface="Helios Bold"/>
                <a:cs typeface="Helios Bold"/>
                <a:sym typeface="Helios Bold"/>
              </a:rPr>
              <a:t>Strong baseline performance</a:t>
            </a:r>
          </a:p>
          <a:p>
            <a:pPr algn="ctr">
              <a:lnSpc>
                <a:spcPts val="4195"/>
              </a:lnSpc>
              <a:spcBef>
                <a:spcPct val="0"/>
              </a:spcBef>
            </a:pPr>
          </a:p>
        </p:txBody>
      </p:sp>
      <p:sp>
        <p:nvSpPr>
          <p:cNvPr name="TextBox 11" id="11"/>
          <p:cNvSpPr txBox="true"/>
          <p:nvPr/>
        </p:nvSpPr>
        <p:spPr>
          <a:xfrm rot="0">
            <a:off x="6710661" y="5927731"/>
            <a:ext cx="5609952" cy="3841003"/>
          </a:xfrm>
          <a:prstGeom prst="rect">
            <a:avLst/>
          </a:prstGeom>
        </p:spPr>
        <p:txBody>
          <a:bodyPr anchor="t" rtlCol="false" tIns="0" lIns="0" bIns="0" rIns="0">
            <a:spAutoFit/>
          </a:bodyPr>
          <a:lstStyle/>
          <a:p>
            <a:pPr algn="ctr">
              <a:lnSpc>
                <a:spcPts val="3961"/>
              </a:lnSpc>
            </a:pPr>
            <a:r>
              <a:rPr lang="en-US" sz="2829" b="true">
                <a:solidFill>
                  <a:srgbClr val="048AFF"/>
                </a:solidFill>
                <a:latin typeface="Helios Bold"/>
                <a:ea typeface="Helios Bold"/>
                <a:cs typeface="Helios Bold"/>
                <a:sym typeface="Helios Bold"/>
              </a:rPr>
              <a:t>Strengths : </a:t>
            </a:r>
            <a:r>
              <a:rPr lang="en-US" sz="2829" b="true">
                <a:solidFill>
                  <a:srgbClr val="FFFFFF"/>
                </a:solidFill>
                <a:latin typeface="Helios Bold"/>
                <a:ea typeface="Helios Bold"/>
                <a:cs typeface="Helios Bold"/>
                <a:sym typeface="Helios Bold"/>
              </a:rPr>
              <a:t>                        </a:t>
            </a:r>
          </a:p>
          <a:p>
            <a:pPr algn="l" marL="589284" indent="-294642" lvl="1">
              <a:lnSpc>
                <a:spcPts val="3821"/>
              </a:lnSpc>
              <a:buFont typeface="Arial"/>
              <a:buChar char="•"/>
            </a:pPr>
            <a:r>
              <a:rPr lang="en-US" b="true" sz="2729">
                <a:solidFill>
                  <a:srgbClr val="FFFFFF"/>
                </a:solidFill>
                <a:latin typeface="Helios Bold"/>
                <a:ea typeface="Helios Bold"/>
                <a:cs typeface="Helios Bold"/>
                <a:sym typeface="Helios Bold"/>
              </a:rPr>
              <a:t>Be</a:t>
            </a:r>
            <a:r>
              <a:rPr lang="en-US" b="true" sz="2729">
                <a:solidFill>
                  <a:srgbClr val="FFFFFF"/>
                </a:solidFill>
                <a:latin typeface="Helios Bold"/>
                <a:ea typeface="Helios Bold"/>
                <a:cs typeface="Helios Bold"/>
                <a:sym typeface="Helios Bold"/>
              </a:rPr>
              <a:t>tter handling of complex feature interactions</a:t>
            </a:r>
          </a:p>
          <a:p>
            <a:pPr algn="l" marL="589284" indent="-294642" lvl="1">
              <a:lnSpc>
                <a:spcPts val="3821"/>
              </a:lnSpc>
              <a:buFont typeface="Arial"/>
              <a:buChar char="•"/>
            </a:pPr>
            <a:r>
              <a:rPr lang="en-US" b="true" sz="2729">
                <a:solidFill>
                  <a:srgbClr val="FFFFFF"/>
                </a:solidFill>
                <a:latin typeface="Helios Bold"/>
                <a:ea typeface="Helios Bold"/>
                <a:cs typeface="Helios Bold"/>
                <a:sym typeface="Helios Bold"/>
              </a:rPr>
              <a:t>Strong generalization capability</a:t>
            </a:r>
          </a:p>
          <a:p>
            <a:pPr algn="l" marL="589284" indent="-294642" lvl="1">
              <a:lnSpc>
                <a:spcPts val="3821"/>
              </a:lnSpc>
              <a:buFont typeface="Arial"/>
              <a:buChar char="•"/>
            </a:pPr>
            <a:r>
              <a:rPr lang="en-US" b="true" sz="2729">
                <a:solidFill>
                  <a:srgbClr val="FFFFFF"/>
                </a:solidFill>
                <a:latin typeface="Helios Bold"/>
                <a:ea typeface="Helios Bold"/>
                <a:cs typeface="Helios Bold"/>
                <a:sym typeface="Helios Bold"/>
              </a:rPr>
              <a:t>Reduced prediction error significantly</a:t>
            </a:r>
          </a:p>
          <a:p>
            <a:pPr algn="ctr">
              <a:lnSpc>
                <a:spcPts val="3961"/>
              </a:lnSpc>
              <a:spcBef>
                <a:spcPct val="0"/>
              </a:spcBef>
            </a:pPr>
          </a:p>
        </p:txBody>
      </p:sp>
      <p:sp>
        <p:nvSpPr>
          <p:cNvPr name="TextBox 12" id="12"/>
          <p:cNvSpPr txBox="true"/>
          <p:nvPr/>
        </p:nvSpPr>
        <p:spPr>
          <a:xfrm rot="0">
            <a:off x="13297185" y="426246"/>
            <a:ext cx="5269087" cy="1943100"/>
          </a:xfrm>
          <a:prstGeom prst="rect">
            <a:avLst/>
          </a:prstGeom>
        </p:spPr>
        <p:txBody>
          <a:bodyPr anchor="t" rtlCol="false" tIns="0" lIns="0" bIns="0" rIns="0">
            <a:spAutoFit/>
          </a:bodyPr>
          <a:lstStyle/>
          <a:p>
            <a:pPr algn="l">
              <a:lnSpc>
                <a:spcPts val="5160"/>
              </a:lnSpc>
            </a:pPr>
            <a:r>
              <a:rPr lang="en-US" b="true" sz="4300">
                <a:solidFill>
                  <a:srgbClr val="FFFFFF"/>
                </a:solidFill>
                <a:latin typeface="TT Hoves Bold"/>
                <a:ea typeface="TT Hoves Bold"/>
                <a:cs typeface="TT Hoves Bold"/>
                <a:sym typeface="TT Hoves Bold"/>
              </a:rPr>
              <a:t>The Winning Solution — Tree-Based Ensembles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0">
            <a:off x="-8344763" y="4270557"/>
            <a:ext cx="17894953" cy="17894953"/>
          </a:xfrm>
          <a:custGeom>
            <a:avLst/>
            <a:gdLst/>
            <a:ahLst/>
            <a:cxnLst/>
            <a:rect r="r" b="b" t="t" l="l"/>
            <a:pathLst>
              <a:path h="17894953" w="17894953">
                <a:moveTo>
                  <a:pt x="0" y="0"/>
                </a:moveTo>
                <a:lnTo>
                  <a:pt x="17894952" y="0"/>
                </a:lnTo>
                <a:lnTo>
                  <a:pt x="17894952" y="17894953"/>
                </a:lnTo>
                <a:lnTo>
                  <a:pt x="0" y="178949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6446" y="-1739695"/>
            <a:ext cx="3308580" cy="3479391"/>
          </a:xfrm>
          <a:custGeom>
            <a:avLst/>
            <a:gdLst/>
            <a:ahLst/>
            <a:cxnLst/>
            <a:rect r="r" b="b" t="t" l="l"/>
            <a:pathLst>
              <a:path h="3479391" w="3308580">
                <a:moveTo>
                  <a:pt x="0" y="0"/>
                </a:moveTo>
                <a:lnTo>
                  <a:pt x="3308580" y="0"/>
                </a:lnTo>
                <a:lnTo>
                  <a:pt x="3308580" y="3479390"/>
                </a:lnTo>
                <a:lnTo>
                  <a:pt x="0" y="3479390"/>
                </a:lnTo>
                <a:lnTo>
                  <a:pt x="0" y="0"/>
                </a:lnTo>
                <a:close/>
              </a:path>
            </a:pathLst>
          </a:custGeom>
          <a:blipFill>
            <a:blip r:embed="rId4"/>
            <a:stretch>
              <a:fillRect l="-2647" t="0" r="-2647" b="0"/>
            </a:stretch>
          </a:blipFill>
        </p:spPr>
      </p:sp>
      <p:sp>
        <p:nvSpPr>
          <p:cNvPr name="Freeform 4" id="4"/>
          <p:cNvSpPr/>
          <p:nvPr/>
        </p:nvSpPr>
        <p:spPr>
          <a:xfrm flipH="false" flipV="false" rot="0">
            <a:off x="16778098" y="8802242"/>
            <a:ext cx="3308580" cy="3304444"/>
          </a:xfrm>
          <a:custGeom>
            <a:avLst/>
            <a:gdLst/>
            <a:ahLst/>
            <a:cxnLst/>
            <a:rect r="r" b="b" t="t" l="l"/>
            <a:pathLst>
              <a:path h="3304444" w="3308580">
                <a:moveTo>
                  <a:pt x="0" y="0"/>
                </a:moveTo>
                <a:lnTo>
                  <a:pt x="3308580" y="0"/>
                </a:lnTo>
                <a:lnTo>
                  <a:pt x="3308580" y="3304444"/>
                </a:lnTo>
                <a:lnTo>
                  <a:pt x="0" y="3304444"/>
                </a:lnTo>
                <a:lnTo>
                  <a:pt x="0" y="0"/>
                </a:lnTo>
                <a:close/>
              </a:path>
            </a:pathLst>
          </a:custGeom>
          <a:blipFill>
            <a:blip r:embed="rId4"/>
            <a:stretch>
              <a:fillRect l="0" t="0" r="0" b="0"/>
            </a:stretch>
          </a:blipFill>
        </p:spPr>
      </p:sp>
      <p:sp>
        <p:nvSpPr>
          <p:cNvPr name="Freeform 5" id="5"/>
          <p:cNvSpPr/>
          <p:nvPr/>
        </p:nvSpPr>
        <p:spPr>
          <a:xfrm flipH="false" flipV="false" rot="0">
            <a:off x="337844" y="1919386"/>
            <a:ext cx="8093935" cy="4702343"/>
          </a:xfrm>
          <a:custGeom>
            <a:avLst/>
            <a:gdLst/>
            <a:ahLst/>
            <a:cxnLst/>
            <a:rect r="r" b="b" t="t" l="l"/>
            <a:pathLst>
              <a:path h="4702343" w="8093935">
                <a:moveTo>
                  <a:pt x="0" y="0"/>
                </a:moveTo>
                <a:lnTo>
                  <a:pt x="8093936" y="0"/>
                </a:lnTo>
                <a:lnTo>
                  <a:pt x="8093936" y="4702343"/>
                </a:lnTo>
                <a:lnTo>
                  <a:pt x="0" y="4702343"/>
                </a:lnTo>
                <a:lnTo>
                  <a:pt x="0" y="0"/>
                </a:lnTo>
                <a:close/>
              </a:path>
            </a:pathLst>
          </a:custGeom>
          <a:blipFill>
            <a:blip r:embed="rId5"/>
            <a:stretch>
              <a:fillRect l="0" t="-1605" r="0" b="-1605"/>
            </a:stretch>
          </a:blipFill>
        </p:spPr>
      </p:sp>
      <p:sp>
        <p:nvSpPr>
          <p:cNvPr name="Freeform 6" id="6"/>
          <p:cNvSpPr/>
          <p:nvPr/>
        </p:nvSpPr>
        <p:spPr>
          <a:xfrm flipH="false" flipV="false" rot="0">
            <a:off x="9403494" y="5143500"/>
            <a:ext cx="8155762" cy="4931762"/>
          </a:xfrm>
          <a:custGeom>
            <a:avLst/>
            <a:gdLst/>
            <a:ahLst/>
            <a:cxnLst/>
            <a:rect r="r" b="b" t="t" l="l"/>
            <a:pathLst>
              <a:path h="4931762" w="8155762">
                <a:moveTo>
                  <a:pt x="0" y="0"/>
                </a:moveTo>
                <a:lnTo>
                  <a:pt x="8155762" y="0"/>
                </a:lnTo>
                <a:lnTo>
                  <a:pt x="8155762" y="4931762"/>
                </a:lnTo>
                <a:lnTo>
                  <a:pt x="0" y="4931762"/>
                </a:lnTo>
                <a:lnTo>
                  <a:pt x="0" y="0"/>
                </a:lnTo>
                <a:close/>
              </a:path>
            </a:pathLst>
          </a:custGeom>
          <a:blipFill>
            <a:blip r:embed="rId6"/>
            <a:stretch>
              <a:fillRect l="0" t="0" r="0" b="0"/>
            </a:stretch>
          </a:blipFill>
        </p:spPr>
      </p:sp>
      <p:sp>
        <p:nvSpPr>
          <p:cNvPr name="TextBox 7" id="7"/>
          <p:cNvSpPr txBox="true"/>
          <p:nvPr/>
        </p:nvSpPr>
        <p:spPr>
          <a:xfrm rot="0">
            <a:off x="1740272" y="186489"/>
            <a:ext cx="15619835" cy="759025"/>
          </a:xfrm>
          <a:prstGeom prst="rect">
            <a:avLst/>
          </a:prstGeom>
        </p:spPr>
        <p:txBody>
          <a:bodyPr anchor="t" rtlCol="false" tIns="0" lIns="0" bIns="0" rIns="0">
            <a:spAutoFit/>
          </a:bodyPr>
          <a:lstStyle/>
          <a:p>
            <a:pPr algn="ctr">
              <a:lnSpc>
                <a:spcPts val="6206"/>
              </a:lnSpc>
            </a:pPr>
            <a:r>
              <a:rPr lang="en-US" b="true" sz="4465">
                <a:solidFill>
                  <a:srgbClr val="FFFFFF"/>
                </a:solidFill>
                <a:latin typeface="TT Hoves Bold"/>
                <a:ea typeface="TT Hoves Bold"/>
                <a:cs typeface="TT Hoves Bold"/>
                <a:sym typeface="TT Hoves Bold"/>
              </a:rPr>
              <a:t>Model Predictions Comparison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13555870" y="9772650"/>
            <a:ext cx="5765006" cy="1028700"/>
            <a:chOff x="0" y="0"/>
            <a:chExt cx="1049690" cy="187305"/>
          </a:xfrm>
        </p:grpSpPr>
        <p:sp>
          <p:nvSpPr>
            <p:cNvPr name="Freeform 3" id="3"/>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4" id="4"/>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1559740">
            <a:off x="-3188391" y="-2724226"/>
            <a:ext cx="5257108" cy="5250537"/>
          </a:xfrm>
          <a:custGeom>
            <a:avLst/>
            <a:gdLst/>
            <a:ahLst/>
            <a:cxnLst/>
            <a:rect r="r" b="b" t="t" l="l"/>
            <a:pathLst>
              <a:path h="5250537" w="5257108">
                <a:moveTo>
                  <a:pt x="0" y="0"/>
                </a:moveTo>
                <a:lnTo>
                  <a:pt x="5257108" y="0"/>
                </a:lnTo>
                <a:lnTo>
                  <a:pt x="5257108" y="5250536"/>
                </a:lnTo>
                <a:lnTo>
                  <a:pt x="0" y="5250536"/>
                </a:lnTo>
                <a:lnTo>
                  <a:pt x="0" y="0"/>
                </a:lnTo>
                <a:close/>
              </a:path>
            </a:pathLst>
          </a:custGeom>
          <a:blipFill>
            <a:blip r:embed="rId2"/>
            <a:stretch>
              <a:fillRect l="0" t="0" r="0" b="0"/>
            </a:stretch>
          </a:blipFill>
        </p:spPr>
      </p:sp>
      <p:sp>
        <p:nvSpPr>
          <p:cNvPr name="TextBox 6" id="6"/>
          <p:cNvSpPr txBox="true"/>
          <p:nvPr/>
        </p:nvSpPr>
        <p:spPr>
          <a:xfrm rot="0">
            <a:off x="3415120" y="337268"/>
            <a:ext cx="15278311" cy="1704975"/>
          </a:xfrm>
          <a:prstGeom prst="rect">
            <a:avLst/>
          </a:prstGeom>
        </p:spPr>
        <p:txBody>
          <a:bodyPr anchor="t" rtlCol="false" tIns="0" lIns="0" bIns="0" rIns="0">
            <a:spAutoFit/>
          </a:bodyPr>
          <a:lstStyle/>
          <a:p>
            <a:pPr algn="l">
              <a:lnSpc>
                <a:spcPts val="6720"/>
              </a:lnSpc>
            </a:pPr>
            <a:r>
              <a:rPr lang="en-US" sz="5600" b="true">
                <a:solidFill>
                  <a:srgbClr val="FFFFFF"/>
                </a:solidFill>
                <a:latin typeface="TT Hoves Bold"/>
                <a:ea typeface="TT Hoves Bold"/>
                <a:cs typeface="TT Hoves Bold"/>
                <a:sym typeface="TT Hoves Bold"/>
              </a:rPr>
              <a:t>Hyperparameter Tuning Strategy</a:t>
            </a:r>
          </a:p>
          <a:p>
            <a:pPr algn="l">
              <a:lnSpc>
                <a:spcPts val="6720"/>
              </a:lnSpc>
            </a:pPr>
          </a:p>
        </p:txBody>
      </p:sp>
      <p:sp>
        <p:nvSpPr>
          <p:cNvPr name="TextBox 7" id="7"/>
          <p:cNvSpPr txBox="true"/>
          <p:nvPr/>
        </p:nvSpPr>
        <p:spPr>
          <a:xfrm rot="0">
            <a:off x="2494955" y="3346133"/>
            <a:ext cx="11060916" cy="5739478"/>
          </a:xfrm>
          <a:prstGeom prst="rect">
            <a:avLst/>
          </a:prstGeom>
        </p:spPr>
        <p:txBody>
          <a:bodyPr anchor="t" rtlCol="false" tIns="0" lIns="0" bIns="0" rIns="0">
            <a:spAutoFit/>
          </a:bodyPr>
          <a:lstStyle/>
          <a:p>
            <a:pPr algn="l">
              <a:lnSpc>
                <a:spcPts val="4032"/>
              </a:lnSpc>
            </a:pPr>
            <a:r>
              <a:rPr lang="en-US" sz="2880" b="true">
                <a:solidFill>
                  <a:srgbClr val="B100E8"/>
                </a:solidFill>
                <a:latin typeface="Helios Bold"/>
                <a:ea typeface="Helios Bold"/>
                <a:cs typeface="Helios Bold"/>
                <a:sym typeface="Helios Bold"/>
              </a:rPr>
              <a:t>RandomizedSearchCV (with Random Forest)</a:t>
            </a:r>
          </a:p>
          <a:p>
            <a:pPr algn="l">
              <a:lnSpc>
                <a:spcPts val="3769"/>
              </a:lnSpc>
            </a:pPr>
            <a:r>
              <a:rPr lang="en-US" sz="2692" b="true">
                <a:solidFill>
                  <a:srgbClr val="048AFF"/>
                </a:solidFill>
                <a:latin typeface="Helios Bold"/>
                <a:ea typeface="Helios Bold"/>
                <a:cs typeface="Helios Bold"/>
                <a:sym typeface="Helios Bold"/>
              </a:rPr>
              <a:t>Why we used i</a:t>
            </a:r>
            <a:r>
              <a:rPr lang="en-US" sz="2692" b="true">
                <a:solidFill>
                  <a:srgbClr val="048AFF"/>
                </a:solidFill>
                <a:latin typeface="Helios Bold"/>
                <a:ea typeface="Helios Bold"/>
                <a:cs typeface="Helios Bold"/>
                <a:sym typeface="Helios Bold"/>
              </a:rPr>
              <a:t>t: </a:t>
            </a:r>
          </a:p>
          <a:p>
            <a:pPr algn="l" marL="581243" indent="-290621" lvl="1">
              <a:lnSpc>
                <a:spcPts val="3769"/>
              </a:lnSpc>
              <a:buFont typeface="Arial"/>
              <a:buChar char="•"/>
            </a:pPr>
            <a:r>
              <a:rPr lang="en-US" sz="2692">
                <a:solidFill>
                  <a:srgbClr val="FFFFFF"/>
                </a:solidFill>
                <a:latin typeface="Helios"/>
                <a:ea typeface="Helios"/>
                <a:cs typeface="Helios"/>
                <a:sym typeface="Helios"/>
              </a:rPr>
              <a:t>Random Forest models take a significant amount of time to train on large data. RandomizedSearch was chosen for speed; it evaluates a fixed number of random parameter combinations from a broad distribution, finding an excellent approximate setup without crashing hardware resources.</a:t>
            </a:r>
          </a:p>
          <a:p>
            <a:pPr algn="l" marL="581243" indent="-290621" lvl="1">
              <a:lnSpc>
                <a:spcPts val="3769"/>
              </a:lnSpc>
              <a:buFont typeface="Arial"/>
              <a:buChar char="•"/>
            </a:pPr>
            <a:r>
              <a:rPr lang="en-US" sz="2692">
                <a:solidFill>
                  <a:srgbClr val="FFFFFF"/>
                </a:solidFill>
                <a:latin typeface="Helios"/>
                <a:ea typeface="Helios"/>
                <a:cs typeface="Helios"/>
                <a:sym typeface="Helios"/>
              </a:rPr>
              <a:t>Best Key Parameters Tuned: 'n_estimators': 100, 'min_samples_split': 5, 'min_samples_leaf': 2, 'max_features': 'sqrt', 'max_depth': 30</a:t>
            </a:r>
          </a:p>
          <a:p>
            <a:pPr algn="l">
              <a:lnSpc>
                <a:spcPts val="3769"/>
              </a:lnSpc>
            </a:pPr>
          </a:p>
          <a:p>
            <a:pPr algn="l">
              <a:lnSpc>
                <a:spcPts val="3769"/>
              </a:lnSpc>
            </a:pPr>
          </a:p>
        </p:txBody>
      </p:sp>
      <p:sp>
        <p:nvSpPr>
          <p:cNvPr name="Freeform 8" id="8"/>
          <p:cNvSpPr/>
          <p:nvPr/>
        </p:nvSpPr>
        <p:spPr>
          <a:xfrm flipH="false" flipV="false" rot="0">
            <a:off x="773540" y="8547678"/>
            <a:ext cx="1469330" cy="1421243"/>
          </a:xfrm>
          <a:custGeom>
            <a:avLst/>
            <a:gdLst/>
            <a:ahLst/>
            <a:cxnLst/>
            <a:rect r="r" b="b" t="t" l="l"/>
            <a:pathLst>
              <a:path h="1421243" w="1469330">
                <a:moveTo>
                  <a:pt x="0" y="0"/>
                </a:moveTo>
                <a:lnTo>
                  <a:pt x="1469330" y="0"/>
                </a:lnTo>
                <a:lnTo>
                  <a:pt x="1469330" y="1421244"/>
                </a:lnTo>
                <a:lnTo>
                  <a:pt x="0" y="1421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2494955" y="1618789"/>
            <a:ext cx="11722536" cy="2105025"/>
          </a:xfrm>
          <a:prstGeom prst="rect">
            <a:avLst/>
          </a:prstGeom>
        </p:spPr>
        <p:txBody>
          <a:bodyPr anchor="t" rtlCol="false" tIns="0" lIns="0" bIns="0" rIns="0">
            <a:spAutoFit/>
          </a:bodyPr>
          <a:lstStyle/>
          <a:p>
            <a:pPr algn="l">
              <a:lnSpc>
                <a:spcPts val="3360"/>
              </a:lnSpc>
            </a:pPr>
            <a:r>
              <a:rPr lang="en-US" sz="2800">
                <a:solidFill>
                  <a:srgbClr val="FFFFFF"/>
                </a:solidFill>
                <a:latin typeface="Helios"/>
                <a:ea typeface="Helios"/>
                <a:cs typeface="Helios"/>
                <a:sym typeface="Helios"/>
              </a:rPr>
              <a:t>To extract the maximum predictive power from our algorithms, we bypassed default parameters and implemented two distinct optimization paths:</a:t>
            </a:r>
          </a:p>
          <a:p>
            <a:pPr algn="l">
              <a:lnSpc>
                <a:spcPts val="3360"/>
              </a:lnSpc>
            </a:pPr>
          </a:p>
          <a:p>
            <a:pPr algn="l">
              <a:lnSpc>
                <a:spcPts val="3360"/>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13555870" y="9772650"/>
            <a:ext cx="5765006" cy="1028700"/>
            <a:chOff x="0" y="0"/>
            <a:chExt cx="1049690" cy="187305"/>
          </a:xfrm>
        </p:grpSpPr>
        <p:sp>
          <p:nvSpPr>
            <p:cNvPr name="Freeform 3" id="3"/>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4" id="4"/>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1559740">
            <a:off x="-3188391" y="-2724226"/>
            <a:ext cx="5257108" cy="5250537"/>
          </a:xfrm>
          <a:custGeom>
            <a:avLst/>
            <a:gdLst/>
            <a:ahLst/>
            <a:cxnLst/>
            <a:rect r="r" b="b" t="t" l="l"/>
            <a:pathLst>
              <a:path h="5250537" w="5257108">
                <a:moveTo>
                  <a:pt x="0" y="0"/>
                </a:moveTo>
                <a:lnTo>
                  <a:pt x="5257108" y="0"/>
                </a:lnTo>
                <a:lnTo>
                  <a:pt x="5257108" y="5250536"/>
                </a:lnTo>
                <a:lnTo>
                  <a:pt x="0" y="5250536"/>
                </a:lnTo>
                <a:lnTo>
                  <a:pt x="0" y="0"/>
                </a:lnTo>
                <a:close/>
              </a:path>
            </a:pathLst>
          </a:custGeom>
          <a:blipFill>
            <a:blip r:embed="rId2"/>
            <a:stretch>
              <a:fillRect l="0" t="0" r="0" b="0"/>
            </a:stretch>
          </a:blipFill>
        </p:spPr>
      </p:sp>
      <p:sp>
        <p:nvSpPr>
          <p:cNvPr name="TextBox 6" id="6"/>
          <p:cNvSpPr txBox="true"/>
          <p:nvPr/>
        </p:nvSpPr>
        <p:spPr>
          <a:xfrm rot="0">
            <a:off x="3415120" y="337268"/>
            <a:ext cx="15278311" cy="1704975"/>
          </a:xfrm>
          <a:prstGeom prst="rect">
            <a:avLst/>
          </a:prstGeom>
        </p:spPr>
        <p:txBody>
          <a:bodyPr anchor="t" rtlCol="false" tIns="0" lIns="0" bIns="0" rIns="0">
            <a:spAutoFit/>
          </a:bodyPr>
          <a:lstStyle/>
          <a:p>
            <a:pPr algn="l">
              <a:lnSpc>
                <a:spcPts val="6720"/>
              </a:lnSpc>
            </a:pPr>
            <a:r>
              <a:rPr lang="en-US" sz="5600" b="true">
                <a:solidFill>
                  <a:srgbClr val="FFFFFF"/>
                </a:solidFill>
                <a:latin typeface="TT Hoves Bold"/>
                <a:ea typeface="TT Hoves Bold"/>
                <a:cs typeface="TT Hoves Bold"/>
                <a:sym typeface="TT Hoves Bold"/>
              </a:rPr>
              <a:t>Hyperparameter Tuning Strategy</a:t>
            </a:r>
          </a:p>
          <a:p>
            <a:pPr algn="l">
              <a:lnSpc>
                <a:spcPts val="6720"/>
              </a:lnSpc>
            </a:pPr>
          </a:p>
        </p:txBody>
      </p:sp>
      <p:sp>
        <p:nvSpPr>
          <p:cNvPr name="TextBox 7" id="7"/>
          <p:cNvSpPr txBox="true"/>
          <p:nvPr/>
        </p:nvSpPr>
        <p:spPr>
          <a:xfrm rot="0">
            <a:off x="2494955" y="1505136"/>
            <a:ext cx="11060916" cy="6215728"/>
          </a:xfrm>
          <a:prstGeom prst="rect">
            <a:avLst/>
          </a:prstGeom>
        </p:spPr>
        <p:txBody>
          <a:bodyPr anchor="t" rtlCol="false" tIns="0" lIns="0" bIns="0" rIns="0">
            <a:spAutoFit/>
          </a:bodyPr>
          <a:lstStyle/>
          <a:p>
            <a:pPr algn="l">
              <a:lnSpc>
                <a:spcPts val="4032"/>
              </a:lnSpc>
            </a:pPr>
            <a:r>
              <a:rPr lang="en-US" sz="2880" b="true">
                <a:solidFill>
                  <a:srgbClr val="B100E8"/>
                </a:solidFill>
                <a:latin typeface="Helios Bold"/>
                <a:ea typeface="Helios Bold"/>
                <a:cs typeface="Helios Bold"/>
                <a:sym typeface="Helios Bold"/>
              </a:rPr>
              <a:t>GridSearchCV (with XGBoost)</a:t>
            </a:r>
          </a:p>
          <a:p>
            <a:pPr algn="l">
              <a:lnSpc>
                <a:spcPts val="3769"/>
              </a:lnSpc>
            </a:pPr>
            <a:r>
              <a:rPr lang="en-US" sz="2692" b="true">
                <a:solidFill>
                  <a:srgbClr val="048AFF"/>
                </a:solidFill>
                <a:latin typeface="Helios Bold"/>
                <a:ea typeface="Helios Bold"/>
                <a:cs typeface="Helios Bold"/>
                <a:sym typeface="Helios Bold"/>
              </a:rPr>
              <a:t>Why we used i</a:t>
            </a:r>
            <a:r>
              <a:rPr lang="en-US" sz="2692" b="true">
                <a:solidFill>
                  <a:srgbClr val="048AFF"/>
                </a:solidFill>
                <a:latin typeface="Helios Bold"/>
                <a:ea typeface="Helios Bold"/>
                <a:cs typeface="Helios Bold"/>
                <a:sym typeface="Helios Bold"/>
              </a:rPr>
              <a:t>t: </a:t>
            </a:r>
          </a:p>
          <a:p>
            <a:pPr algn="l" marL="581243" indent="-290621" lvl="1">
              <a:lnSpc>
                <a:spcPts val="3769"/>
              </a:lnSpc>
              <a:buFont typeface="Arial"/>
              <a:buChar char="•"/>
            </a:pPr>
            <a:r>
              <a:rPr lang="en-US" sz="2692">
                <a:solidFill>
                  <a:srgbClr val="FFFFFF"/>
                </a:solidFill>
                <a:latin typeface="Helios"/>
                <a:ea typeface="Helios"/>
                <a:cs typeface="Helios"/>
                <a:sym typeface="Helios"/>
              </a:rPr>
              <a:t>Si</a:t>
            </a:r>
            <a:r>
              <a:rPr lang="en-US" sz="2692">
                <a:solidFill>
                  <a:srgbClr val="FFFFFF"/>
                </a:solidFill>
                <a:latin typeface="Helios"/>
                <a:ea typeface="Helios"/>
                <a:cs typeface="Helios"/>
                <a:sym typeface="Helios"/>
              </a:rPr>
              <a:t>nce XGBoost was our clear frontrunner, we chose the most meticulous method available. GridSearch systematically tests every single permutation of the parameter grid to guarantee we locked in the absolute mathematical global optimum.</a:t>
            </a:r>
          </a:p>
          <a:p>
            <a:pPr algn="l">
              <a:lnSpc>
                <a:spcPts val="3769"/>
              </a:lnSpc>
            </a:pPr>
          </a:p>
          <a:p>
            <a:pPr algn="l">
              <a:lnSpc>
                <a:spcPts val="3769"/>
              </a:lnSpc>
            </a:pPr>
          </a:p>
          <a:p>
            <a:pPr algn="l" marL="581243" indent="-290621" lvl="1">
              <a:lnSpc>
                <a:spcPts val="3769"/>
              </a:lnSpc>
              <a:buFont typeface="Arial"/>
              <a:buChar char="•"/>
            </a:pPr>
            <a:r>
              <a:rPr lang="en-US" sz="2692">
                <a:solidFill>
                  <a:srgbClr val="FFFFFF"/>
                </a:solidFill>
                <a:latin typeface="Helios"/>
                <a:ea typeface="Helios"/>
                <a:cs typeface="Helios"/>
                <a:sym typeface="Helios"/>
              </a:rPr>
              <a:t>Best Key Parameters Tuned: 'learning_rate': 0.02, 'max_depth': 10, 'n_estimators': 2000, 'objective': 'reg:squarederror', 'subsample': 0.9</a:t>
            </a:r>
          </a:p>
          <a:p>
            <a:pPr algn="l">
              <a:lnSpc>
                <a:spcPts val="3769"/>
              </a:lnSpc>
            </a:pPr>
          </a:p>
          <a:p>
            <a:pPr algn="l">
              <a:lnSpc>
                <a:spcPts val="3769"/>
              </a:lnSpc>
            </a:pPr>
          </a:p>
          <a:p>
            <a:pPr algn="l">
              <a:lnSpc>
                <a:spcPts val="3769"/>
              </a:lnSpc>
            </a:pPr>
          </a:p>
        </p:txBody>
      </p:sp>
      <p:sp>
        <p:nvSpPr>
          <p:cNvPr name="Freeform 8" id="8"/>
          <p:cNvSpPr/>
          <p:nvPr/>
        </p:nvSpPr>
        <p:spPr>
          <a:xfrm flipH="false" flipV="false" rot="0">
            <a:off x="773540" y="8547678"/>
            <a:ext cx="1469330" cy="1421243"/>
          </a:xfrm>
          <a:custGeom>
            <a:avLst/>
            <a:gdLst/>
            <a:ahLst/>
            <a:cxnLst/>
            <a:rect r="r" b="b" t="t" l="l"/>
            <a:pathLst>
              <a:path h="1421243" w="1469330">
                <a:moveTo>
                  <a:pt x="0" y="0"/>
                </a:moveTo>
                <a:lnTo>
                  <a:pt x="1469330" y="0"/>
                </a:lnTo>
                <a:lnTo>
                  <a:pt x="1469330" y="1421244"/>
                </a:lnTo>
                <a:lnTo>
                  <a:pt x="0" y="1421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2267E"/>
        </a:solidFill>
      </p:bgPr>
    </p:bg>
    <p:spTree>
      <p:nvGrpSpPr>
        <p:cNvPr id="1" name=""/>
        <p:cNvGrpSpPr/>
        <p:nvPr/>
      </p:nvGrpSpPr>
      <p:grpSpPr>
        <a:xfrm>
          <a:off x="0" y="0"/>
          <a:ext cx="0" cy="0"/>
          <a:chOff x="0" y="0"/>
          <a:chExt cx="0" cy="0"/>
        </a:xfrm>
      </p:grpSpPr>
      <p:grpSp>
        <p:nvGrpSpPr>
          <p:cNvPr name="Group 2" id="2"/>
          <p:cNvGrpSpPr/>
          <p:nvPr/>
        </p:nvGrpSpPr>
        <p:grpSpPr>
          <a:xfrm rot="0">
            <a:off x="3862693" y="7765996"/>
            <a:ext cx="1279432" cy="127943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5" id="5"/>
          <p:cNvGrpSpPr/>
          <p:nvPr/>
        </p:nvGrpSpPr>
        <p:grpSpPr>
          <a:xfrm rot="0">
            <a:off x="5290647" y="7765996"/>
            <a:ext cx="1279432" cy="12794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8" id="8"/>
          <p:cNvGrpSpPr/>
          <p:nvPr/>
        </p:nvGrpSpPr>
        <p:grpSpPr>
          <a:xfrm rot="0">
            <a:off x="13364483" y="9369508"/>
            <a:ext cx="5765006" cy="1028700"/>
            <a:chOff x="0" y="0"/>
            <a:chExt cx="1049690" cy="187305"/>
          </a:xfrm>
        </p:grpSpPr>
        <p:sp>
          <p:nvSpPr>
            <p:cNvPr name="Freeform 9" id="9"/>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10" id="10"/>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1" id="11"/>
          <p:cNvSpPr/>
          <p:nvPr/>
        </p:nvSpPr>
        <p:spPr>
          <a:xfrm flipH="false" flipV="false" rot="0">
            <a:off x="12194992" y="3397133"/>
            <a:ext cx="3052433" cy="4114800"/>
          </a:xfrm>
          <a:custGeom>
            <a:avLst/>
            <a:gdLst/>
            <a:ahLst/>
            <a:cxnLst/>
            <a:rect r="r" b="b" t="t" l="l"/>
            <a:pathLst>
              <a:path h="4114800" w="3052433">
                <a:moveTo>
                  <a:pt x="0" y="0"/>
                </a:moveTo>
                <a:lnTo>
                  <a:pt x="3052434" y="0"/>
                </a:lnTo>
                <a:lnTo>
                  <a:pt x="305243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255628" y="4124325"/>
            <a:ext cx="10628901" cy="2038350"/>
          </a:xfrm>
          <a:prstGeom prst="rect">
            <a:avLst/>
          </a:prstGeom>
        </p:spPr>
        <p:txBody>
          <a:bodyPr anchor="t" rtlCol="false" tIns="0" lIns="0" bIns="0" rIns="0">
            <a:spAutoFit/>
          </a:bodyPr>
          <a:lstStyle/>
          <a:p>
            <a:pPr algn="ctr">
              <a:lnSpc>
                <a:spcPts val="8078"/>
              </a:lnSpc>
            </a:pPr>
            <a:r>
              <a:rPr lang="en-US" sz="6731">
                <a:solidFill>
                  <a:srgbClr val="FFFFFF"/>
                </a:solidFill>
                <a:latin typeface="Secular One"/>
                <a:ea typeface="Secular One"/>
                <a:cs typeface="Secular One"/>
                <a:sym typeface="Secular One"/>
              </a:rPr>
              <a:t>MLOps &amp; Experiment</a:t>
            </a:r>
            <a:r>
              <a:rPr lang="en-US" sz="6731">
                <a:solidFill>
                  <a:srgbClr val="FFFFFF"/>
                </a:solidFill>
                <a:latin typeface="Secular One"/>
                <a:ea typeface="Secular One"/>
                <a:cs typeface="Secular One"/>
                <a:sym typeface="Secular One"/>
              </a:rPr>
              <a:t> Tracking</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13555870" y="9772650"/>
            <a:ext cx="5765006" cy="1028700"/>
            <a:chOff x="0" y="0"/>
            <a:chExt cx="1049690" cy="187305"/>
          </a:xfrm>
        </p:grpSpPr>
        <p:sp>
          <p:nvSpPr>
            <p:cNvPr name="Freeform 3" id="3"/>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4" id="4"/>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1559740">
            <a:off x="-3188391" y="-2724226"/>
            <a:ext cx="5257108" cy="5250537"/>
          </a:xfrm>
          <a:custGeom>
            <a:avLst/>
            <a:gdLst/>
            <a:ahLst/>
            <a:cxnLst/>
            <a:rect r="r" b="b" t="t" l="l"/>
            <a:pathLst>
              <a:path h="5250537" w="5257108">
                <a:moveTo>
                  <a:pt x="0" y="0"/>
                </a:moveTo>
                <a:lnTo>
                  <a:pt x="5257108" y="0"/>
                </a:lnTo>
                <a:lnTo>
                  <a:pt x="5257108" y="5250536"/>
                </a:lnTo>
                <a:lnTo>
                  <a:pt x="0" y="5250536"/>
                </a:lnTo>
                <a:lnTo>
                  <a:pt x="0" y="0"/>
                </a:lnTo>
                <a:close/>
              </a:path>
            </a:pathLst>
          </a:custGeom>
          <a:blipFill>
            <a:blip r:embed="rId2"/>
            <a:stretch>
              <a:fillRect l="0" t="0" r="0" b="0"/>
            </a:stretch>
          </a:blipFill>
        </p:spPr>
      </p:sp>
      <p:sp>
        <p:nvSpPr>
          <p:cNvPr name="TextBox 6" id="6"/>
          <p:cNvSpPr txBox="true"/>
          <p:nvPr/>
        </p:nvSpPr>
        <p:spPr>
          <a:xfrm rot="0">
            <a:off x="2242870" y="3107738"/>
            <a:ext cx="11733370" cy="5160145"/>
          </a:xfrm>
          <a:prstGeom prst="rect">
            <a:avLst/>
          </a:prstGeom>
        </p:spPr>
        <p:txBody>
          <a:bodyPr anchor="t" rtlCol="false" tIns="0" lIns="0" bIns="0" rIns="0">
            <a:spAutoFit/>
          </a:bodyPr>
          <a:lstStyle/>
          <a:p>
            <a:pPr algn="l">
              <a:lnSpc>
                <a:spcPts val="3931"/>
              </a:lnSpc>
            </a:pPr>
            <a:r>
              <a:rPr lang="en-US" sz="2808" b="true">
                <a:solidFill>
                  <a:srgbClr val="B100E8"/>
                </a:solidFill>
                <a:latin typeface="Helios Bold"/>
                <a:ea typeface="Helios Bold"/>
                <a:cs typeface="Helios Bold"/>
                <a:sym typeface="Helios Bold"/>
              </a:rPr>
              <a:t> Modular Project Architecture</a:t>
            </a:r>
          </a:p>
          <a:p>
            <a:pPr algn="l">
              <a:lnSpc>
                <a:spcPts val="3683"/>
              </a:lnSpc>
            </a:pPr>
            <a:r>
              <a:rPr lang="en-US" sz="2631">
                <a:solidFill>
                  <a:srgbClr val="FFFFFF"/>
                </a:solidFill>
                <a:latin typeface="Helios"/>
                <a:ea typeface="Helios"/>
                <a:cs typeface="Helios"/>
                <a:sym typeface="Helios"/>
              </a:rPr>
              <a:t>Th</a:t>
            </a:r>
            <a:r>
              <a:rPr lang="en-US" sz="2631">
                <a:solidFill>
                  <a:srgbClr val="FFFFFF"/>
                </a:solidFill>
                <a:latin typeface="Helios"/>
                <a:ea typeface="Helios"/>
                <a:cs typeface="Helios"/>
                <a:sym typeface="Helios"/>
              </a:rPr>
              <a:t>e project was organized into separate modules for:</a:t>
            </a:r>
          </a:p>
          <a:p>
            <a:pPr algn="l" marL="568073" indent="-284037" lvl="1">
              <a:lnSpc>
                <a:spcPts val="3683"/>
              </a:lnSpc>
              <a:buFont typeface="Arial"/>
              <a:buChar char="•"/>
            </a:pPr>
            <a:r>
              <a:rPr lang="en-US" sz="2631">
                <a:solidFill>
                  <a:srgbClr val="FFFFFF"/>
                </a:solidFill>
                <a:latin typeface="Helios"/>
                <a:ea typeface="Helios"/>
                <a:cs typeface="Helios"/>
                <a:sym typeface="Helios"/>
              </a:rPr>
              <a:t>Data preprocessing</a:t>
            </a:r>
          </a:p>
          <a:p>
            <a:pPr algn="l" marL="568073" indent="-284037" lvl="1">
              <a:lnSpc>
                <a:spcPts val="3683"/>
              </a:lnSpc>
              <a:buFont typeface="Arial"/>
              <a:buChar char="•"/>
            </a:pPr>
            <a:r>
              <a:rPr lang="en-US" sz="2631">
                <a:solidFill>
                  <a:srgbClr val="FFFFFF"/>
                </a:solidFill>
                <a:latin typeface="Helios"/>
                <a:ea typeface="Helios"/>
                <a:cs typeface="Helios"/>
                <a:sym typeface="Helios"/>
              </a:rPr>
              <a:t>Feature</a:t>
            </a:r>
            <a:r>
              <a:rPr lang="en-US" sz="2631">
                <a:solidFill>
                  <a:srgbClr val="FFFFFF"/>
                </a:solidFill>
                <a:latin typeface="Helios"/>
                <a:ea typeface="Helios"/>
                <a:cs typeface="Helios"/>
                <a:sym typeface="Helios"/>
              </a:rPr>
              <a:t> engineeri</a:t>
            </a:r>
            <a:r>
              <a:rPr lang="en-US" sz="2631">
                <a:solidFill>
                  <a:srgbClr val="FFFFFF"/>
                </a:solidFill>
                <a:latin typeface="Helios"/>
                <a:ea typeface="Helios"/>
                <a:cs typeface="Helios"/>
                <a:sym typeface="Helios"/>
              </a:rPr>
              <a:t>ng</a:t>
            </a:r>
          </a:p>
          <a:p>
            <a:pPr algn="l" marL="568073" indent="-284037" lvl="1">
              <a:lnSpc>
                <a:spcPts val="3683"/>
              </a:lnSpc>
              <a:buFont typeface="Arial"/>
              <a:buChar char="•"/>
            </a:pPr>
            <a:r>
              <a:rPr lang="en-US" sz="2631">
                <a:solidFill>
                  <a:srgbClr val="FFFFFF"/>
                </a:solidFill>
                <a:latin typeface="Helios"/>
                <a:ea typeface="Helios"/>
                <a:cs typeface="Helios"/>
                <a:sym typeface="Helios"/>
              </a:rPr>
              <a:t>Model training</a:t>
            </a:r>
          </a:p>
          <a:p>
            <a:pPr algn="l" marL="568073" indent="-284037" lvl="1">
              <a:lnSpc>
                <a:spcPts val="3683"/>
              </a:lnSpc>
              <a:buFont typeface="Arial"/>
              <a:buChar char="•"/>
            </a:pPr>
            <a:r>
              <a:rPr lang="en-US" sz="2631">
                <a:solidFill>
                  <a:srgbClr val="FFFFFF"/>
                </a:solidFill>
                <a:latin typeface="Helios"/>
                <a:ea typeface="Helios"/>
                <a:cs typeface="Helios"/>
                <a:sym typeface="Helios"/>
              </a:rPr>
              <a:t>Hyperparameter tuning</a:t>
            </a:r>
          </a:p>
          <a:p>
            <a:pPr algn="l" marL="568073" indent="-284037" lvl="1">
              <a:lnSpc>
                <a:spcPts val="3683"/>
              </a:lnSpc>
              <a:buFont typeface="Arial"/>
              <a:buChar char="•"/>
            </a:pPr>
            <a:r>
              <a:rPr lang="en-US" sz="2631">
                <a:solidFill>
                  <a:srgbClr val="FFFFFF"/>
                </a:solidFill>
                <a:latin typeface="Helios"/>
                <a:ea typeface="Helios"/>
                <a:cs typeface="Helios"/>
                <a:sym typeface="Helios"/>
              </a:rPr>
              <a:t>Pr</a:t>
            </a:r>
            <a:r>
              <a:rPr lang="en-US" sz="2631">
                <a:solidFill>
                  <a:srgbClr val="FFFFFF"/>
                </a:solidFill>
                <a:latin typeface="Helios"/>
                <a:ea typeface="Helios"/>
                <a:cs typeface="Helios"/>
                <a:sym typeface="Helios"/>
              </a:rPr>
              <a:t>ediction pipeline</a:t>
            </a:r>
          </a:p>
          <a:p>
            <a:pPr algn="l" marL="568073" indent="-284037" lvl="1">
              <a:lnSpc>
                <a:spcPts val="3683"/>
              </a:lnSpc>
              <a:buFont typeface="Arial"/>
              <a:buChar char="•"/>
            </a:pPr>
            <a:r>
              <a:rPr lang="en-US" sz="2631">
                <a:solidFill>
                  <a:srgbClr val="FFFFFF"/>
                </a:solidFill>
                <a:latin typeface="Helios"/>
                <a:ea typeface="Helios"/>
                <a:cs typeface="Helios"/>
                <a:sym typeface="Helios"/>
              </a:rPr>
              <a:t>Streamlit dashboard</a:t>
            </a:r>
          </a:p>
          <a:p>
            <a:pPr algn="l">
              <a:lnSpc>
                <a:spcPts val="3683"/>
              </a:lnSpc>
            </a:pPr>
          </a:p>
          <a:p>
            <a:pPr algn="l">
              <a:lnSpc>
                <a:spcPts val="3683"/>
              </a:lnSpc>
            </a:pPr>
          </a:p>
          <a:p>
            <a:pPr algn="l">
              <a:lnSpc>
                <a:spcPts val="3683"/>
              </a:lnSpc>
            </a:pPr>
          </a:p>
        </p:txBody>
      </p:sp>
      <p:sp>
        <p:nvSpPr>
          <p:cNvPr name="Freeform 7" id="7"/>
          <p:cNvSpPr/>
          <p:nvPr/>
        </p:nvSpPr>
        <p:spPr>
          <a:xfrm flipH="false" flipV="false" rot="0">
            <a:off x="773540" y="8547678"/>
            <a:ext cx="1469330" cy="1421243"/>
          </a:xfrm>
          <a:custGeom>
            <a:avLst/>
            <a:gdLst/>
            <a:ahLst/>
            <a:cxnLst/>
            <a:rect r="r" b="b" t="t" l="l"/>
            <a:pathLst>
              <a:path h="1421243" w="1469330">
                <a:moveTo>
                  <a:pt x="0" y="0"/>
                </a:moveTo>
                <a:lnTo>
                  <a:pt x="1469330" y="0"/>
                </a:lnTo>
                <a:lnTo>
                  <a:pt x="1469330" y="1421244"/>
                </a:lnTo>
                <a:lnTo>
                  <a:pt x="0" y="1421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1259108" y="3277918"/>
            <a:ext cx="6000192" cy="5960124"/>
          </a:xfrm>
          <a:custGeom>
            <a:avLst/>
            <a:gdLst/>
            <a:ahLst/>
            <a:cxnLst/>
            <a:rect r="r" b="b" t="t" l="l"/>
            <a:pathLst>
              <a:path h="5960124" w="6000192">
                <a:moveTo>
                  <a:pt x="0" y="0"/>
                </a:moveTo>
                <a:lnTo>
                  <a:pt x="6000192" y="0"/>
                </a:lnTo>
                <a:lnTo>
                  <a:pt x="6000192" y="5960124"/>
                </a:lnTo>
                <a:lnTo>
                  <a:pt x="0" y="5960124"/>
                </a:lnTo>
                <a:lnTo>
                  <a:pt x="0" y="0"/>
                </a:lnTo>
                <a:close/>
              </a:path>
            </a:pathLst>
          </a:custGeom>
          <a:blipFill>
            <a:blip r:embed="rId5"/>
            <a:stretch>
              <a:fillRect l="0" t="0" r="0" b="0"/>
            </a:stretch>
          </a:blipFill>
        </p:spPr>
      </p:sp>
      <p:sp>
        <p:nvSpPr>
          <p:cNvPr name="TextBox 9" id="9"/>
          <p:cNvSpPr txBox="true"/>
          <p:nvPr/>
        </p:nvSpPr>
        <p:spPr>
          <a:xfrm rot="0">
            <a:off x="4042565" y="171450"/>
            <a:ext cx="15278311" cy="857250"/>
          </a:xfrm>
          <a:prstGeom prst="rect">
            <a:avLst/>
          </a:prstGeom>
        </p:spPr>
        <p:txBody>
          <a:bodyPr anchor="t" rtlCol="false" tIns="0" lIns="0" bIns="0" rIns="0">
            <a:spAutoFit/>
          </a:bodyPr>
          <a:lstStyle/>
          <a:p>
            <a:pPr algn="l">
              <a:lnSpc>
                <a:spcPts val="6720"/>
              </a:lnSpc>
            </a:pPr>
            <a:r>
              <a:rPr lang="en-US" b="true" sz="5600">
                <a:solidFill>
                  <a:srgbClr val="FFFFFF"/>
                </a:solidFill>
                <a:latin typeface="TT Hoves Bold"/>
                <a:ea typeface="TT Hoves Bold"/>
                <a:cs typeface="TT Hoves Bold"/>
                <a:sym typeface="TT Hoves Bold"/>
              </a:rPr>
              <a:t>MLOps &amp; Experiment Tracking</a:t>
            </a:r>
          </a:p>
        </p:txBody>
      </p:sp>
      <p:sp>
        <p:nvSpPr>
          <p:cNvPr name="TextBox 10" id="10"/>
          <p:cNvSpPr txBox="true"/>
          <p:nvPr/>
        </p:nvSpPr>
        <p:spPr>
          <a:xfrm rot="0">
            <a:off x="2180659" y="1324658"/>
            <a:ext cx="11060916" cy="1983453"/>
          </a:xfrm>
          <a:prstGeom prst="rect">
            <a:avLst/>
          </a:prstGeom>
        </p:spPr>
        <p:txBody>
          <a:bodyPr anchor="t" rtlCol="false" tIns="0" lIns="0" bIns="0" rIns="0">
            <a:spAutoFit/>
          </a:bodyPr>
          <a:lstStyle/>
          <a:p>
            <a:pPr algn="l">
              <a:lnSpc>
                <a:spcPts val="4172"/>
              </a:lnSpc>
            </a:pPr>
            <a:r>
              <a:rPr lang="en-US" sz="2980" b="true">
                <a:solidFill>
                  <a:srgbClr val="B100E8"/>
                </a:solidFill>
                <a:latin typeface="Helios Bold"/>
                <a:ea typeface="Helios Bold"/>
                <a:cs typeface="Helios Bold"/>
                <a:sym typeface="Helios Bold"/>
              </a:rPr>
              <a:t>MLflow Integration</a:t>
            </a:r>
          </a:p>
          <a:p>
            <a:pPr algn="l" marL="602832" indent="-301416" lvl="1">
              <a:lnSpc>
                <a:spcPts val="3909"/>
              </a:lnSpc>
              <a:buFont typeface="Arial"/>
              <a:buChar char="•"/>
            </a:pPr>
            <a:r>
              <a:rPr lang="en-US" sz="2792">
                <a:solidFill>
                  <a:srgbClr val="FFFFFF"/>
                </a:solidFill>
                <a:latin typeface="Helios"/>
                <a:ea typeface="Helios"/>
                <a:cs typeface="Helios"/>
                <a:sym typeface="Helios"/>
              </a:rPr>
              <a:t>MLflow was used t</a:t>
            </a:r>
            <a:r>
              <a:rPr lang="en-US" sz="2792">
                <a:solidFill>
                  <a:srgbClr val="FFFFFF"/>
                </a:solidFill>
                <a:latin typeface="Helios"/>
                <a:ea typeface="Helios"/>
                <a:cs typeface="Helios"/>
                <a:sym typeface="Helios"/>
              </a:rPr>
              <a:t>o track and manage the machine learning experiments throughout the project lifecycle.</a:t>
            </a:r>
          </a:p>
          <a:p>
            <a:pPr algn="l">
              <a:lnSpc>
                <a:spcPts val="3769"/>
              </a:lnSpc>
            </a:pPr>
          </a:p>
        </p:txBody>
      </p:sp>
      <p:sp>
        <p:nvSpPr>
          <p:cNvPr name="TextBox 11" id="11"/>
          <p:cNvSpPr txBox="true"/>
          <p:nvPr/>
        </p:nvSpPr>
        <p:spPr>
          <a:xfrm rot="0">
            <a:off x="2242870" y="7116741"/>
            <a:ext cx="11060916" cy="2991833"/>
          </a:xfrm>
          <a:prstGeom prst="rect">
            <a:avLst/>
          </a:prstGeom>
        </p:spPr>
        <p:txBody>
          <a:bodyPr anchor="t" rtlCol="false" tIns="0" lIns="0" bIns="0" rIns="0">
            <a:spAutoFit/>
          </a:bodyPr>
          <a:lstStyle/>
          <a:p>
            <a:pPr algn="l">
              <a:lnSpc>
                <a:spcPts val="4172"/>
              </a:lnSpc>
            </a:pPr>
            <a:r>
              <a:rPr lang="en-US" sz="2980" b="true">
                <a:solidFill>
                  <a:srgbClr val="B100E8"/>
                </a:solidFill>
                <a:latin typeface="Helios Bold"/>
                <a:ea typeface="Helios Bold"/>
                <a:cs typeface="Helios Bold"/>
                <a:sym typeface="Helios Bold"/>
              </a:rPr>
              <a:t>Benefit</a:t>
            </a:r>
          </a:p>
          <a:p>
            <a:pPr algn="l">
              <a:lnSpc>
                <a:spcPts val="3909"/>
              </a:lnSpc>
            </a:pPr>
            <a:r>
              <a:rPr lang="en-US" sz="2792">
                <a:solidFill>
                  <a:srgbClr val="FFFFFF"/>
                </a:solidFill>
                <a:latin typeface="Helios"/>
                <a:ea typeface="Helios"/>
                <a:cs typeface="Helios"/>
                <a:sym typeface="Helios"/>
              </a:rPr>
              <a:t>Improved:</a:t>
            </a:r>
          </a:p>
          <a:p>
            <a:pPr algn="l" marL="602832" indent="-301416" lvl="1">
              <a:lnSpc>
                <a:spcPts val="3909"/>
              </a:lnSpc>
              <a:buFont typeface="Arial"/>
              <a:buChar char="•"/>
            </a:pPr>
            <a:r>
              <a:rPr lang="en-US" sz="2792">
                <a:solidFill>
                  <a:srgbClr val="FFFFFF"/>
                </a:solidFill>
                <a:latin typeface="Helios"/>
                <a:ea typeface="Helios"/>
                <a:cs typeface="Helios"/>
                <a:sym typeface="Helios"/>
              </a:rPr>
              <a:t>C</a:t>
            </a:r>
            <a:r>
              <a:rPr lang="en-US" sz="2792">
                <a:solidFill>
                  <a:srgbClr val="FFFFFF"/>
                </a:solidFill>
                <a:latin typeface="Helios"/>
                <a:ea typeface="Helios"/>
                <a:cs typeface="Helios"/>
                <a:sym typeface="Helios"/>
              </a:rPr>
              <a:t>ode organization</a:t>
            </a:r>
          </a:p>
          <a:p>
            <a:pPr algn="l" marL="602832" indent="-301416" lvl="1">
              <a:lnSpc>
                <a:spcPts val="3909"/>
              </a:lnSpc>
              <a:buFont typeface="Arial"/>
              <a:buChar char="•"/>
            </a:pPr>
            <a:r>
              <a:rPr lang="en-US" sz="2792">
                <a:solidFill>
                  <a:srgbClr val="FFFFFF"/>
                </a:solidFill>
                <a:latin typeface="Helios"/>
                <a:ea typeface="Helios"/>
                <a:cs typeface="Helios"/>
                <a:sym typeface="Helios"/>
              </a:rPr>
              <a:t>Scalability</a:t>
            </a:r>
          </a:p>
          <a:p>
            <a:pPr algn="l" marL="602832" indent="-301416" lvl="1">
              <a:lnSpc>
                <a:spcPts val="3909"/>
              </a:lnSpc>
              <a:buFont typeface="Arial"/>
              <a:buChar char="•"/>
            </a:pPr>
            <a:r>
              <a:rPr lang="en-US" sz="2792">
                <a:solidFill>
                  <a:srgbClr val="FFFFFF"/>
                </a:solidFill>
                <a:latin typeface="Helios"/>
                <a:ea typeface="Helios"/>
                <a:cs typeface="Helios"/>
                <a:sym typeface="Helios"/>
              </a:rPr>
              <a:t>Maintainability</a:t>
            </a:r>
          </a:p>
          <a:p>
            <a:pPr algn="l">
              <a:lnSpc>
                <a:spcPts val="3909"/>
              </a:lnSpc>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2267E"/>
        </a:solidFill>
      </p:bgPr>
    </p:bg>
    <p:spTree>
      <p:nvGrpSpPr>
        <p:cNvPr id="1" name=""/>
        <p:cNvGrpSpPr/>
        <p:nvPr/>
      </p:nvGrpSpPr>
      <p:grpSpPr>
        <a:xfrm>
          <a:off x="0" y="0"/>
          <a:ext cx="0" cy="0"/>
          <a:chOff x="0" y="0"/>
          <a:chExt cx="0" cy="0"/>
        </a:xfrm>
      </p:grpSpPr>
      <p:grpSp>
        <p:nvGrpSpPr>
          <p:cNvPr name="Group 2" id="2"/>
          <p:cNvGrpSpPr/>
          <p:nvPr/>
        </p:nvGrpSpPr>
        <p:grpSpPr>
          <a:xfrm rot="0">
            <a:off x="3862693" y="7765996"/>
            <a:ext cx="1279432" cy="127943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5" id="5"/>
          <p:cNvGrpSpPr/>
          <p:nvPr/>
        </p:nvGrpSpPr>
        <p:grpSpPr>
          <a:xfrm rot="0">
            <a:off x="5290647" y="7765996"/>
            <a:ext cx="1279432" cy="12794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5E8"/>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748"/>
                </a:lnSpc>
              </a:pPr>
            </a:p>
          </p:txBody>
        </p:sp>
      </p:grpSp>
      <p:grpSp>
        <p:nvGrpSpPr>
          <p:cNvPr name="Group 8" id="8"/>
          <p:cNvGrpSpPr/>
          <p:nvPr/>
        </p:nvGrpSpPr>
        <p:grpSpPr>
          <a:xfrm rot="0">
            <a:off x="13364483" y="9369508"/>
            <a:ext cx="5765006" cy="1028700"/>
            <a:chOff x="0" y="0"/>
            <a:chExt cx="1049690" cy="187305"/>
          </a:xfrm>
        </p:grpSpPr>
        <p:sp>
          <p:nvSpPr>
            <p:cNvPr name="Freeform 9" id="9"/>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10" id="10"/>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11" id="11"/>
          <p:cNvSpPr/>
          <p:nvPr/>
        </p:nvSpPr>
        <p:spPr>
          <a:xfrm flipH="false" flipV="false" rot="0">
            <a:off x="12278556" y="2838263"/>
            <a:ext cx="2997172" cy="4778100"/>
          </a:xfrm>
          <a:custGeom>
            <a:avLst/>
            <a:gdLst/>
            <a:ahLst/>
            <a:cxnLst/>
            <a:rect r="r" b="b" t="t" l="l"/>
            <a:pathLst>
              <a:path h="4778100" w="2997172">
                <a:moveTo>
                  <a:pt x="0" y="0"/>
                </a:moveTo>
                <a:lnTo>
                  <a:pt x="2997171" y="0"/>
                </a:lnTo>
                <a:lnTo>
                  <a:pt x="2997171" y="4778099"/>
                </a:lnTo>
                <a:lnTo>
                  <a:pt x="0" y="47780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255628" y="4124325"/>
            <a:ext cx="10628901" cy="2038350"/>
          </a:xfrm>
          <a:prstGeom prst="rect">
            <a:avLst/>
          </a:prstGeom>
        </p:spPr>
        <p:txBody>
          <a:bodyPr anchor="t" rtlCol="false" tIns="0" lIns="0" bIns="0" rIns="0">
            <a:spAutoFit/>
          </a:bodyPr>
          <a:lstStyle/>
          <a:p>
            <a:pPr algn="ctr">
              <a:lnSpc>
                <a:spcPts val="8078"/>
              </a:lnSpc>
            </a:pPr>
            <a:r>
              <a:rPr lang="en-US" sz="6731">
                <a:solidFill>
                  <a:srgbClr val="FFFFFF"/>
                </a:solidFill>
                <a:latin typeface="Secular One"/>
                <a:ea typeface="Secular One"/>
                <a:cs typeface="Secular One"/>
                <a:sym typeface="Secular One"/>
              </a:rPr>
              <a:t>Model Deploymemt</a:t>
            </a:r>
          </a:p>
          <a:p>
            <a:pPr algn="ctr">
              <a:lnSpc>
                <a:spcPts val="8078"/>
              </a:lnSpc>
            </a:pPr>
            <a:r>
              <a:rPr lang="en-US" sz="6731">
                <a:solidFill>
                  <a:srgbClr val="FFFFFF"/>
                </a:solidFill>
                <a:latin typeface="Secular One"/>
                <a:ea typeface="Secular One"/>
                <a:cs typeface="Secular One"/>
                <a:sym typeface="Secular One"/>
              </a:rPr>
              <a:t>Via Streamlit</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grpSp>
        <p:nvGrpSpPr>
          <p:cNvPr name="Group 2" id="2"/>
          <p:cNvGrpSpPr/>
          <p:nvPr/>
        </p:nvGrpSpPr>
        <p:grpSpPr>
          <a:xfrm rot="0">
            <a:off x="13555870" y="9772650"/>
            <a:ext cx="5765006" cy="1028700"/>
            <a:chOff x="0" y="0"/>
            <a:chExt cx="1049690" cy="187305"/>
          </a:xfrm>
        </p:grpSpPr>
        <p:sp>
          <p:nvSpPr>
            <p:cNvPr name="Freeform 3" id="3"/>
            <p:cNvSpPr/>
            <p:nvPr/>
          </p:nvSpPr>
          <p:spPr>
            <a:xfrm flipH="false" flipV="false" rot="0">
              <a:off x="0" y="0"/>
              <a:ext cx="1049690" cy="187305"/>
            </a:xfrm>
            <a:custGeom>
              <a:avLst/>
              <a:gdLst/>
              <a:ahLst/>
              <a:cxnLst/>
              <a:rect r="r" b="b" t="t" l="l"/>
              <a:pathLst>
                <a:path h="187305" w="1049690">
                  <a:moveTo>
                    <a:pt x="203200" y="0"/>
                  </a:moveTo>
                  <a:lnTo>
                    <a:pt x="846490" y="0"/>
                  </a:lnTo>
                  <a:lnTo>
                    <a:pt x="1049690" y="187305"/>
                  </a:lnTo>
                  <a:lnTo>
                    <a:pt x="0" y="187305"/>
                  </a:lnTo>
                  <a:lnTo>
                    <a:pt x="203200" y="0"/>
                  </a:lnTo>
                  <a:close/>
                </a:path>
              </a:pathLst>
            </a:custGeom>
            <a:gradFill rotWithShape="true">
              <a:gsLst>
                <a:gs pos="0">
                  <a:srgbClr val="048AFF">
                    <a:alpha val="100000"/>
                  </a:srgbClr>
                </a:gs>
                <a:gs pos="100000">
                  <a:srgbClr val="B100E8">
                    <a:alpha val="100000"/>
                  </a:srgbClr>
                </a:gs>
              </a:gsLst>
              <a:lin ang="2100000"/>
            </a:gradFill>
          </p:spPr>
        </p:sp>
        <p:sp>
          <p:nvSpPr>
            <p:cNvPr name="TextBox 4" id="4"/>
            <p:cNvSpPr txBox="true"/>
            <p:nvPr/>
          </p:nvSpPr>
          <p:spPr>
            <a:xfrm>
              <a:off x="127000" y="-38100"/>
              <a:ext cx="795690" cy="22540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1559740">
            <a:off x="-3188391" y="-2724226"/>
            <a:ext cx="5257108" cy="5250537"/>
          </a:xfrm>
          <a:custGeom>
            <a:avLst/>
            <a:gdLst/>
            <a:ahLst/>
            <a:cxnLst/>
            <a:rect r="r" b="b" t="t" l="l"/>
            <a:pathLst>
              <a:path h="5250537" w="5257108">
                <a:moveTo>
                  <a:pt x="0" y="0"/>
                </a:moveTo>
                <a:lnTo>
                  <a:pt x="5257108" y="0"/>
                </a:lnTo>
                <a:lnTo>
                  <a:pt x="5257108" y="5250536"/>
                </a:lnTo>
                <a:lnTo>
                  <a:pt x="0" y="5250536"/>
                </a:lnTo>
                <a:lnTo>
                  <a:pt x="0" y="0"/>
                </a:lnTo>
                <a:close/>
              </a:path>
            </a:pathLst>
          </a:custGeom>
          <a:blipFill>
            <a:blip r:embed="rId2"/>
            <a:stretch>
              <a:fillRect l="0" t="0" r="0" b="0"/>
            </a:stretch>
          </a:blipFill>
        </p:spPr>
      </p:sp>
      <p:sp>
        <p:nvSpPr>
          <p:cNvPr name="Freeform 6" id="6"/>
          <p:cNvSpPr/>
          <p:nvPr/>
        </p:nvSpPr>
        <p:spPr>
          <a:xfrm flipH="false" flipV="false" rot="0">
            <a:off x="294035" y="8641232"/>
            <a:ext cx="1469330" cy="1421243"/>
          </a:xfrm>
          <a:custGeom>
            <a:avLst/>
            <a:gdLst/>
            <a:ahLst/>
            <a:cxnLst/>
            <a:rect r="r" b="b" t="t" l="l"/>
            <a:pathLst>
              <a:path h="1421243" w="1469330">
                <a:moveTo>
                  <a:pt x="0" y="0"/>
                </a:moveTo>
                <a:lnTo>
                  <a:pt x="1469330" y="0"/>
                </a:lnTo>
                <a:lnTo>
                  <a:pt x="1469330" y="1421243"/>
                </a:lnTo>
                <a:lnTo>
                  <a:pt x="0" y="14212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451802" y="3090795"/>
            <a:ext cx="11733370" cy="4048260"/>
          </a:xfrm>
          <a:prstGeom prst="rect">
            <a:avLst/>
          </a:prstGeom>
        </p:spPr>
        <p:txBody>
          <a:bodyPr anchor="t" rtlCol="false" tIns="0" lIns="0" bIns="0" rIns="0">
            <a:spAutoFit/>
          </a:bodyPr>
          <a:lstStyle/>
          <a:p>
            <a:pPr algn="l">
              <a:lnSpc>
                <a:spcPts val="3791"/>
              </a:lnSpc>
            </a:pPr>
            <a:r>
              <a:rPr lang="en-US" sz="2708" b="true">
                <a:solidFill>
                  <a:srgbClr val="B100E8"/>
                </a:solidFill>
                <a:latin typeface="Helios Bold"/>
                <a:ea typeface="Helios Bold"/>
                <a:cs typeface="Helios Bold"/>
                <a:sym typeface="Helios Bold"/>
              </a:rPr>
              <a:t> Dashboard Features</a:t>
            </a:r>
          </a:p>
          <a:p>
            <a:pPr algn="l" marL="546484" indent="-273242" lvl="1">
              <a:lnSpc>
                <a:spcPts val="3543"/>
              </a:lnSpc>
              <a:buFont typeface="Arial"/>
              <a:buChar char="•"/>
            </a:pPr>
            <a:r>
              <a:rPr lang="en-US" sz="2531">
                <a:solidFill>
                  <a:srgbClr val="FFFFFF"/>
                </a:solidFill>
                <a:latin typeface="Helios"/>
                <a:ea typeface="Helios"/>
                <a:cs typeface="Helios"/>
                <a:sym typeface="Helios"/>
              </a:rPr>
              <a:t>Sal</a:t>
            </a:r>
            <a:r>
              <a:rPr lang="en-US" sz="2531">
                <a:solidFill>
                  <a:srgbClr val="FFFFFF"/>
                </a:solidFill>
                <a:latin typeface="Helios"/>
                <a:ea typeface="Helios"/>
                <a:cs typeface="Helios"/>
                <a:sym typeface="Helios"/>
              </a:rPr>
              <a:t>es prediction for future dates</a:t>
            </a:r>
          </a:p>
          <a:p>
            <a:pPr algn="l" marL="546484" indent="-273242" lvl="1">
              <a:lnSpc>
                <a:spcPts val="3543"/>
              </a:lnSpc>
              <a:buFont typeface="Arial"/>
              <a:buChar char="•"/>
            </a:pPr>
            <a:r>
              <a:rPr lang="en-US" sz="2531">
                <a:solidFill>
                  <a:srgbClr val="FFFFFF"/>
                </a:solidFill>
                <a:latin typeface="Helios"/>
                <a:ea typeface="Helios"/>
                <a:cs typeface="Helios"/>
                <a:sym typeface="Helios"/>
              </a:rPr>
              <a:t>S</a:t>
            </a:r>
            <a:r>
              <a:rPr lang="en-US" sz="2531">
                <a:solidFill>
                  <a:srgbClr val="FFFFFF"/>
                </a:solidFill>
                <a:latin typeface="Helios"/>
                <a:ea typeface="Helios"/>
                <a:cs typeface="Helios"/>
                <a:sym typeface="Helios"/>
              </a:rPr>
              <a:t>tore and promotion</a:t>
            </a:r>
            <a:r>
              <a:rPr lang="en-US" sz="2531">
                <a:solidFill>
                  <a:srgbClr val="FFFFFF"/>
                </a:solidFill>
                <a:latin typeface="Helios"/>
                <a:ea typeface="Helios"/>
                <a:cs typeface="Helios"/>
                <a:sym typeface="Helios"/>
              </a:rPr>
              <a:t> configuratio</a:t>
            </a:r>
            <a:r>
              <a:rPr lang="en-US" sz="2531">
                <a:solidFill>
                  <a:srgbClr val="FFFFFF"/>
                </a:solidFill>
                <a:latin typeface="Helios"/>
                <a:ea typeface="Helios"/>
                <a:cs typeface="Helios"/>
                <a:sym typeface="Helios"/>
              </a:rPr>
              <a:t>n</a:t>
            </a:r>
          </a:p>
          <a:p>
            <a:pPr algn="l" marL="546484" indent="-273242" lvl="1">
              <a:lnSpc>
                <a:spcPts val="3543"/>
              </a:lnSpc>
              <a:buFont typeface="Arial"/>
              <a:buChar char="•"/>
            </a:pPr>
            <a:r>
              <a:rPr lang="en-US" sz="2531">
                <a:solidFill>
                  <a:srgbClr val="FFFFFF"/>
                </a:solidFill>
                <a:latin typeface="Helios"/>
                <a:ea typeface="Helios"/>
                <a:cs typeface="Helios"/>
                <a:sym typeface="Helios"/>
              </a:rPr>
              <a:t>Model comparison (XGBoost &amp; Random Forest)</a:t>
            </a:r>
          </a:p>
          <a:p>
            <a:pPr algn="l" marL="546484" indent="-273242" lvl="1">
              <a:lnSpc>
                <a:spcPts val="3543"/>
              </a:lnSpc>
              <a:buFont typeface="Arial"/>
              <a:buChar char="•"/>
            </a:pPr>
            <a:r>
              <a:rPr lang="en-US" sz="2531">
                <a:solidFill>
                  <a:srgbClr val="FFFFFF"/>
                </a:solidFill>
                <a:latin typeface="Helios"/>
                <a:ea typeface="Helios"/>
                <a:cs typeface="Helios"/>
                <a:sym typeface="Helios"/>
              </a:rPr>
              <a:t>Interactive visualizations</a:t>
            </a:r>
          </a:p>
          <a:p>
            <a:pPr algn="l">
              <a:lnSpc>
                <a:spcPts val="3543"/>
              </a:lnSpc>
            </a:pPr>
          </a:p>
          <a:p>
            <a:pPr algn="l">
              <a:lnSpc>
                <a:spcPts val="3543"/>
              </a:lnSpc>
            </a:pPr>
          </a:p>
          <a:p>
            <a:pPr algn="l">
              <a:lnSpc>
                <a:spcPts val="3543"/>
              </a:lnSpc>
            </a:pPr>
          </a:p>
          <a:p>
            <a:pPr algn="l">
              <a:lnSpc>
                <a:spcPts val="3543"/>
              </a:lnSpc>
            </a:pPr>
          </a:p>
        </p:txBody>
      </p:sp>
      <p:sp>
        <p:nvSpPr>
          <p:cNvPr name="TextBox 8" id="8"/>
          <p:cNvSpPr txBox="true"/>
          <p:nvPr/>
        </p:nvSpPr>
        <p:spPr>
          <a:xfrm rot="0">
            <a:off x="1844432" y="656440"/>
            <a:ext cx="11060916" cy="3358210"/>
          </a:xfrm>
          <a:prstGeom prst="rect">
            <a:avLst/>
          </a:prstGeom>
        </p:spPr>
        <p:txBody>
          <a:bodyPr anchor="t" rtlCol="false" tIns="0" lIns="0" bIns="0" rIns="0">
            <a:spAutoFit/>
          </a:bodyPr>
          <a:lstStyle/>
          <a:p>
            <a:pPr algn="l">
              <a:lnSpc>
                <a:spcPts val="4032"/>
              </a:lnSpc>
            </a:pPr>
          </a:p>
          <a:p>
            <a:pPr algn="l" marL="581242" indent="-290621" lvl="1">
              <a:lnSpc>
                <a:spcPts val="3769"/>
              </a:lnSpc>
              <a:buFont typeface="Arial"/>
              <a:buChar char="•"/>
            </a:pPr>
            <a:r>
              <a:rPr lang="en-US" sz="2692">
                <a:solidFill>
                  <a:srgbClr val="FFFFFF"/>
                </a:solidFill>
                <a:latin typeface="Helios"/>
                <a:ea typeface="Helios"/>
                <a:cs typeface="Helios"/>
                <a:sym typeface="Helios"/>
              </a:rPr>
              <a:t>The final forecasting models were depl</a:t>
            </a:r>
            <a:r>
              <a:rPr lang="en-US" sz="2692">
                <a:solidFill>
                  <a:srgbClr val="FFFFFF"/>
                </a:solidFill>
                <a:latin typeface="Helios"/>
                <a:ea typeface="Helios"/>
                <a:cs typeface="Helios"/>
                <a:sym typeface="Helios"/>
              </a:rPr>
              <a:t>oyed using:Streamlit Dashboard to provide real-time sales prediction through an interactive user interface.</a:t>
            </a:r>
          </a:p>
          <a:p>
            <a:pPr algn="l">
              <a:lnSpc>
                <a:spcPts val="3769"/>
              </a:lnSpc>
            </a:pPr>
          </a:p>
          <a:p>
            <a:pPr algn="l">
              <a:lnSpc>
                <a:spcPts val="3769"/>
              </a:lnSpc>
            </a:pPr>
          </a:p>
          <a:p>
            <a:pPr algn="l">
              <a:lnSpc>
                <a:spcPts val="3769"/>
              </a:lnSpc>
            </a:pPr>
          </a:p>
        </p:txBody>
      </p:sp>
      <p:sp>
        <p:nvSpPr>
          <p:cNvPr name="TextBox 9" id="9"/>
          <p:cNvSpPr txBox="true"/>
          <p:nvPr/>
        </p:nvSpPr>
        <p:spPr>
          <a:xfrm rot="0">
            <a:off x="2494955" y="5612999"/>
            <a:ext cx="11060916" cy="3358210"/>
          </a:xfrm>
          <a:prstGeom prst="rect">
            <a:avLst/>
          </a:prstGeom>
        </p:spPr>
        <p:txBody>
          <a:bodyPr anchor="t" rtlCol="false" tIns="0" lIns="0" bIns="0" rIns="0">
            <a:spAutoFit/>
          </a:bodyPr>
          <a:lstStyle/>
          <a:p>
            <a:pPr algn="l">
              <a:lnSpc>
                <a:spcPts val="4032"/>
              </a:lnSpc>
            </a:pPr>
            <a:r>
              <a:rPr lang="en-US" sz="2880" b="true">
                <a:solidFill>
                  <a:srgbClr val="B100E8"/>
                </a:solidFill>
                <a:latin typeface="Helios Bold"/>
                <a:ea typeface="Helios Bold"/>
                <a:cs typeface="Helios Bold"/>
                <a:sym typeface="Helios Bold"/>
              </a:rPr>
              <a:t>Prediction Pipeline</a:t>
            </a:r>
          </a:p>
          <a:p>
            <a:pPr algn="l">
              <a:lnSpc>
                <a:spcPts val="3769"/>
              </a:lnSpc>
            </a:pPr>
            <a:r>
              <a:rPr lang="en-US" sz="2692">
                <a:solidFill>
                  <a:srgbClr val="FFFFFF"/>
                </a:solidFill>
                <a:latin typeface="Helios"/>
                <a:ea typeface="Helios"/>
                <a:cs typeface="Helios"/>
                <a:sym typeface="Helios"/>
              </a:rPr>
              <a:t>User Inputs</a:t>
            </a:r>
          </a:p>
          <a:p>
            <a:pPr algn="l">
              <a:lnSpc>
                <a:spcPts val="3769"/>
              </a:lnSpc>
            </a:pPr>
            <a:r>
              <a:rPr lang="en-US" sz="2692">
                <a:solidFill>
                  <a:srgbClr val="FFFFFF"/>
                </a:solidFill>
                <a:latin typeface="Helios"/>
                <a:ea typeface="Helios"/>
                <a:cs typeface="Helios"/>
                <a:sym typeface="Helios"/>
              </a:rPr>
              <a:t> → Feature Processing</a:t>
            </a:r>
          </a:p>
          <a:p>
            <a:pPr algn="l">
              <a:lnSpc>
                <a:spcPts val="3769"/>
              </a:lnSpc>
            </a:pPr>
            <a:r>
              <a:rPr lang="en-US" sz="2692">
                <a:solidFill>
                  <a:srgbClr val="FFFFFF"/>
                </a:solidFill>
                <a:latin typeface="Helios"/>
                <a:ea typeface="Helios"/>
                <a:cs typeface="Helios"/>
                <a:sym typeface="Helios"/>
              </a:rPr>
              <a:t> →</a:t>
            </a:r>
            <a:r>
              <a:rPr lang="en-US" sz="2692">
                <a:solidFill>
                  <a:srgbClr val="FFFFFF"/>
                </a:solidFill>
                <a:latin typeface="Helios"/>
                <a:ea typeface="Helios"/>
                <a:cs typeface="Helios"/>
                <a:sym typeface="Helios"/>
              </a:rPr>
              <a:t> Trained Model</a:t>
            </a:r>
          </a:p>
          <a:p>
            <a:pPr algn="l">
              <a:lnSpc>
                <a:spcPts val="3769"/>
              </a:lnSpc>
            </a:pPr>
            <a:r>
              <a:rPr lang="en-US" sz="2692">
                <a:solidFill>
                  <a:srgbClr val="FFFFFF"/>
                </a:solidFill>
                <a:latin typeface="Helios"/>
                <a:ea typeface="Helios"/>
                <a:cs typeface="Helios"/>
                <a:sym typeface="Helios"/>
              </a:rPr>
              <a:t> → </a:t>
            </a:r>
            <a:r>
              <a:rPr lang="en-US" sz="2692">
                <a:solidFill>
                  <a:srgbClr val="FFFFFF"/>
                </a:solidFill>
                <a:latin typeface="Helios"/>
                <a:ea typeface="Helios"/>
                <a:cs typeface="Helios"/>
                <a:sym typeface="Helios"/>
              </a:rPr>
              <a:t>Sales Forecast</a:t>
            </a:r>
          </a:p>
          <a:p>
            <a:pPr algn="l">
              <a:lnSpc>
                <a:spcPts val="3769"/>
              </a:lnSpc>
            </a:pPr>
            <a:r>
              <a:rPr lang="en-US" sz="2692">
                <a:solidFill>
                  <a:srgbClr val="FFFFFF"/>
                </a:solidFill>
                <a:latin typeface="Helios"/>
                <a:ea typeface="Helios"/>
                <a:cs typeface="Helios"/>
                <a:sym typeface="Helios"/>
              </a:rPr>
              <a:t> → Dashbo</a:t>
            </a:r>
            <a:r>
              <a:rPr lang="en-US" sz="2692">
                <a:solidFill>
                  <a:srgbClr val="FFFFFF"/>
                </a:solidFill>
                <a:latin typeface="Helios"/>
                <a:ea typeface="Helios"/>
                <a:cs typeface="Helios"/>
                <a:sym typeface="Helios"/>
              </a:rPr>
              <a:t>ard Output</a:t>
            </a:r>
          </a:p>
          <a:p>
            <a:pPr algn="l">
              <a:lnSpc>
                <a:spcPts val="3769"/>
              </a:lnSpc>
            </a:pPr>
          </a:p>
        </p:txBody>
      </p:sp>
      <p:sp>
        <p:nvSpPr>
          <p:cNvPr name="TextBox 10" id="10"/>
          <p:cNvSpPr txBox="true"/>
          <p:nvPr/>
        </p:nvSpPr>
        <p:spPr>
          <a:xfrm rot="0">
            <a:off x="2451802" y="95250"/>
            <a:ext cx="13691106" cy="1866900"/>
          </a:xfrm>
          <a:prstGeom prst="rect">
            <a:avLst/>
          </a:prstGeom>
        </p:spPr>
        <p:txBody>
          <a:bodyPr anchor="t" rtlCol="false" tIns="0" lIns="0" bIns="0" rIns="0">
            <a:spAutoFit/>
          </a:bodyPr>
          <a:lstStyle/>
          <a:p>
            <a:pPr algn="ctr">
              <a:lnSpc>
                <a:spcPts val="7358"/>
              </a:lnSpc>
            </a:pPr>
            <a:r>
              <a:rPr lang="en-US" sz="6131">
                <a:solidFill>
                  <a:srgbClr val="FFFFFF"/>
                </a:solidFill>
                <a:latin typeface="Secular One"/>
                <a:ea typeface="Secular One"/>
                <a:cs typeface="Secular One"/>
                <a:sym typeface="Secular One"/>
              </a:rPr>
              <a:t>Model Deploymemt Via Streamlit</a:t>
            </a:r>
          </a:p>
          <a:p>
            <a:pPr algn="ctr">
              <a:lnSpc>
                <a:spcPts val="7358"/>
              </a:lnSpc>
            </a:p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0">
            <a:off x="-8344763" y="4270557"/>
            <a:ext cx="17894953" cy="17894953"/>
          </a:xfrm>
          <a:custGeom>
            <a:avLst/>
            <a:gdLst/>
            <a:ahLst/>
            <a:cxnLst/>
            <a:rect r="r" b="b" t="t" l="l"/>
            <a:pathLst>
              <a:path h="17894953" w="17894953">
                <a:moveTo>
                  <a:pt x="0" y="0"/>
                </a:moveTo>
                <a:lnTo>
                  <a:pt x="17894952" y="0"/>
                </a:lnTo>
                <a:lnTo>
                  <a:pt x="17894952" y="17894953"/>
                </a:lnTo>
                <a:lnTo>
                  <a:pt x="0" y="178949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6446" y="-1739695"/>
            <a:ext cx="3308580" cy="3479391"/>
          </a:xfrm>
          <a:custGeom>
            <a:avLst/>
            <a:gdLst/>
            <a:ahLst/>
            <a:cxnLst/>
            <a:rect r="r" b="b" t="t" l="l"/>
            <a:pathLst>
              <a:path h="3479391" w="3308580">
                <a:moveTo>
                  <a:pt x="0" y="0"/>
                </a:moveTo>
                <a:lnTo>
                  <a:pt x="3308580" y="0"/>
                </a:lnTo>
                <a:lnTo>
                  <a:pt x="3308580" y="3479390"/>
                </a:lnTo>
                <a:lnTo>
                  <a:pt x="0" y="3479390"/>
                </a:lnTo>
                <a:lnTo>
                  <a:pt x="0" y="0"/>
                </a:lnTo>
                <a:close/>
              </a:path>
            </a:pathLst>
          </a:custGeom>
          <a:blipFill>
            <a:blip r:embed="rId4"/>
            <a:stretch>
              <a:fillRect l="-2647" t="0" r="-2647" b="0"/>
            </a:stretch>
          </a:blipFill>
        </p:spPr>
      </p:sp>
      <p:sp>
        <p:nvSpPr>
          <p:cNvPr name="Freeform 4" id="4"/>
          <p:cNvSpPr/>
          <p:nvPr/>
        </p:nvSpPr>
        <p:spPr>
          <a:xfrm flipH="false" flipV="false" rot="0">
            <a:off x="16778098" y="8802242"/>
            <a:ext cx="3308580" cy="3304444"/>
          </a:xfrm>
          <a:custGeom>
            <a:avLst/>
            <a:gdLst/>
            <a:ahLst/>
            <a:cxnLst/>
            <a:rect r="r" b="b" t="t" l="l"/>
            <a:pathLst>
              <a:path h="3304444" w="3308580">
                <a:moveTo>
                  <a:pt x="0" y="0"/>
                </a:moveTo>
                <a:lnTo>
                  <a:pt x="3308580" y="0"/>
                </a:lnTo>
                <a:lnTo>
                  <a:pt x="3308580" y="3304444"/>
                </a:lnTo>
                <a:lnTo>
                  <a:pt x="0" y="3304444"/>
                </a:lnTo>
                <a:lnTo>
                  <a:pt x="0" y="0"/>
                </a:lnTo>
                <a:close/>
              </a:path>
            </a:pathLst>
          </a:custGeom>
          <a:blipFill>
            <a:blip r:embed="rId4"/>
            <a:stretch>
              <a:fillRect l="0" t="0" r="0" b="0"/>
            </a:stretch>
          </a:blipFill>
        </p:spPr>
      </p:sp>
      <p:sp>
        <p:nvSpPr>
          <p:cNvPr name="Freeform 5" id="5"/>
          <p:cNvSpPr/>
          <p:nvPr/>
        </p:nvSpPr>
        <p:spPr>
          <a:xfrm flipH="false" flipV="false" rot="0">
            <a:off x="730651" y="1185732"/>
            <a:ext cx="8819539" cy="3957768"/>
          </a:xfrm>
          <a:custGeom>
            <a:avLst/>
            <a:gdLst/>
            <a:ahLst/>
            <a:cxnLst/>
            <a:rect r="r" b="b" t="t" l="l"/>
            <a:pathLst>
              <a:path h="3957768" w="8819539">
                <a:moveTo>
                  <a:pt x="0" y="0"/>
                </a:moveTo>
                <a:lnTo>
                  <a:pt x="8819538" y="0"/>
                </a:lnTo>
                <a:lnTo>
                  <a:pt x="8819538" y="3957768"/>
                </a:lnTo>
                <a:lnTo>
                  <a:pt x="0" y="3957768"/>
                </a:lnTo>
                <a:lnTo>
                  <a:pt x="0" y="0"/>
                </a:lnTo>
                <a:close/>
              </a:path>
            </a:pathLst>
          </a:custGeom>
          <a:blipFill>
            <a:blip r:embed="rId5"/>
            <a:stretch>
              <a:fillRect l="0" t="0" r="0" b="0"/>
            </a:stretch>
          </a:blipFill>
        </p:spPr>
      </p:sp>
      <p:sp>
        <p:nvSpPr>
          <p:cNvPr name="Freeform 6" id="6"/>
          <p:cNvSpPr/>
          <p:nvPr/>
        </p:nvSpPr>
        <p:spPr>
          <a:xfrm flipH="false" flipV="false" rot="0">
            <a:off x="7183251" y="5471284"/>
            <a:ext cx="9863665" cy="4648252"/>
          </a:xfrm>
          <a:custGeom>
            <a:avLst/>
            <a:gdLst/>
            <a:ahLst/>
            <a:cxnLst/>
            <a:rect r="r" b="b" t="t" l="l"/>
            <a:pathLst>
              <a:path h="4648252" w="9863665">
                <a:moveTo>
                  <a:pt x="0" y="0"/>
                </a:moveTo>
                <a:lnTo>
                  <a:pt x="9863665" y="0"/>
                </a:lnTo>
                <a:lnTo>
                  <a:pt x="9863665" y="4648252"/>
                </a:lnTo>
                <a:lnTo>
                  <a:pt x="0" y="4648252"/>
                </a:lnTo>
                <a:lnTo>
                  <a:pt x="0" y="0"/>
                </a:lnTo>
                <a:close/>
              </a:path>
            </a:pathLst>
          </a:custGeom>
          <a:blipFill>
            <a:blip r:embed="rId6"/>
            <a:stretch>
              <a:fillRect l="0" t="0" r="0" b="0"/>
            </a:stretch>
          </a:blipFill>
        </p:spPr>
      </p:sp>
      <p:sp>
        <p:nvSpPr>
          <p:cNvPr name="TextBox 7" id="7"/>
          <p:cNvSpPr txBox="true"/>
          <p:nvPr/>
        </p:nvSpPr>
        <p:spPr>
          <a:xfrm rot="0">
            <a:off x="1740272" y="186489"/>
            <a:ext cx="15619835" cy="759025"/>
          </a:xfrm>
          <a:prstGeom prst="rect">
            <a:avLst/>
          </a:prstGeom>
        </p:spPr>
        <p:txBody>
          <a:bodyPr anchor="t" rtlCol="false" tIns="0" lIns="0" bIns="0" rIns="0">
            <a:spAutoFit/>
          </a:bodyPr>
          <a:lstStyle/>
          <a:p>
            <a:pPr algn="ctr">
              <a:lnSpc>
                <a:spcPts val="6206"/>
              </a:lnSpc>
            </a:pPr>
            <a:r>
              <a:rPr lang="en-US" b="true" sz="4465">
                <a:solidFill>
                  <a:srgbClr val="FFFFFF"/>
                </a:solidFill>
                <a:latin typeface="TT Hoves Bold"/>
                <a:ea typeface="TT Hoves Bold"/>
                <a:cs typeface="TT Hoves Bold"/>
                <a:sym typeface="TT Hoves Bold"/>
              </a:rPr>
              <a:t>Model Predictions Comparison</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1237D"/>
        </a:solidFill>
      </p:bgPr>
    </p:bg>
    <p:spTree>
      <p:nvGrpSpPr>
        <p:cNvPr id="1" name=""/>
        <p:cNvGrpSpPr/>
        <p:nvPr/>
      </p:nvGrpSpPr>
      <p:grpSpPr>
        <a:xfrm>
          <a:off x="0" y="0"/>
          <a:ext cx="0" cy="0"/>
          <a:chOff x="0" y="0"/>
          <a:chExt cx="0" cy="0"/>
        </a:xfrm>
      </p:grpSpPr>
      <p:sp>
        <p:nvSpPr>
          <p:cNvPr name="Freeform 2" id="2"/>
          <p:cNvSpPr/>
          <p:nvPr/>
        </p:nvSpPr>
        <p:spPr>
          <a:xfrm flipH="false" flipV="false" rot="0">
            <a:off x="16162449" y="8547678"/>
            <a:ext cx="1469330" cy="1421243"/>
          </a:xfrm>
          <a:custGeom>
            <a:avLst/>
            <a:gdLst/>
            <a:ahLst/>
            <a:cxnLst/>
            <a:rect r="r" b="b" t="t" l="l"/>
            <a:pathLst>
              <a:path h="1421243" w="1469330">
                <a:moveTo>
                  <a:pt x="0" y="0"/>
                </a:moveTo>
                <a:lnTo>
                  <a:pt x="1469330" y="0"/>
                </a:lnTo>
                <a:lnTo>
                  <a:pt x="1469330" y="1421244"/>
                </a:lnTo>
                <a:lnTo>
                  <a:pt x="0" y="14212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68424" y="7867652"/>
            <a:ext cx="5257108" cy="5250537"/>
          </a:xfrm>
          <a:custGeom>
            <a:avLst/>
            <a:gdLst/>
            <a:ahLst/>
            <a:cxnLst/>
            <a:rect r="r" b="b" t="t" l="l"/>
            <a:pathLst>
              <a:path h="5250537" w="5257108">
                <a:moveTo>
                  <a:pt x="0" y="0"/>
                </a:moveTo>
                <a:lnTo>
                  <a:pt x="5257108" y="0"/>
                </a:lnTo>
                <a:lnTo>
                  <a:pt x="5257108" y="5250536"/>
                </a:lnTo>
                <a:lnTo>
                  <a:pt x="0" y="5250536"/>
                </a:lnTo>
                <a:lnTo>
                  <a:pt x="0" y="0"/>
                </a:lnTo>
                <a:close/>
              </a:path>
            </a:pathLst>
          </a:custGeom>
          <a:blipFill>
            <a:blip r:embed="rId4"/>
            <a:stretch>
              <a:fillRect l="0" t="0" r="0" b="0"/>
            </a:stretch>
          </a:blipFill>
        </p:spPr>
      </p:sp>
      <p:sp>
        <p:nvSpPr>
          <p:cNvPr name="Freeform 4" id="4"/>
          <p:cNvSpPr/>
          <p:nvPr/>
        </p:nvSpPr>
        <p:spPr>
          <a:xfrm flipH="false" flipV="false" rot="0">
            <a:off x="15431023" y="-2171348"/>
            <a:ext cx="5257108" cy="5250537"/>
          </a:xfrm>
          <a:custGeom>
            <a:avLst/>
            <a:gdLst/>
            <a:ahLst/>
            <a:cxnLst/>
            <a:rect r="r" b="b" t="t" l="l"/>
            <a:pathLst>
              <a:path h="5250537" w="5257108">
                <a:moveTo>
                  <a:pt x="0" y="0"/>
                </a:moveTo>
                <a:lnTo>
                  <a:pt x="5257108" y="0"/>
                </a:lnTo>
                <a:lnTo>
                  <a:pt x="5257108" y="5250537"/>
                </a:lnTo>
                <a:lnTo>
                  <a:pt x="0" y="5250537"/>
                </a:lnTo>
                <a:lnTo>
                  <a:pt x="0" y="0"/>
                </a:lnTo>
                <a:close/>
              </a:path>
            </a:pathLst>
          </a:custGeom>
          <a:blipFill>
            <a:blip r:embed="rId4"/>
            <a:stretch>
              <a:fillRect l="0" t="0" r="0" b="0"/>
            </a:stretch>
          </a:blipFill>
        </p:spPr>
      </p:sp>
      <p:sp>
        <p:nvSpPr>
          <p:cNvPr name="Freeform 5" id="5"/>
          <p:cNvSpPr/>
          <p:nvPr/>
        </p:nvSpPr>
        <p:spPr>
          <a:xfrm flipH="false" flipV="false" rot="0">
            <a:off x="-1028700" y="-143539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alphaModFix amt="67000"/>
              <a:extLst>
                <a:ext uri="{96DAC541-7B7A-43D3-8B79-37D633B846F1}">
                  <asvg:svgBlip xmlns:asvg="http://schemas.microsoft.com/office/drawing/2016/SVG/main" r:embed="rId6"/>
                </a:ext>
              </a:extLst>
            </a:blip>
            <a:stretch>
              <a:fillRect l="0" t="0" r="0" b="0"/>
            </a:stretch>
          </a:blipFill>
        </p:spPr>
      </p:sp>
      <p:pic>
        <p:nvPicPr>
          <p:cNvPr name="Picture 6" id="6"/>
          <p:cNvPicPr>
            <a:picLocks noChangeAspect="true"/>
          </p:cNvPicPr>
          <p:nvPr/>
        </p:nvPicPr>
        <p:blipFill>
          <a:blip r:embed="rId7"/>
          <a:srcRect l="0" t="114" r="0" b="114"/>
          <a:stretch>
            <a:fillRect/>
          </a:stretch>
        </p:blipFill>
        <p:spPr>
          <a:xfrm flipH="false" flipV="false" rot="0">
            <a:off x="11414601" y="2082456"/>
            <a:ext cx="4016422" cy="6179111"/>
          </a:xfrm>
          <a:prstGeom prst="rect">
            <a:avLst/>
          </a:prstGeom>
        </p:spPr>
      </p:pic>
      <p:sp>
        <p:nvSpPr>
          <p:cNvPr name="TextBox 7" id="7"/>
          <p:cNvSpPr txBox="true"/>
          <p:nvPr/>
        </p:nvSpPr>
        <p:spPr>
          <a:xfrm rot="0">
            <a:off x="4549359" y="4561330"/>
            <a:ext cx="7160167" cy="1050041"/>
          </a:xfrm>
          <a:prstGeom prst="rect">
            <a:avLst/>
          </a:prstGeom>
        </p:spPr>
        <p:txBody>
          <a:bodyPr anchor="t" rtlCol="false" tIns="0" lIns="0" bIns="0" rIns="0">
            <a:spAutoFit/>
          </a:bodyPr>
          <a:lstStyle/>
          <a:p>
            <a:pPr algn="ctr" marL="0" indent="0" lvl="0">
              <a:lnSpc>
                <a:spcPts val="8537"/>
              </a:lnSpc>
              <a:spcBef>
                <a:spcPct val="0"/>
              </a:spcBef>
            </a:pPr>
            <a:r>
              <a:rPr lang="en-US" b="true" sz="6141">
                <a:solidFill>
                  <a:srgbClr val="FFFFFF"/>
                </a:solidFill>
                <a:latin typeface="Now Bold"/>
                <a:ea typeface="Now Bold"/>
                <a:cs typeface="Now Bold"/>
                <a:sym typeface="Now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DAHKg29n41A</dc:identifier>
  <dcterms:modified xsi:type="dcterms:W3CDTF">2011-08-01T06:04:30Z</dcterms:modified>
  <cp:revision>1</cp:revision>
  <dc:title>نسخة من نسخة من نسخة من Black and Blue Professional Technology Business Project Presentation</dc:title>
</cp:coreProperties>
</file>